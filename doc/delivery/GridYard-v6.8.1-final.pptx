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我们的小组项目是 GridYard，中文名鸽邮。它面向同一局域网内的电脑，提供自动发现、点对点文件传输、在线聊天和本地历史记录功能。最终版本是 v6.8.1，技术栈是 C++23、Qt6 QML、CMake 和 SQLite。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关注的是局域网内的直接协作场景，比如实验室、宿舍或课堂环境。用户不需要登录账号，也不需要把文件上传到第三方服务，只要设备处于同一网段，就可以发现对方并直接传输。课程项目希望体现网络通信、桌面界面、协议设计和本地数据管理的完整闭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我们在开始做之前并不是直接写一个传文件工具。我们查阅并对比了 IPMSG、飞鸽传书、飞秋、LocalSend 和主流即时通讯软件。IPMSG 资料给了我们最核心的网络架构参考：局域网内每个节点既能发起连接，也能监听连接，消息和文件传输分别使用适合的传输方式。GridYard 的取舍是聚焦局域网内文件加聊天加本地历史的课程场景，自研 TLV 协议把各个环节串成可解释的完整系统。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IPMSG 架构资料的价值在于它给出了局域网通信项目的基本形态：UDP 做发现和控制消息，TCP 做文件传输，每个节点同时具备发送和接收能力。GridYard 没有照搬 C 语言 pthread 和文本命令字，而是结合 Qt 事件循环、信号槽和 QML 界面重新组织。这样既能体现网络编程调研后的设计取舍，又能满足课程要求的四层架构和桌面应用完整性。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GridYard 不是只完成单个文件传输，而是围绕局域网设备会话做了完整体验。五个核心功能包括：UDP 广播设备发现、TCP 直连的 P2P 文件传输、在线聊天、SQLite 本地历史，以及托盘后台运行等桌面体验。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最终版本同时提供 AppImage 和压缩包。一个关键修复是运行时数据不再写入发布包目录，而是使用 Linux 桌面应用的标准用户目录。配置文件在 config 目录，数据库和日志在 share 目录。这样用户删除或移动发布包，不会破坏已有配置和历史数据。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项目没有把界面、网络和数据库混在一起。QML 负责展示，Controller 和 Manager 负责组织业务，网络层负责发现和传输，数据层负责本地历史。这样每个模块职责清楚，也方便后续扩展服务端漫游功能。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设备发现是后续传输和聊天的入口。每个客户端都会广播自己的设备信息，并监听其他设备的广播。Hello 消息携带设备 ID、名称、IP、端口和协议版本。发现结果进入设备列表，用户点击设备后进入会话页。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文件传输使用 TCP 直连，不经服务器中转。发送端先发传输请求，接收端确认后开始按 8MB 分块传输。接收端写盘并计算 SHA-256 校验值，传输结束后保存记录。目录传输会先序列化目录结构，再按相对路径恢复。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我们没有为聊天重新写一套网络协议，而是在已有 TLV 协议中加入聊天消息类型。服务器收到连接后先读取首帧，根据 Type 分流到文件传输或聊天处理逻辑。这减少了重复代码，也保证协议一致。消息写入 SQLite，重启后可恢复历史。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我们没有把自研协议当成炫技，而是把它作为课程项目的核心训练点。TCP 只提供字节流，不提供消息边界，所以必须自己定义帧格式。TLV 的好处是结构简单、扩展性强，文件传输和聊天可以共用同一套 FrameCodec。答辩中如果追问协议、线程、数据流，每一层都有对应代码和测试过程可以解释。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本地数据层是 v6 阶段的重要工作。我们把设备、消息和传输历史都保存到 SQLite 中。界面层不直接接触 SQL，而是通过 HistoryController 和数据仓储间接访问，保证了模块边界。DatabaseWorker 在线程中执行数据库操作，避免阻塞界面。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发布前我们专门排查了 AppImage 中配置、数据库和日志的写入位置。最终策略是配置走系统配置目录，数据库和日志走系统应用数据目录。这样设备别名、聊天记录和传输历史都可以稳定跨重启保存。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最终验收不只看程序能不能启动，还验证了运行时路径和重启后的数据恢复。尤其是设备别名持久化问题，之前出现过重启后恢复默认名称的情况，最终版本已经修复。七项验证全部通过。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高扬负责架构设计、协议层和打包部署，冯春霖负责网络传输、Worker 实现和聊天连接，杜若贤负责 QML 界面、测试用例和文档。这个项目覆盖了桌面应用、网络通信、协议设计、本地数据库和发布打包，最终版本已经满足局域网文件传输和聊天的核心目标。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代码按四层架构组织在 src 目录下。core 目录放应用逻辑层，network 目录放网络层，storage 目录放数据层，ui 目录放 QML 组件，shared 目录放协议和数据结构。doc 目录下有 36 张 UML 图。如果追问代码组织，可以参考这一页。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3A7BD5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239500" y="5905500"/>
            <a:ext cx="952500" cy="952500"/>
          </a:xfrm>
          <a:prstGeom prst="rect">
            <a:avLst/>
          </a:prstGeom>
          <a:solidFill>
            <a:srgbClr val="3A7BD5">
              <a:alpha val="6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11620500" y="6286500"/>
            <a:ext cx="571500" cy="571500"/>
          </a:xfrm>
          <a:prstGeom prst="rect">
            <a:avLst/>
          </a:prstGeom>
          <a:solidFill>
            <a:srgbClr val="3A7BD5">
              <a:alpha val="4000"/>
            </a:srgbClr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3514011" y="1942148"/>
            <a:ext cx="5163979" cy="3153727"/>
            <a:chOff x="3514011" y="1942148"/>
            <a:chExt cx="5163979" cy="3153727"/>
          </a:xfrm>
        </p:grpSpPr>
        <p:sp>
          <p:nvSpPr>
            <p:cNvPr id="6" name="TextBox 6"/>
            <p:cNvSpPr txBox="1"/>
            <p:nvPr/>
          </p:nvSpPr>
          <p:spPr>
            <a:xfrm>
              <a:off x="3797931" y="1942148"/>
              <a:ext cx="4596139" cy="1005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9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GridYard 鸽邮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514011" y="2821305"/>
              <a:ext cx="516397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局域网 P2P 文件传输与即时通讯桌面应用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5143500" y="34290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3A7BD5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248817" y="3727132"/>
              <a:ext cx="369436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C++23 / Qt6 QML / CMake / SQLite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81818" y="4140518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A7BD5"/>
                  </a:solidFill>
                  <a:latin typeface="Consolas"/>
                  <a:ea typeface="Microsoft YaHei"/>
                  <a:cs typeface="Consolas"/>
                </a:rPr>
                <a:t>v6.8.1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621768" y="4791075"/>
              <a:ext cx="294846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高扬 冯春霖 杜若贤 2026 年 7 月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273028" y="6570345"/>
            <a:ext cx="3589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3A7BD5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291465"/>
            <a:ext cx="4155848" cy="670560"/>
            <a:chOff x="571500" y="291465"/>
            <a:chExt cx="4155848" cy="670560"/>
          </a:xfrm>
        </p:grpSpPr>
        <p:sp>
          <p:nvSpPr>
            <p:cNvPr id="4" name="Rectangle 4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3A7BD5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39140" y="291465"/>
              <a:ext cx="3988208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为什么做 GridYard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50545" y="1060132"/>
            <a:ext cx="4651486" cy="3192780"/>
            <a:chOff x="550545" y="1060132"/>
            <a:chExt cx="4651486" cy="3192780"/>
          </a:xfrm>
        </p:grpSpPr>
        <p:sp>
          <p:nvSpPr>
            <p:cNvPr id="7" name="TextBox 7"/>
            <p:cNvSpPr txBox="1"/>
            <p:nvPr/>
          </p:nvSpPr>
          <p:spPr>
            <a:xfrm>
              <a:off x="550545" y="1060132"/>
              <a:ext cx="4023360" cy="6781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6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局域网内临时传文件常见，但很多工具依赖</a:t>
              </a:r>
              <a:r>
                <a:rPr lang="zh-CN" sz="16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账号、云端或公网中转，流程繁琐。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0545" y="2012632"/>
              <a:ext cx="3813810" cy="6781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6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课程项目希望体现</a:t>
              </a:r>
              <a:r>
                <a:rPr lang="zh-CN" sz="1650" b="1" dirty="0">
                  <a:solidFill>
                    <a:srgbClr val="3A7BD5"/>
                  </a:solidFill>
                  <a:latin typeface="Arial"/>
                  <a:ea typeface="Microsoft YaHei"/>
                  <a:cs typeface="Arial"/>
                </a:rPr>
                <a:t>网络通信</a:t>
              </a:r>
              <a:r>
                <a:rPr lang="zh-CN" sz="16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、</a:t>
              </a:r>
              <a:r>
                <a:rPr lang="zh-CN" sz="1650" b="1" dirty="0">
                  <a:solidFill>
                    <a:srgbClr val="3A7BD5"/>
                  </a:solidFill>
                  <a:latin typeface="Arial"/>
                  <a:ea typeface="Microsoft YaHei"/>
                  <a:cs typeface="Arial"/>
                </a:rPr>
                <a:t>桌面界面</a:t>
              </a:r>
              <a:r>
                <a:rPr lang="zh-CN" sz="16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、</a:t>
              </a:r>
              <a:r>
                <a:rPr lang="zh-CN" sz="1650" b="1" dirty="0">
                  <a:solidFill>
                    <a:srgbClr val="3A7BD5"/>
                  </a:solidFill>
                  <a:latin typeface="Arial"/>
                  <a:ea typeface="Microsoft YaHei"/>
                  <a:cs typeface="Arial"/>
                </a:rPr>
                <a:t>协议设计</a:t>
              </a:r>
              <a:r>
                <a:rPr lang="zh-CN" sz="16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和</a:t>
              </a:r>
              <a:r>
                <a:rPr lang="zh-CN" sz="1650" b="1" dirty="0">
                  <a:solidFill>
                    <a:srgbClr val="3A7BD5"/>
                  </a:solidFill>
                  <a:latin typeface="Arial"/>
                  <a:ea typeface="Microsoft YaHei"/>
                  <a:cs typeface="Arial"/>
                </a:rPr>
                <a:t>本地数据管理</a:t>
              </a:r>
              <a:r>
                <a:rPr lang="zh-CN" sz="16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的完整闭环。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0545" y="2965132"/>
              <a:ext cx="4023360" cy="6781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6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GridYard 做到同网段设备自动发现，</a:t>
              </a:r>
              <a:r>
                <a:rPr lang="zh-CN" sz="16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文件和消息直接传输，不依赖中心服务器。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0545" y="3917632"/>
              <a:ext cx="465148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用户可直接运行 AppImage 或解压压缩包使用。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67500" y="1238250"/>
            <a:ext cx="4953000" cy="4572000"/>
            <a:chOff x="6667500" y="1238250"/>
            <a:chExt cx="4953000" cy="4572000"/>
          </a:xfrm>
        </p:grpSpPr>
        <p:sp>
          <p:nvSpPr>
            <p:cNvPr id="12" name="Rectangle 12"/>
            <p:cNvSpPr/>
            <p:nvPr/>
          </p:nvSpPr>
          <p:spPr>
            <a:xfrm>
              <a:off x="6667500" y="1238250"/>
              <a:ext cx="4953000" cy="457200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19050">
              <a:solidFill>
                <a:srgbClr val="E5E7EB"/>
              </a:solidFill>
              <a:prstDash val="lgDash"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037719" y="3378518"/>
              <a:ext cx="22125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[替换为：双实例在线截图]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273028" y="6570345"/>
            <a:ext cx="3589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3A7BD5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291465"/>
            <a:ext cx="4872038" cy="670560"/>
            <a:chOff x="571500" y="291465"/>
            <a:chExt cx="4872038" cy="670560"/>
          </a:xfrm>
        </p:grpSpPr>
        <p:sp>
          <p:nvSpPr>
            <p:cNvPr id="4" name="Rectangle 4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3A7BD5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39140" y="291465"/>
              <a:ext cx="4704398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同类工具调研后的取舍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1047750"/>
            <a:ext cx="7463790" cy="2533650"/>
            <a:chOff x="571500" y="1047750"/>
            <a:chExt cx="7463790" cy="2533650"/>
          </a:xfrm>
        </p:grpSpPr>
        <p:sp>
          <p:nvSpPr>
            <p:cNvPr id="7" name="Rectangle 7"/>
            <p:cNvSpPr/>
            <p:nvPr/>
          </p:nvSpPr>
          <p:spPr>
            <a:xfrm>
              <a:off x="571500" y="1047750"/>
              <a:ext cx="7239000" cy="38100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8665" y="12011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A7BD5"/>
                  </a:solidFill>
                  <a:latin typeface="Arial"/>
                  <a:ea typeface="Microsoft YaHei"/>
                  <a:cs typeface="Arial"/>
                </a:rPr>
                <a:t>调研对象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53665" y="12011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A7BD5"/>
                  </a:solidFill>
                  <a:latin typeface="Arial"/>
                  <a:ea typeface="Microsoft YaHei"/>
                  <a:cs typeface="Arial"/>
                </a:rPr>
                <a:t>主要特点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06415" y="1201102"/>
              <a:ext cx="13130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A7BD5"/>
                  </a:solidFill>
                  <a:latin typeface="Arial"/>
                  <a:ea typeface="Microsoft YaHei"/>
                  <a:cs typeface="Arial"/>
                </a:rPr>
                <a:t>对 GridYard 的启发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71500" y="142875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46760" y="156591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IPMSG 架构资料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51760" y="1565910"/>
              <a:ext cx="20867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UDP 消息、TCP 文件、纯 P2P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04510" y="1565910"/>
              <a:ext cx="226275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P2P 架构和网络模块划分的参考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571500" y="1857375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6760" y="199453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飞鸽传书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51760" y="1994535"/>
              <a:ext cx="21027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局域网 P2P、无需账号、轻量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04510" y="1994535"/>
              <a:ext cx="21107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保留同网段直达、无公网中转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571500" y="22860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6760" y="24231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飞秋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51760" y="242316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局域网消息和文件、门槛低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04510" y="242316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文件和聊天放在同一会话中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71500" y="2714625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6760" y="2851785"/>
              <a:ext cx="8201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LocalSend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651760" y="2851785"/>
              <a:ext cx="21107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跨平台、免配置、发现体验好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04510" y="2851785"/>
              <a:ext cx="2430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零配置发现、版本协商、会话确认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71500" y="314325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46760" y="3280410"/>
              <a:ext cx="12318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微信、QQ 等 IM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651760" y="328041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账号体系和历史同步成熟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604510" y="328041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公网中心化不适合内网直传场景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571500" y="3571875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8096250" y="1047750"/>
            <a:ext cx="3524250" cy="2524125"/>
            <a:chOff x="8096250" y="1047750"/>
            <a:chExt cx="3524250" cy="2524125"/>
          </a:xfrm>
        </p:grpSpPr>
        <p:sp>
          <p:nvSpPr>
            <p:cNvPr id="33" name="Rectangle 33"/>
            <p:cNvSpPr/>
            <p:nvPr/>
          </p:nvSpPr>
          <p:spPr>
            <a:xfrm>
              <a:off x="8096250" y="1047750"/>
              <a:ext cx="3524250" cy="2524125"/>
            </a:xfrm>
            <a:prstGeom prst="roundRect">
              <a:avLst>
                <a:gd name="adj" fmla="val 3019"/>
              </a:avLst>
            </a:prstGeom>
            <a:solidFill>
              <a:srgbClr val="FFFFFF"/>
            </a:solidFill>
            <a:ln w="19050">
              <a:solidFill>
                <a:srgbClr val="E5E7EB"/>
              </a:solidFill>
              <a:prstDash val="lgDash"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795004" y="2185035"/>
              <a:ext cx="21267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[替换为：竞品调研矩阵截图]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52450" y="3743325"/>
            <a:ext cx="4931092" cy="2366963"/>
            <a:chOff x="552450" y="3743325"/>
            <a:chExt cx="4931092" cy="2366963"/>
          </a:xfrm>
        </p:grpSpPr>
        <p:sp>
          <p:nvSpPr>
            <p:cNvPr id="36" name="TextBox 36"/>
            <p:cNvSpPr txBox="1"/>
            <p:nvPr/>
          </p:nvSpPr>
          <p:spPr>
            <a:xfrm>
              <a:off x="552450" y="37433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设计结论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571500" y="40386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19050">
              <a:solidFill>
                <a:srgbClr val="3A7BD5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54355" y="4216718"/>
              <a:ext cx="385762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聚焦</a:t>
              </a:r>
              <a:r>
                <a:rPr lang="zh-CN" sz="1350" b="1" dirty="0">
                  <a:solidFill>
                    <a:srgbClr val="3A7BD5"/>
                  </a:solidFill>
                  <a:latin typeface="Arial"/>
                  <a:ea typeface="Microsoft YaHei"/>
                  <a:cs typeface="Arial"/>
                </a:rPr>
                <a:t>局域网内文件 + 聊天 + 本地历史</a:t>
              </a:r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的课程场景，</a:t>
              </a:r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不追求替代所有成熟软件。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54355" y="4883468"/>
              <a:ext cx="4329113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自研 TLV 协议把 TCP 粘包/半包、协议扩展、文件分块、</a:t>
              </a:r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聊天分流和本地持久化串成可解释的完整系统。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54355" y="5550218"/>
              <a:ext cx="4929187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借鉴架构思想，不照搬协议实现：学习 IPMSG 的 P2P 双角色模型</a:t>
              </a:r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和 LocalSend 的现代发现/协商思路，保留 TLV/P2P 主链路。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273028" y="6570345"/>
            <a:ext cx="3589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3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5" grpId="0"/>
      <p:bldP spid="4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3A7BD5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291465"/>
            <a:ext cx="5796153" cy="670560"/>
            <a:chOff x="571500" y="291465"/>
            <a:chExt cx="5796153" cy="670560"/>
          </a:xfrm>
        </p:grpSpPr>
        <p:sp>
          <p:nvSpPr>
            <p:cNvPr id="4" name="Rectangle 4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3A7BD5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39140" y="291465"/>
              <a:ext cx="5628513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IPMSG 架构思想的落地方式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1047750"/>
            <a:ext cx="11049000" cy="2676525"/>
            <a:chOff x="571500" y="1047750"/>
            <a:chExt cx="11049000" cy="2676525"/>
          </a:xfrm>
        </p:grpSpPr>
        <p:sp>
          <p:nvSpPr>
            <p:cNvPr id="7" name="Rectangle 7"/>
            <p:cNvSpPr/>
            <p:nvPr/>
          </p:nvSpPr>
          <p:spPr>
            <a:xfrm>
              <a:off x="571500" y="1047750"/>
              <a:ext cx="11049000" cy="38100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8665" y="120110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A7BD5"/>
                  </a:solidFill>
                  <a:latin typeface="Arial"/>
                  <a:ea typeface="Microsoft YaHei"/>
                  <a:cs typeface="Arial"/>
                </a:rPr>
                <a:t>IPMSG 设计点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91915" y="1201102"/>
              <a:ext cx="14159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A7BD5"/>
                  </a:solidFill>
                  <a:latin typeface="Arial"/>
                  <a:ea typeface="Microsoft YaHei"/>
                  <a:cs typeface="Arial"/>
                </a:rPr>
                <a:t>GridYard 的实现方式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68665" y="12011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A7BD5"/>
                  </a:solidFill>
                  <a:latin typeface="Arial"/>
                  <a:ea typeface="Microsoft YaHei"/>
                  <a:cs typeface="Arial"/>
                </a:rPr>
                <a:t>取舍原因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71500" y="1428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46760" y="158496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每个节点既是客户端也是服务端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90962" y="1593056"/>
              <a:ext cx="26163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P2pServer 监听入站，发送端主动连接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66760" y="1584960"/>
              <a:ext cx="16706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保留纯 P2P 双角色模型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571500" y="1885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6760" y="2042160"/>
              <a:ext cx="226275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UDP 负责上线、发现和消息通知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90962" y="2050256"/>
              <a:ext cx="22938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DiscoveryService UDP 广播 Hello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66760" y="204216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适合局域网零配置发现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571500" y="2343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6760" y="2499360"/>
              <a:ext cx="16226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TCP 负责文件数据传输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890962" y="2507456"/>
              <a:ext cx="26464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FileSender/ReceiverWorker TCP 传输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66760" y="2499360"/>
              <a:ext cx="19427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TCP 有序可靠，适合大文件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71500" y="28003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6760" y="295656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多线程处理接收和文件发送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890962" y="2964656"/>
              <a:ext cx="24813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Qt 事件循环 + Worker-Object 线程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66760" y="2956560"/>
              <a:ext cx="15506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符合 Qt/QML 技术栈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71500" y="3257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46760" y="341376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文本命令字和选项位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90962" y="3421856"/>
              <a:ext cx="27589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protocol.h Type 码 + FrameCodec 拆帧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66760" y="3413760"/>
              <a:ext cx="19907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二进制帧解决 TCP 边界问题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571500" y="3714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552450" y="3838575"/>
            <a:ext cx="5058823" cy="2081213"/>
            <a:chOff x="552450" y="3838575"/>
            <a:chExt cx="5058823" cy="2081213"/>
          </a:xfrm>
        </p:grpSpPr>
        <p:sp>
          <p:nvSpPr>
            <p:cNvPr id="33" name="TextBox 33"/>
            <p:cNvSpPr txBox="1"/>
            <p:nvPr/>
          </p:nvSpPr>
          <p:spPr>
            <a:xfrm>
              <a:off x="552450" y="38385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设计理念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71500" y="41338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19050">
              <a:solidFill>
                <a:srgbClr val="3A7BD5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54355" y="4311968"/>
              <a:ext cx="50569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不是逐行复刻 IPMSG，而是把推荐架构迁移到 Qt 桌面应用中。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4355" y="4692968"/>
              <a:ext cx="461200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IPMSG 解决的是局域网 P2P 怎么组织，GridYard 进一步补上</a:t>
              </a:r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QML 表现层、应用控制器、本地数据层和发布包路径策略。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54355" y="5359718"/>
              <a:ext cx="4723447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答辩时可从调研资料对应到实际代码：DiscoveryService、</a:t>
              </a:r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P2pServer、FrameCodec、Worker 和 HistoryController。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273028" y="6570345"/>
            <a:ext cx="3589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4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3A7BD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291465"/>
            <a:ext cx="5265420" cy="756285"/>
            <a:chOff x="571500" y="291465"/>
            <a:chExt cx="5265420" cy="756285"/>
          </a:xfrm>
        </p:grpSpPr>
        <p:sp>
          <p:nvSpPr>
            <p:cNvPr id="4" name="Rectangle 4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3A7BD5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39140" y="291465"/>
              <a:ext cx="1932051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核心功能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5810" y="803910"/>
              <a:ext cx="50711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FIVE CAPABILITIES FOR A COMPLETE LAN COLLABORATION EXPERIENCE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76250" y="1238250"/>
            <a:ext cx="2171700" cy="2476500"/>
            <a:chOff x="476250" y="1238250"/>
            <a:chExt cx="2171700" cy="2476500"/>
          </a:xfrm>
        </p:grpSpPr>
        <p:sp>
          <p:nvSpPr>
            <p:cNvPr id="8" name="Rectangle 8"/>
            <p:cNvSpPr/>
            <p:nvPr/>
          </p:nvSpPr>
          <p:spPr>
            <a:xfrm>
              <a:off x="476250" y="1238250"/>
              <a:ext cx="2171700" cy="247650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85811" y="1421130"/>
              <a:ext cx="6459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600" b="1" dirty="0">
                  <a:solidFill>
                    <a:srgbClr val="3A7BD5">
                      <a:alphaMod val="8000"/>
                    </a:srgbClr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23900" y="1504950"/>
              <a:ext cx="495300" cy="495300"/>
            </a:xfrm>
            <a:prstGeom prst="roundRect">
              <a:avLst>
                <a:gd name="adj" fmla="val 23077"/>
              </a:avLst>
            </a:prstGeom>
            <a:solidFill>
              <a:srgbClr val="EFF6FF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61773" y="1653937"/>
              <a:ext cx="219554" cy="180496"/>
              <a:chOff x="861773" y="1653937"/>
              <a:chExt cx="219554" cy="18049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861773" y="1653937"/>
                <a:ext cx="219554" cy="180496"/>
              </a:xfrm>
              <a:custGeom>
                <a:avLst/>
                <a:gdLst/>
                <a:ahLst/>
                <a:cxnLst/>
                <a:rect l="l" t="t" r="r" b="b"/>
                <a:pathLst>
                  <a:path w="219554" h="180496">
                    <a:moveTo>
                      <a:pt x="180497" y="180496"/>
                    </a:moveTo>
                    <a:cubicBezTo>
                      <a:pt x="219554" y="141438"/>
                      <a:pt x="219554" y="78114"/>
                      <a:pt x="180496" y="39057"/>
                    </a:cubicBezTo>
                    <a:cubicBezTo>
                      <a:pt x="141439" y="0"/>
                      <a:pt x="78115" y="0"/>
                      <a:pt x="39058" y="39057"/>
                    </a:cubicBezTo>
                    <a:cubicBezTo>
                      <a:pt x="0" y="78114"/>
                      <a:pt x="0" y="141438"/>
                      <a:pt x="39057" y="180496"/>
                    </a:cubicBezTo>
                  </a:path>
                </a:pathLst>
              </a:custGeom>
              <a:noFill/>
              <a:ln w="19050">
                <a:solidFill>
                  <a:srgbClr val="3A7BD5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10562" y="1702736"/>
                <a:ext cx="121976" cy="100270"/>
              </a:xfrm>
              <a:custGeom>
                <a:avLst/>
                <a:gdLst/>
                <a:ahLst/>
                <a:cxnLst/>
                <a:rect l="l" t="t" r="r" b="b"/>
                <a:pathLst>
                  <a:path w="121976" h="100270">
                    <a:moveTo>
                      <a:pt x="100282" y="100270"/>
                    </a:moveTo>
                    <a:cubicBezTo>
                      <a:pt x="121976" y="78570"/>
                      <a:pt x="121973" y="43392"/>
                      <a:pt x="100275" y="21696"/>
                    </a:cubicBezTo>
                    <a:cubicBezTo>
                      <a:pt x="78577" y="0"/>
                      <a:pt x="43399" y="0"/>
                      <a:pt x="21701" y="21696"/>
                    </a:cubicBezTo>
                    <a:cubicBezTo>
                      <a:pt x="3" y="43392"/>
                      <a:pt x="0" y="78570"/>
                      <a:pt x="21694" y="100270"/>
                    </a:cubicBezTo>
                  </a:path>
                </a:pathLst>
              </a:custGeom>
              <a:noFill/>
              <a:ln w="19050">
                <a:solidFill>
                  <a:srgbClr val="3A7BD5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60438" y="1752600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2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2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2"/>
                    </a:cubicBezTo>
                  </a:path>
                </a:pathLst>
              </a:custGeom>
              <a:noFill/>
              <a:ln w="19050">
                <a:solidFill>
                  <a:srgbClr val="3A7BD5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705802" y="217027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设备发现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2470" y="2455545"/>
              <a:ext cx="8749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A7BD5"/>
                  </a:solidFill>
                  <a:latin typeface="Arial"/>
                  <a:ea typeface="Microsoft YaHei"/>
                  <a:cs typeface="Arial"/>
                </a:rPr>
                <a:t>UDP BROADCAST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0565" y="2744152"/>
              <a:ext cx="15598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UDP 广播发现同网段设备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0565" y="295370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心跳维护在线状态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0565" y="316325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多网卡环境自动适配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819400" y="1238250"/>
            <a:ext cx="2171700" cy="2476500"/>
            <a:chOff x="2819400" y="1238250"/>
            <a:chExt cx="2171700" cy="2476500"/>
          </a:xfrm>
        </p:grpSpPr>
        <p:sp>
          <p:nvSpPr>
            <p:cNvPr id="21" name="Rectangle 21"/>
            <p:cNvSpPr/>
            <p:nvPr/>
          </p:nvSpPr>
          <p:spPr>
            <a:xfrm>
              <a:off x="2819400" y="1238250"/>
              <a:ext cx="2171700" cy="247650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028961" y="1421130"/>
              <a:ext cx="6459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600" b="1" dirty="0">
                  <a:solidFill>
                    <a:srgbClr val="10B981">
                      <a:alphaMod val="8000"/>
                    </a:srgbClr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067050" y="1504950"/>
              <a:ext cx="495300" cy="495300"/>
            </a:xfrm>
            <a:prstGeom prst="roundRect">
              <a:avLst>
                <a:gd name="adj" fmla="val 23077"/>
              </a:avLst>
            </a:prstGeom>
            <a:solidFill>
              <a:srgbClr val="ECFDF5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3214688" y="1685925"/>
              <a:ext cx="200025" cy="133350"/>
              <a:chOff x="3214688" y="1685925"/>
              <a:chExt cx="200025" cy="13335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3259138" y="1685925"/>
                <a:ext cx="1555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44450">
                    <a:moveTo>
                      <a:pt x="0" y="44450"/>
                    </a:moveTo>
                    <a:lnTo>
                      <a:pt x="155575" y="44450"/>
                    </a:lnTo>
                    <a:lnTo>
                      <a:pt x="111125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214688" y="1774825"/>
                <a:ext cx="1555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44450">
                    <a:moveTo>
                      <a:pt x="155575" y="0"/>
                    </a:moveTo>
                    <a:lnTo>
                      <a:pt x="0" y="0"/>
                    </a:lnTo>
                    <a:lnTo>
                      <a:pt x="44450" y="4445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3048952" y="2170271"/>
              <a:ext cx="122336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P2P 文件传输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55620" y="2455545"/>
              <a:ext cx="6229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TCP DIRECT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053715" y="2744152"/>
              <a:ext cx="15598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TCP 直连不经服务器中转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53715" y="295370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单文件、多文件、文件夹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053715" y="3163252"/>
              <a:ext cx="13078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SHA-256 完整性校验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162550" y="1238250"/>
            <a:ext cx="2171700" cy="2476500"/>
            <a:chOff x="5162550" y="1238250"/>
            <a:chExt cx="2171700" cy="2476500"/>
          </a:xfrm>
        </p:grpSpPr>
        <p:sp>
          <p:nvSpPr>
            <p:cNvPr id="33" name="Rectangle 33"/>
            <p:cNvSpPr/>
            <p:nvPr/>
          </p:nvSpPr>
          <p:spPr>
            <a:xfrm>
              <a:off x="5162550" y="1238250"/>
              <a:ext cx="2171700" cy="247650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72111" y="1421130"/>
              <a:ext cx="6459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600" b="1" dirty="0">
                  <a:solidFill>
                    <a:srgbClr val="F59E0B">
                      <a:alphaMod val="8000"/>
                    </a:srgbClr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410200" y="1504950"/>
              <a:ext cx="495300" cy="495300"/>
            </a:xfrm>
            <a:prstGeom prst="roundRect">
              <a:avLst>
                <a:gd name="adj" fmla="val 23077"/>
              </a:avLst>
            </a:prstGeom>
            <a:solidFill>
              <a:srgbClr val="FFFBEB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5557838" y="1663700"/>
              <a:ext cx="200025" cy="188913"/>
              <a:chOff x="5557838" y="1663700"/>
              <a:chExt cx="200025" cy="18891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5613400" y="1719262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5613400" y="1763712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557838" y="1663700"/>
                <a:ext cx="200025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88913">
                    <a:moveTo>
                      <a:pt x="66675" y="155575"/>
                    </a:moveTo>
                    <a:lnTo>
                      <a:pt x="33338" y="155575"/>
                    </a:lnTo>
                    <a:cubicBezTo>
                      <a:pt x="14926" y="155575"/>
                      <a:pt x="0" y="140649"/>
                      <a:pt x="0" y="122238"/>
                    </a:cubicBezTo>
                    <a:lnTo>
                      <a:pt x="0" y="33338"/>
                    </a:ln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  <a:cubicBezTo>
                      <a:pt x="185099" y="0"/>
                      <a:pt x="200025" y="14926"/>
                      <a:pt x="200025" y="33338"/>
                    </a:cubicBezTo>
                    <a:lnTo>
                      <a:pt x="200025" y="122238"/>
                    </a:lnTo>
                    <a:cubicBezTo>
                      <a:pt x="200025" y="140649"/>
                      <a:pt x="185099" y="155575"/>
                      <a:pt x="166688" y="155575"/>
                    </a:cubicBezTo>
                    <a:lnTo>
                      <a:pt x="133350" y="155575"/>
                    </a:lnTo>
                    <a:lnTo>
                      <a:pt x="100012" y="188913"/>
                    </a:lnTo>
                    <a:lnTo>
                      <a:pt x="66675" y="155575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5392102" y="217027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在线聊天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398770" y="2455545"/>
              <a:ext cx="5209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P2P TEXT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396865" y="274415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同一设备会话内文本消息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396865" y="2953702"/>
              <a:ext cx="9017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复用 P2P 通道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396865" y="316325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重启后历史可恢复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505700" y="1238250"/>
            <a:ext cx="2171700" cy="2476500"/>
            <a:chOff x="7505700" y="1238250"/>
            <a:chExt cx="2171700" cy="2476500"/>
          </a:xfrm>
        </p:grpSpPr>
        <p:sp>
          <p:nvSpPr>
            <p:cNvPr id="46" name="Rectangle 46"/>
            <p:cNvSpPr/>
            <p:nvPr/>
          </p:nvSpPr>
          <p:spPr>
            <a:xfrm>
              <a:off x="7505700" y="1238250"/>
              <a:ext cx="2171700" cy="247650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715261" y="1421130"/>
              <a:ext cx="6459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600" b="1" dirty="0">
                  <a:solidFill>
                    <a:srgbClr val="8B5CF6">
                      <a:alphaMod val="8000"/>
                    </a:srgbClr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753350" y="1504950"/>
              <a:ext cx="495300" cy="495300"/>
            </a:xfrm>
            <a:prstGeom prst="roundRect">
              <a:avLst>
                <a:gd name="adj" fmla="val 23077"/>
              </a:avLst>
            </a:prstGeom>
            <a:solidFill>
              <a:srgbClr val="F5F3FF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912100" y="1652588"/>
              <a:ext cx="177800" cy="200024"/>
              <a:chOff x="7912100" y="1652588"/>
              <a:chExt cx="177800" cy="200024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912100" y="1652588"/>
                <a:ext cx="17780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66675">
                    <a:moveTo>
                      <a:pt x="0" y="33338"/>
                    </a:moveTo>
                    <a:cubicBezTo>
                      <a:pt x="0" y="51749"/>
                      <a:pt x="39802" y="66675"/>
                      <a:pt x="88900" y="66675"/>
                    </a:cubicBezTo>
                    <a:cubicBezTo>
                      <a:pt x="137998" y="66675"/>
                      <a:pt x="177800" y="51749"/>
                      <a:pt x="177800" y="33338"/>
                    </a:cubicBezTo>
                    <a:cubicBezTo>
                      <a:pt x="177800" y="14926"/>
                      <a:pt x="137998" y="0"/>
                      <a:pt x="88900" y="0"/>
                    </a:cubicBezTo>
                    <a:cubicBezTo>
                      <a:pt x="39802" y="0"/>
                      <a:pt x="0" y="1492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rgbClr val="8B5CF6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912100" y="1685925"/>
                <a:ext cx="1778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00012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2"/>
                      <a:pt x="88900" y="100012"/>
                    </a:cubicBezTo>
                    <a:cubicBezTo>
                      <a:pt x="137998" y="100012"/>
                      <a:pt x="177800" y="85087"/>
                      <a:pt x="177800" y="66675"/>
                    </a:cubicBezTo>
                    <a:lnTo>
                      <a:pt x="177800" y="0"/>
                    </a:lnTo>
                  </a:path>
                </a:pathLst>
              </a:custGeom>
              <a:noFill/>
              <a:ln w="19050">
                <a:solidFill>
                  <a:srgbClr val="8B5CF6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912100" y="1752600"/>
                <a:ext cx="1778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00012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2"/>
                      <a:pt x="88900" y="100012"/>
                    </a:cubicBezTo>
                    <a:cubicBezTo>
                      <a:pt x="137998" y="100012"/>
                      <a:pt x="177800" y="85087"/>
                      <a:pt x="177800" y="66675"/>
                    </a:cubicBezTo>
                    <a:lnTo>
                      <a:pt x="177800" y="0"/>
                    </a:lnTo>
                  </a:path>
                </a:pathLst>
              </a:custGeom>
              <a:noFill/>
              <a:ln w="19050">
                <a:solidFill>
                  <a:srgbClr val="8B5CF6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7735252" y="217027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本地历史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741920" y="2455545"/>
              <a:ext cx="4129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5CF6"/>
                  </a:solidFill>
                  <a:latin typeface="Arial"/>
                  <a:ea typeface="Microsoft YaHei"/>
                  <a:cs typeface="Arial"/>
                </a:rPr>
                <a:t>SQLite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740015" y="2744152"/>
              <a:ext cx="13638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SQLite 保存聊天记录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740015" y="29537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传输历史和设备目录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40015" y="316325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分页加载、筛选和清理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9848850" y="1238250"/>
            <a:ext cx="1866900" cy="2476500"/>
            <a:chOff x="9848850" y="1238250"/>
            <a:chExt cx="1866900" cy="2476500"/>
          </a:xfrm>
        </p:grpSpPr>
        <p:sp>
          <p:nvSpPr>
            <p:cNvPr id="59" name="Rectangle 59"/>
            <p:cNvSpPr/>
            <p:nvPr/>
          </p:nvSpPr>
          <p:spPr>
            <a:xfrm>
              <a:off x="9848850" y="1238250"/>
              <a:ext cx="1866900" cy="2476500"/>
            </a:xfrm>
            <a:prstGeom prst="roundRect">
              <a:avLst>
                <a:gd name="adj" fmla="val 6122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772661" y="1421130"/>
              <a:ext cx="6459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600" b="1" dirty="0">
                  <a:solidFill>
                    <a:srgbClr val="EF4444">
                      <a:alphaMod val="8000"/>
                    </a:srgbClr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10096500" y="1504950"/>
              <a:ext cx="495300" cy="495300"/>
            </a:xfrm>
            <a:prstGeom prst="roundRect">
              <a:avLst>
                <a:gd name="adj" fmla="val 23077"/>
              </a:avLst>
            </a:prstGeom>
            <a:solidFill>
              <a:srgbClr val="FEF2F2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10244138" y="1663700"/>
              <a:ext cx="200025" cy="187325"/>
              <a:chOff x="10244138" y="1663700"/>
              <a:chExt cx="200025" cy="18732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10244138" y="1663700"/>
                <a:ext cx="20002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33350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188912" y="0"/>
                    </a:lnTo>
                    <a:cubicBezTo>
                      <a:pt x="195050" y="0"/>
                      <a:pt x="200025" y="4975"/>
                      <a:pt x="200025" y="11113"/>
                    </a:cubicBezTo>
                    <a:lnTo>
                      <a:pt x="200025" y="122238"/>
                    </a:lnTo>
                    <a:cubicBezTo>
                      <a:pt x="200025" y="128375"/>
                      <a:pt x="195050" y="133350"/>
                      <a:pt x="188912" y="133350"/>
                    </a:cubicBezTo>
                    <a:lnTo>
                      <a:pt x="11113" y="133350"/>
                    </a:lnTo>
                    <a:cubicBezTo>
                      <a:pt x="4975" y="133350"/>
                      <a:pt x="0" y="128375"/>
                      <a:pt x="0" y="122238"/>
                    </a:cubicBezTo>
                    <a:lnTo>
                      <a:pt x="0" y="11113"/>
                    </a:lnTo>
                  </a:path>
                </a:pathLst>
              </a:custGeom>
              <a:noFill/>
              <a:ln w="19050">
                <a:solidFill>
                  <a:srgbClr val="EF4444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10288588" y="1841500"/>
                <a:ext cx="111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">
                    <a:moveTo>
                      <a:pt x="0" y="0"/>
                    </a:moveTo>
                    <a:lnTo>
                      <a:pt x="111125" y="0"/>
                    </a:lnTo>
                  </a:path>
                </a:pathLst>
              </a:custGeom>
              <a:noFill/>
              <a:ln w="19050">
                <a:solidFill>
                  <a:srgbClr val="EF4444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10310812" y="17970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EF4444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10377488" y="17970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EF4444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078402" y="217027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桌面体验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085070" y="2455545"/>
              <a:ext cx="7369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TRAY &amp; MORE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083165" y="274415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托盘后台运行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083165" y="295370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系统文件选择器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083165" y="316325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设置持久化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11273028" y="6570345"/>
            <a:ext cx="3589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5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2" grpId="0"/>
      <p:bldP spid="45" grpId="0"/>
      <p:bldP spid="58" grpId="0"/>
      <p:bldP spid="7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3A7BD5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291465"/>
            <a:ext cx="3485864" cy="670560"/>
            <a:chOff x="571500" y="291465"/>
            <a:chExt cx="3485864" cy="670560"/>
          </a:xfrm>
        </p:grpSpPr>
        <p:sp>
          <p:nvSpPr>
            <p:cNvPr id="4" name="Rectangle 4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3A7BD5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39140" y="291465"/>
              <a:ext cx="331822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发布与运行方式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50545" y="964882"/>
            <a:ext cx="5354955" cy="3545206"/>
            <a:chOff x="550545" y="964882"/>
            <a:chExt cx="5354955" cy="3545206"/>
          </a:xfrm>
        </p:grpSpPr>
        <p:sp>
          <p:nvSpPr>
            <p:cNvPr id="7" name="TextBox 7"/>
            <p:cNvSpPr txBox="1"/>
            <p:nvPr/>
          </p:nvSpPr>
          <p:spPr>
            <a:xfrm>
              <a:off x="550545" y="964882"/>
              <a:ext cx="363936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AppImage：直接赋予执行权限后运行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0545" y="1441132"/>
              <a:ext cx="29022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压缩包：解压后运行启动脚本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71500" y="2000250"/>
              <a:ext cx="5334000" cy="457200"/>
            </a:xfrm>
            <a:prstGeom prst="roundRect">
              <a:avLst>
                <a:gd name="adj" fmla="val 12500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7712" y="2164556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A7BD5"/>
                  </a:solidFill>
                  <a:latin typeface="Consolas"/>
                  <a:ea typeface="Microsoft YaHei"/>
                  <a:cs typeface="Consolas"/>
                </a:rPr>
                <a:t>配置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2118" y="2180749"/>
              <a:ext cx="27486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Consolas"/>
                  <a:ea typeface="Microsoft YaHei"/>
                  <a:cs typeface="Consolas"/>
                </a:rPr>
                <a:t>~/.config/CQNU-SED/GridYard/gridyard.ini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71500" y="2552700"/>
              <a:ext cx="5334000" cy="4572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47712" y="2717006"/>
              <a:ext cx="4786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A7BD5"/>
                  </a:solidFill>
                  <a:latin typeface="Consolas"/>
                  <a:ea typeface="Microsoft YaHei"/>
                  <a:cs typeface="Consolas"/>
                </a:rPr>
                <a:t>数据库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02118" y="2733199"/>
              <a:ext cx="29566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Consolas"/>
                  <a:ea typeface="Microsoft YaHei"/>
                  <a:cs typeface="Consolas"/>
                </a:rPr>
                <a:t>~/.local/share/CQNU-SED/GridYard/database/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1500" y="3105150"/>
              <a:ext cx="5334000" cy="457200"/>
            </a:xfrm>
            <a:prstGeom prst="roundRect">
              <a:avLst>
                <a:gd name="adj" fmla="val 12500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7712" y="3269456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A7BD5"/>
                  </a:solidFill>
                  <a:latin typeface="Consolas"/>
                  <a:ea typeface="Microsoft YaHei"/>
                  <a:cs typeface="Consolas"/>
                </a:rPr>
                <a:t>日志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02118" y="3285649"/>
              <a:ext cx="26380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2E"/>
                  </a:solidFill>
                  <a:latin typeface="Consolas"/>
                  <a:ea typeface="Microsoft YaHei"/>
                  <a:cs typeface="Consolas"/>
                </a:rPr>
                <a:t>~/.local/share/CQNU-SED/GridYard/logs/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4355" y="395001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运行时数据写入标准用户目录，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4355" y="423576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发布包可自由移动或删除。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67500" y="1143000"/>
            <a:ext cx="4953000" cy="4572000"/>
            <a:chOff x="6667500" y="1143000"/>
            <a:chExt cx="4953000" cy="4572000"/>
          </a:xfrm>
        </p:grpSpPr>
        <p:sp>
          <p:nvSpPr>
            <p:cNvPr id="21" name="Rectangle 21"/>
            <p:cNvSpPr/>
            <p:nvPr/>
          </p:nvSpPr>
          <p:spPr>
            <a:xfrm>
              <a:off x="6667500" y="1143000"/>
              <a:ext cx="4953000" cy="457200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19050">
              <a:solidFill>
                <a:srgbClr val="E5E7EB"/>
              </a:solidFill>
              <a:prstDash val="lgDash"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799189" y="3283268"/>
              <a:ext cx="26896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[替换为：AppImage 和目录截图]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273028" y="6570345"/>
            <a:ext cx="3589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6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3A7BD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291465"/>
            <a:ext cx="4437412" cy="722947"/>
            <a:chOff x="571500" y="291465"/>
            <a:chExt cx="4437412" cy="722947"/>
          </a:xfrm>
        </p:grpSpPr>
        <p:sp>
          <p:nvSpPr>
            <p:cNvPr id="4" name="Rectangle 4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3A7BD5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39140" y="291465"/>
              <a:ext cx="2856166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四层架构设计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7715" y="801052"/>
              <a:ext cx="42411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FOUR-LAYER ARCHITECTURE WITH CLEAR SEPARATION OF CONCERNS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81000" y="1143000"/>
            <a:ext cx="11430000" cy="1143000"/>
            <a:chOff x="381000" y="1143000"/>
            <a:chExt cx="11430000" cy="1143000"/>
          </a:xfrm>
        </p:grpSpPr>
        <p:sp>
          <p:nvSpPr>
            <p:cNvPr id="8" name="Rectangle 8"/>
            <p:cNvSpPr/>
            <p:nvPr/>
          </p:nvSpPr>
          <p:spPr>
            <a:xfrm>
              <a:off x="381000" y="1143000"/>
              <a:ext cx="381000" cy="1143000"/>
            </a:xfrm>
            <a:prstGeom prst="roundRect">
              <a:avLst>
                <a:gd name="adj" fmla="val 15000"/>
              </a:avLst>
            </a:prstGeom>
            <a:solidFill>
              <a:srgbClr val="3A7BD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36936" y="160972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14400" y="1143000"/>
              <a:ext cx="10896600" cy="1143000"/>
            </a:xfrm>
            <a:prstGeom prst="roundRect">
              <a:avLst>
                <a:gd name="adj" fmla="val 8333"/>
              </a:avLst>
            </a:prstGeom>
            <a:solidFill>
              <a:srgbClr val="EFF6FF">
                <a:alpha val="60000"/>
              </a:srgbClr>
            </a:solidFill>
            <a:ln w="14288">
              <a:solidFill>
                <a:srgbClr val="93C5FD"/>
              </a:solidFill>
              <a:custDash>
                <a:ds d="400000" sp="266666"/>
              </a:custDash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155793" y="1285399"/>
              <a:ext cx="24138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3A7BD5"/>
                  </a:solidFill>
                  <a:latin typeface="Arial"/>
                  <a:ea typeface="Microsoft YaHei"/>
                  <a:cs typeface="Arial"/>
                </a:rPr>
                <a:t>QML 表现层 — 页面、交互、绑定和展示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104900" y="1524000"/>
              <a:ext cx="2381250" cy="628650"/>
            </a:xfrm>
            <a:prstGeom prst="roundRect">
              <a:avLst>
                <a:gd name="adj" fmla="val 1212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942570" y="1688306"/>
              <a:ext cx="7059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Main.qml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95034" y="1922145"/>
              <a:ext cx="10009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根窗口 + 设备列表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676650" y="1524000"/>
              <a:ext cx="2381250" cy="628650"/>
            </a:xfrm>
            <a:prstGeom prst="roundRect">
              <a:avLst>
                <a:gd name="adj" fmla="val 1212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159901" y="1688306"/>
              <a:ext cx="14147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DeviceSessionView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46769" y="1922145"/>
              <a:ext cx="12410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会话页（聊天 + 传输）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248400" y="1524000"/>
              <a:ext cx="2381250" cy="628650"/>
            </a:xfrm>
            <a:prstGeom prst="roundRect">
              <a:avLst>
                <a:gd name="adj" fmla="val 1212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48115" y="1688306"/>
              <a:ext cx="1981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ChatView / TransferPanel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78526" y="1922145"/>
              <a:ext cx="11209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气泡列表 + 任务面板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820150" y="1524000"/>
              <a:ext cx="2381250" cy="628650"/>
            </a:xfrm>
            <a:prstGeom prst="roundRect">
              <a:avLst>
                <a:gd name="adj" fmla="val 1212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49107" y="1688306"/>
              <a:ext cx="11233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SettingsDialog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70291" y="1922145"/>
              <a:ext cx="8809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设置 + 历史视图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81000" y="2438400"/>
            <a:ext cx="11430000" cy="1143000"/>
            <a:chOff x="381000" y="2438400"/>
            <a:chExt cx="11430000" cy="1143000"/>
          </a:xfrm>
        </p:grpSpPr>
        <p:sp>
          <p:nvSpPr>
            <p:cNvPr id="25" name="Rectangle 25"/>
            <p:cNvSpPr/>
            <p:nvPr/>
          </p:nvSpPr>
          <p:spPr>
            <a:xfrm>
              <a:off x="381000" y="2438400"/>
              <a:ext cx="381000" cy="1143000"/>
            </a:xfrm>
            <a:prstGeom prst="roundRect">
              <a:avLst>
                <a:gd name="adj" fmla="val 15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36936" y="290512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14400" y="2438400"/>
              <a:ext cx="10896600" cy="1143000"/>
            </a:xfrm>
            <a:prstGeom prst="roundRect">
              <a:avLst>
                <a:gd name="adj" fmla="val 8333"/>
              </a:avLst>
            </a:prstGeom>
            <a:solidFill>
              <a:srgbClr val="EEF2FF">
                <a:alpha val="60000"/>
              </a:srgbClr>
            </a:solidFill>
            <a:ln w="14288">
              <a:solidFill>
                <a:srgbClr val="A5B4FC"/>
              </a:solidFill>
              <a:custDash>
                <a:ds d="400000" sp="266666"/>
              </a:custDash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316201" y="2580799"/>
              <a:ext cx="20929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应用逻辑层 — 业务编排与会话管理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104900" y="2819400"/>
              <a:ext cx="2381250" cy="628650"/>
            </a:xfrm>
            <a:prstGeom prst="roundRect">
              <a:avLst>
                <a:gd name="adj" fmla="val 1212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757485" y="2983706"/>
              <a:ext cx="10760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AppController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86033" y="3217545"/>
              <a:ext cx="10189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组合根 + UI 初始化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676650" y="2819400"/>
              <a:ext cx="2381250" cy="628650"/>
            </a:xfrm>
            <a:prstGeom prst="roundRect">
              <a:avLst>
                <a:gd name="adj" fmla="val 1212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360738" y="2983706"/>
              <a:ext cx="10130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ChatManager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15778" y="3217545"/>
              <a:ext cx="11029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聊天连接与消息管理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2819400"/>
              <a:ext cx="2381250" cy="628650"/>
            </a:xfrm>
            <a:prstGeom prst="roundRect">
              <a:avLst>
                <a:gd name="adj" fmla="val 1212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75681" y="2983706"/>
              <a:ext cx="19266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TransferSessionManager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67550" y="321754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传输会话管理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820150" y="2819400"/>
              <a:ext cx="2381250" cy="628650"/>
            </a:xfrm>
            <a:prstGeom prst="roundRect">
              <a:avLst>
                <a:gd name="adj" fmla="val 1212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319153" y="2983706"/>
              <a:ext cx="13832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HistoryController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59278" y="3217545"/>
              <a:ext cx="11029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本地历史查询与清理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381000" y="3733800"/>
            <a:ext cx="11430000" cy="1143000"/>
            <a:chOff x="381000" y="3733800"/>
            <a:chExt cx="11430000" cy="1143000"/>
          </a:xfrm>
        </p:grpSpPr>
        <p:sp>
          <p:nvSpPr>
            <p:cNvPr id="42" name="Rectangle 42"/>
            <p:cNvSpPr/>
            <p:nvPr/>
          </p:nvSpPr>
          <p:spPr>
            <a:xfrm>
              <a:off x="381000" y="3733800"/>
              <a:ext cx="381000" cy="1143000"/>
            </a:xfrm>
            <a:prstGeom prst="roundRect">
              <a:avLst>
                <a:gd name="adj" fmla="val 15000"/>
              </a:avLst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36936" y="420052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14400" y="3733800"/>
              <a:ext cx="10896600" cy="1143000"/>
            </a:xfrm>
            <a:prstGeom prst="roundRect">
              <a:avLst>
                <a:gd name="adj" fmla="val 8333"/>
              </a:avLst>
            </a:prstGeom>
            <a:solidFill>
              <a:srgbClr val="F5F3FF">
                <a:alpha val="60000"/>
              </a:srgbClr>
            </a:solidFill>
            <a:ln w="14288">
              <a:solidFill>
                <a:srgbClr val="C4B5FD"/>
              </a:solidFill>
              <a:custDash>
                <a:ds d="400000" sp="266666"/>
              </a:custDash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988560" y="3876199"/>
              <a:ext cx="27482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5CF6"/>
                  </a:solidFill>
                  <a:latin typeface="Arial"/>
                  <a:ea typeface="Microsoft YaHei"/>
                  <a:cs typeface="Arial"/>
                </a:rPr>
                <a:t>领域与网络层 — 发现、传输、协议与 Worker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104900" y="4114800"/>
              <a:ext cx="1905000" cy="628650"/>
            </a:xfrm>
            <a:prstGeom prst="roundRect">
              <a:avLst>
                <a:gd name="adj" fmla="val 1212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433939" y="4287202"/>
              <a:ext cx="12469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DiscoveryService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719632" y="4521041"/>
              <a:ext cx="67553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UDP 广播发现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200400" y="4114800"/>
              <a:ext cx="1714500" cy="628650"/>
            </a:xfrm>
            <a:prstGeom prst="roundRect">
              <a:avLst>
                <a:gd name="adj" fmla="val 1212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680445" y="4287202"/>
              <a:ext cx="7544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P2pServer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719882" y="4521041"/>
              <a:ext cx="67553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TCP 首帧分流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105400" y="4114800"/>
              <a:ext cx="1714500" cy="628650"/>
            </a:xfrm>
            <a:prstGeom prst="roundRect">
              <a:avLst>
                <a:gd name="adj" fmla="val 1212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530313" y="4287202"/>
              <a:ext cx="8646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FrameCodec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679888" y="4521041"/>
              <a:ext cx="56552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TLV 编解码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010400" y="4114800"/>
              <a:ext cx="1905000" cy="628650"/>
            </a:xfrm>
            <a:prstGeom prst="roundRect">
              <a:avLst>
                <a:gd name="adj" fmla="val 1212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324737" y="4287202"/>
              <a:ext cx="12763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FileSenderWorker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622381" y="4521041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后台发送线程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105900" y="4114800"/>
              <a:ext cx="2095500" cy="628650"/>
            </a:xfrm>
            <a:prstGeom prst="roundRect">
              <a:avLst>
                <a:gd name="adj" fmla="val 1212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453004" y="4287202"/>
              <a:ext cx="14012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FileReceiverWorker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813131" y="4521041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后台接收线程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381000" y="5029200"/>
            <a:ext cx="11430000" cy="1143000"/>
            <a:chOff x="381000" y="5029200"/>
            <a:chExt cx="11430000" cy="1143000"/>
          </a:xfrm>
        </p:grpSpPr>
        <p:sp>
          <p:nvSpPr>
            <p:cNvPr id="62" name="Rectangle 62"/>
            <p:cNvSpPr/>
            <p:nvPr/>
          </p:nvSpPr>
          <p:spPr>
            <a:xfrm>
              <a:off x="381000" y="5029200"/>
              <a:ext cx="381000" cy="1143000"/>
            </a:xfrm>
            <a:prstGeom prst="roundRect">
              <a:avLst>
                <a:gd name="adj" fmla="val 15000"/>
              </a:avLst>
            </a:prstGeom>
            <a:solidFill>
              <a:srgbClr val="64748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36936" y="5495925"/>
              <a:ext cx="2691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14400" y="5029200"/>
              <a:ext cx="10896600" cy="1143000"/>
            </a:xfrm>
            <a:prstGeom prst="roundRect">
              <a:avLst>
                <a:gd name="adj" fmla="val 8333"/>
              </a:avLst>
            </a:prstGeom>
            <a:solidFill>
              <a:srgbClr val="F8FAFC"/>
            </a:solidFill>
            <a:ln w="14288">
              <a:solidFill>
                <a:srgbClr val="CBD5E1"/>
              </a:solidFill>
              <a:custDash>
                <a:ds d="400000" sp="266666"/>
              </a:custDash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879346" y="5171599"/>
              <a:ext cx="29667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本地数据层 — SQLite 持久化与 Repository 模式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104900" y="5410200"/>
              <a:ext cx="2095500" cy="628650"/>
            </a:xfrm>
            <a:prstGeom prst="roundRect">
              <a:avLst>
                <a:gd name="adj" fmla="val 1212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551241" y="5582602"/>
              <a:ext cx="12028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LocalDataBroker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757124" y="5816441"/>
              <a:ext cx="79105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数据层编排入口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3390900" y="5410200"/>
              <a:ext cx="2381250" cy="628650"/>
            </a:xfrm>
            <a:prstGeom prst="roundRect">
              <a:avLst>
                <a:gd name="adj" fmla="val 1212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3796344" y="5582602"/>
              <a:ext cx="15703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SqliteDatabaseBroker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4012728" y="5816441"/>
              <a:ext cx="11375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命名连接 + WAL + 事务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962650" y="5410200"/>
              <a:ext cx="1905000" cy="628650"/>
            </a:xfrm>
            <a:prstGeom prst="roundRect">
              <a:avLst>
                <a:gd name="adj" fmla="val 1212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515892" y="5582602"/>
              <a:ext cx="7985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Repository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404110" y="5816441"/>
              <a:ext cx="10220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设备/消息/传输历史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8058150" y="5410200"/>
              <a:ext cx="1905000" cy="628650"/>
            </a:xfrm>
            <a:prstGeom prst="roundRect">
              <a:avLst>
                <a:gd name="adj" fmla="val 12121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416592" y="5582602"/>
              <a:ext cx="11881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DatabaseWorker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560118" y="5816441"/>
              <a:ext cx="901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异步执行避免阻塞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11273028" y="6570345"/>
            <a:ext cx="3589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7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41" grpId="0"/>
      <p:bldP spid="61" grpId="0"/>
      <p:bldP spid="7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3A7BD5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291465"/>
            <a:ext cx="3485864" cy="670560"/>
            <a:chOff x="571500" y="291465"/>
            <a:chExt cx="3485864" cy="670560"/>
          </a:xfrm>
        </p:grpSpPr>
        <p:sp>
          <p:nvSpPr>
            <p:cNvPr id="4" name="Rectangle 4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3A7BD5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39140" y="291465"/>
              <a:ext cx="331822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局域网设备发现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71500" y="1282847"/>
            <a:ext cx="5334000" cy="2979591"/>
            <a:chOff x="571500" y="1282847"/>
            <a:chExt cx="5334000" cy="2979591"/>
          </a:xfrm>
        </p:grpSpPr>
        <p:grpSp>
          <p:nvGrpSpPr>
            <p:cNvPr id="10" name="Group 10"/>
            <p:cNvGrpSpPr/>
            <p:nvPr/>
          </p:nvGrpSpPr>
          <p:grpSpPr>
            <a:xfrm>
              <a:off x="601808" y="1282847"/>
              <a:ext cx="282283" cy="232066"/>
              <a:chOff x="601808" y="1282847"/>
              <a:chExt cx="282283" cy="23206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601808" y="1282847"/>
                <a:ext cx="282283" cy="232066"/>
              </a:xfrm>
              <a:custGeom>
                <a:avLst/>
                <a:gdLst/>
                <a:ahLst/>
                <a:cxnLst/>
                <a:rect l="l" t="t" r="r" b="b"/>
                <a:pathLst>
                  <a:path w="282283" h="232066">
                    <a:moveTo>
                      <a:pt x="232067" y="232066"/>
                    </a:moveTo>
                    <a:cubicBezTo>
                      <a:pt x="282283" y="181849"/>
                      <a:pt x="282283" y="100433"/>
                      <a:pt x="232067" y="50216"/>
                    </a:cubicBezTo>
                    <a:cubicBezTo>
                      <a:pt x="181850" y="0"/>
                      <a:pt x="100433" y="0"/>
                      <a:pt x="50217" y="50216"/>
                    </a:cubicBezTo>
                    <a:cubicBezTo>
                      <a:pt x="0" y="100433"/>
                      <a:pt x="0" y="181849"/>
                      <a:pt x="50216" y="232066"/>
                    </a:cubicBezTo>
                  </a:path>
                </a:pathLst>
              </a:custGeom>
              <a:noFill/>
              <a:ln w="19050">
                <a:solidFill>
                  <a:srgbClr val="3A7BD5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64537" y="1345590"/>
                <a:ext cx="156827" cy="128919"/>
              </a:xfrm>
              <a:custGeom>
                <a:avLst/>
                <a:gdLst/>
                <a:ahLst/>
                <a:cxnLst/>
                <a:rect l="l" t="t" r="r" b="b"/>
                <a:pathLst>
                  <a:path w="156827" h="128919">
                    <a:moveTo>
                      <a:pt x="128934" y="128919"/>
                    </a:moveTo>
                    <a:cubicBezTo>
                      <a:pt x="156827" y="101019"/>
                      <a:pt x="156823" y="55790"/>
                      <a:pt x="128925" y="27895"/>
                    </a:cubicBezTo>
                    <a:cubicBezTo>
                      <a:pt x="101027" y="0"/>
                      <a:pt x="55799" y="0"/>
                      <a:pt x="27902" y="27895"/>
                    </a:cubicBezTo>
                    <a:cubicBezTo>
                      <a:pt x="4" y="55790"/>
                      <a:pt x="0" y="101019"/>
                      <a:pt x="27893" y="128919"/>
                    </a:cubicBezTo>
                  </a:path>
                </a:pathLst>
              </a:custGeom>
              <a:noFill/>
              <a:ln w="19050">
                <a:solidFill>
                  <a:srgbClr val="3A7BD5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28662" y="1409700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3A7BD5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009650" y="1343025"/>
              <a:ext cx="23378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UDP 广播发现同网段设备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571500" y="18097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615948" y="2039270"/>
              <a:ext cx="183215" cy="188637"/>
              <a:chOff x="615948" y="2039270"/>
              <a:chExt cx="183215" cy="18863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671512" y="2100262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66675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3A7BD5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93738" y="2039270"/>
                <a:ext cx="105425" cy="105442"/>
              </a:xfrm>
              <a:custGeom>
                <a:avLst/>
                <a:gdLst/>
                <a:ahLst/>
                <a:cxnLst/>
                <a:rect l="l" t="t" r="r" b="b"/>
                <a:pathLst>
                  <a:path w="105425" h="105442">
                    <a:moveTo>
                      <a:pt x="0" y="27655"/>
                    </a:moveTo>
                    <a:lnTo>
                      <a:pt x="5145" y="21698"/>
                    </a:lnTo>
                    <a:cubicBezTo>
                      <a:pt x="26846" y="0"/>
                      <a:pt x="62029" y="2"/>
                      <a:pt x="83727" y="21704"/>
                    </a:cubicBezTo>
                    <a:cubicBezTo>
                      <a:pt x="105425" y="43405"/>
                      <a:pt x="105423" y="78588"/>
                      <a:pt x="83722" y="100286"/>
                    </a:cubicBezTo>
                    <a:lnTo>
                      <a:pt x="77788" y="105442"/>
                    </a:lnTo>
                  </a:path>
                </a:pathLst>
              </a:custGeom>
              <a:noFill/>
              <a:ln w="19050">
                <a:solidFill>
                  <a:srgbClr val="3A7BD5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15948" y="2122488"/>
                <a:ext cx="100014" cy="105419"/>
              </a:xfrm>
              <a:custGeom>
                <a:avLst/>
                <a:gdLst/>
                <a:ahLst/>
                <a:cxnLst/>
                <a:rect l="l" t="t" r="r" b="b"/>
                <a:pathLst>
                  <a:path w="100014" h="105419">
                    <a:moveTo>
                      <a:pt x="100014" y="77787"/>
                    </a:moveTo>
                    <a:lnTo>
                      <a:pt x="95602" y="83722"/>
                    </a:lnTo>
                    <a:cubicBezTo>
                      <a:pt x="73661" y="105419"/>
                      <a:pt x="38345" y="105419"/>
                      <a:pt x="16404" y="83722"/>
                    </a:cubicBezTo>
                    <a:cubicBezTo>
                      <a:pt x="5907" y="73343"/>
                      <a:pt x="0" y="59195"/>
                      <a:pt x="0" y="44433"/>
                    </a:cubicBezTo>
                    <a:cubicBezTo>
                      <a:pt x="0" y="29672"/>
                      <a:pt x="5907" y="15524"/>
                      <a:pt x="16404" y="5145"/>
                    </a:cubicBezTo>
                    <a:lnTo>
                      <a:pt x="22227" y="0"/>
                    </a:lnTo>
                  </a:path>
                </a:pathLst>
              </a:custGeom>
              <a:noFill/>
              <a:ln w="19050">
                <a:solidFill>
                  <a:srgbClr val="3A7BD5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935355" y="2083118"/>
              <a:ext cx="40937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Hello 消息携带设备 ID、名称、IP、端口和协议版本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604838" y="2509838"/>
              <a:ext cx="200025" cy="200025"/>
              <a:chOff x="604838" y="2509838"/>
              <a:chExt cx="200025" cy="20002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04838" y="250983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19050">
                <a:solidFill>
                  <a:srgbClr val="3A7BD5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04850" y="2554288"/>
                <a:ext cx="33338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88900">
                    <a:moveTo>
                      <a:pt x="0" y="0"/>
                    </a:moveTo>
                    <a:lnTo>
                      <a:pt x="0" y="55562"/>
                    </a:lnTo>
                    <a:lnTo>
                      <a:pt x="33338" y="88900"/>
                    </a:lnTo>
                  </a:path>
                </a:pathLst>
              </a:custGeom>
              <a:noFill/>
              <a:ln w="19050">
                <a:solidFill>
                  <a:srgbClr val="3A7BD5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935355" y="25593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定时心跳刷新在线状态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610560" y="3006401"/>
              <a:ext cx="188913" cy="155899"/>
              <a:chOff x="610560" y="3006401"/>
              <a:chExt cx="188913" cy="155899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04850" y="31527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9050">
                <a:solidFill>
                  <a:srgbClr val="3A7BD5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73424" y="3103996"/>
                <a:ext cx="62852" cy="17352"/>
              </a:xfrm>
              <a:custGeom>
                <a:avLst/>
                <a:gdLst/>
                <a:ahLst/>
                <a:cxnLst/>
                <a:rect l="l" t="t" r="r" b="b"/>
                <a:pathLst>
                  <a:path w="62852" h="17352">
                    <a:moveTo>
                      <a:pt x="0" y="17352"/>
                    </a:moveTo>
                    <a:cubicBezTo>
                      <a:pt x="17358" y="0"/>
                      <a:pt x="45495" y="0"/>
                      <a:pt x="62852" y="17352"/>
                    </a:cubicBezTo>
                  </a:path>
                </a:pathLst>
              </a:custGeom>
              <a:noFill/>
              <a:ln w="19050">
                <a:solidFill>
                  <a:srgbClr val="3A7BD5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41987" y="3063872"/>
                <a:ext cx="125727" cy="26040"/>
              </a:xfrm>
              <a:custGeom>
                <a:avLst/>
                <a:gdLst/>
                <a:ahLst/>
                <a:cxnLst/>
                <a:rect l="l" t="t" r="r" b="b"/>
                <a:pathLst>
                  <a:path w="125727" h="26040">
                    <a:moveTo>
                      <a:pt x="0" y="26040"/>
                    </a:moveTo>
                    <a:cubicBezTo>
                      <a:pt x="16672" y="9367"/>
                      <a:pt x="39285" y="0"/>
                      <a:pt x="62863" y="0"/>
                    </a:cubicBezTo>
                    <a:cubicBezTo>
                      <a:pt x="86442" y="0"/>
                      <a:pt x="109055" y="9367"/>
                      <a:pt x="125727" y="26040"/>
                    </a:cubicBezTo>
                  </a:path>
                </a:pathLst>
              </a:custGeom>
              <a:noFill/>
              <a:ln w="19050">
                <a:solidFill>
                  <a:srgbClr val="3A7BD5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10560" y="3006401"/>
                <a:ext cx="188913" cy="52084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52084">
                    <a:moveTo>
                      <a:pt x="0" y="52084"/>
                    </a:moveTo>
                    <a:cubicBezTo>
                      <a:pt x="52073" y="0"/>
                      <a:pt x="136506" y="0"/>
                      <a:pt x="188913" y="52084"/>
                    </a:cubicBezTo>
                  </a:path>
                </a:pathLst>
              </a:custGeom>
              <a:noFill/>
              <a:ln w="19050">
                <a:solidFill>
                  <a:srgbClr val="3A7BD5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935355" y="303561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设备离线后自动从列表剔除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604838" y="3464156"/>
              <a:ext cx="205581" cy="198206"/>
              <a:chOff x="604838" y="3464156"/>
              <a:chExt cx="205581" cy="19820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04838" y="3573462"/>
                <a:ext cx="2000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8890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77800" y="0"/>
                    </a:lnTo>
                    <a:cubicBezTo>
                      <a:pt x="190075" y="0"/>
                      <a:pt x="200025" y="9950"/>
                      <a:pt x="200025" y="22225"/>
                    </a:cubicBezTo>
                    <a:lnTo>
                      <a:pt x="200025" y="66675"/>
                    </a:lnTo>
                    <a:cubicBezTo>
                      <a:pt x="200025" y="78950"/>
                      <a:pt x="190075" y="88900"/>
                      <a:pt x="177800" y="88900"/>
                    </a:cubicBez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3A7BD5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60413" y="361791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3A7BD5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15962" y="361791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3A7BD5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38188" y="3551238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222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3A7BD5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02072" y="3507697"/>
                <a:ext cx="72231" cy="18537"/>
              </a:xfrm>
              <a:custGeom>
                <a:avLst/>
                <a:gdLst/>
                <a:ahLst/>
                <a:cxnLst/>
                <a:rect l="l" t="t" r="r" b="b"/>
                <a:pathLst>
                  <a:path w="72231" h="18537">
                    <a:moveTo>
                      <a:pt x="0" y="18537"/>
                    </a:moveTo>
                    <a:cubicBezTo>
                      <a:pt x="8349" y="6901"/>
                      <a:pt x="21794" y="0"/>
                      <a:pt x="36116" y="0"/>
                    </a:cubicBezTo>
                    <a:cubicBezTo>
                      <a:pt x="50438" y="0"/>
                      <a:pt x="63882" y="6901"/>
                      <a:pt x="72231" y="18537"/>
                    </a:cubicBezTo>
                  </a:path>
                </a:pathLst>
              </a:custGeom>
              <a:noFill/>
              <a:ln w="19050">
                <a:solidFill>
                  <a:srgbClr val="3A7BD5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65956" y="3464156"/>
                <a:ext cx="144463" cy="37075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37075">
                    <a:moveTo>
                      <a:pt x="0" y="37075"/>
                    </a:moveTo>
                    <a:cubicBezTo>
                      <a:pt x="16698" y="13802"/>
                      <a:pt x="43587" y="0"/>
                      <a:pt x="72231" y="0"/>
                    </a:cubicBezTo>
                    <a:cubicBezTo>
                      <a:pt x="100875" y="0"/>
                      <a:pt x="127764" y="13802"/>
                      <a:pt x="144463" y="37075"/>
                    </a:cubicBezTo>
                  </a:path>
                </a:pathLst>
              </a:custGeom>
              <a:noFill/>
              <a:ln w="19050">
                <a:solidFill>
                  <a:srgbClr val="3A7BD5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935355" y="351186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多网卡环境按可用网卡发送广播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660400" y="3994150"/>
              <a:ext cx="88900" cy="88900"/>
            </a:xfrm>
            <a:custGeom>
              <a:avLst/>
              <a:gdLst/>
              <a:ahLst/>
              <a:cxnLst/>
              <a:rect l="l" t="t" r="r" b="b"/>
              <a:pathLst>
                <a:path w="88900" h="88900">
                  <a:moveTo>
                    <a:pt x="0" y="44450"/>
                  </a:moveTo>
                  <a:cubicBezTo>
                    <a:pt x="0" y="68999"/>
                    <a:pt x="19901" y="88900"/>
                    <a:pt x="44450" y="88900"/>
                  </a:cubicBezTo>
                  <a:cubicBezTo>
                    <a:pt x="68999" y="88900"/>
                    <a:pt x="88900" y="68999"/>
                    <a:pt x="88900" y="44450"/>
                  </a:cubicBezTo>
                  <a:cubicBezTo>
                    <a:pt x="88900" y="19901"/>
                    <a:pt x="68999" y="0"/>
                    <a:pt x="44450" y="0"/>
                  </a:cubicBezTo>
                  <a:cubicBezTo>
                    <a:pt x="19901" y="0"/>
                    <a:pt x="0" y="19901"/>
                    <a:pt x="0" y="44450"/>
                  </a:cubicBezTo>
                </a:path>
              </a:pathLst>
            </a:custGeom>
            <a:noFill/>
            <a:ln w="19050">
              <a:solidFill>
                <a:srgbClr val="3A7BD5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35355" y="3988118"/>
              <a:ext cx="3274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发现结果进入设备列表，点击进入会话页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667500" y="1238250"/>
            <a:ext cx="4953000" cy="4572000"/>
            <a:chOff x="6667500" y="1238250"/>
            <a:chExt cx="4953000" cy="4572000"/>
          </a:xfrm>
        </p:grpSpPr>
        <p:sp>
          <p:nvSpPr>
            <p:cNvPr id="39" name="Rectangle 39"/>
            <p:cNvSpPr/>
            <p:nvPr/>
          </p:nvSpPr>
          <p:spPr>
            <a:xfrm>
              <a:off x="6667500" y="1238250"/>
              <a:ext cx="4953000" cy="457200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19050">
              <a:solidFill>
                <a:srgbClr val="E5E7EB"/>
              </a:solidFill>
              <a:prstDash val="lgDash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127730" y="3378518"/>
              <a:ext cx="20325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[替换为：设备发现截图]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273028" y="6570345"/>
            <a:ext cx="3589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8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3A7BD5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291465"/>
            <a:ext cx="3000704" cy="670560"/>
            <a:chOff x="571500" y="291465"/>
            <a:chExt cx="3000704" cy="670560"/>
          </a:xfrm>
        </p:grpSpPr>
        <p:sp>
          <p:nvSpPr>
            <p:cNvPr id="4" name="Rectangle 4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3A7BD5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39140" y="291465"/>
              <a:ext cx="283306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P2P 文件传输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54355" y="1323975"/>
            <a:ext cx="5351145" cy="2805113"/>
            <a:chOff x="554355" y="1323975"/>
            <a:chExt cx="5351145" cy="2805113"/>
          </a:xfrm>
        </p:grpSpPr>
        <p:grpSp>
          <p:nvGrpSpPr>
            <p:cNvPr id="9" name="Group 9"/>
            <p:cNvGrpSpPr/>
            <p:nvPr/>
          </p:nvGrpSpPr>
          <p:grpSpPr>
            <a:xfrm>
              <a:off x="614362" y="1323975"/>
              <a:ext cx="257175" cy="171450"/>
              <a:chOff x="614362" y="1323975"/>
              <a:chExt cx="257175" cy="1714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671512" y="1323975"/>
                <a:ext cx="2000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57150">
                    <a:moveTo>
                      <a:pt x="0" y="57150"/>
                    </a:moveTo>
                    <a:lnTo>
                      <a:pt x="200025" y="57150"/>
                    </a:ln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3A7BD5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14362" y="1438275"/>
                <a:ext cx="2000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57150">
                    <a:moveTo>
                      <a:pt x="200025" y="0"/>
                    </a:moveTo>
                    <a:lnTo>
                      <a:pt x="0" y="0"/>
                    </a:lnTo>
                    <a:lnTo>
                      <a:pt x="57150" y="57150"/>
                    </a:lnTo>
                  </a:path>
                </a:pathLst>
              </a:custGeom>
              <a:noFill/>
              <a:ln w="19050">
                <a:solidFill>
                  <a:srgbClr val="3A7BD5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009650" y="1343025"/>
              <a:ext cx="14977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TCP 点对点连接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71500" y="18097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4355" y="2006918"/>
              <a:ext cx="27256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TCP 点对点连接，</a:t>
              </a:r>
              <a:r>
                <a:rPr lang="zh-CN" sz="1350" b="1" dirty="0">
                  <a:solidFill>
                    <a:srgbClr val="3A7BD5"/>
                  </a:solidFill>
                  <a:latin typeface="Arial"/>
                  <a:ea typeface="Microsoft YaHei"/>
                  <a:cs typeface="Arial"/>
                </a:rPr>
                <a:t>不经服务器中转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4355" y="2426018"/>
              <a:ext cx="2940368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TLV 二进制帧承载传输请求、数据块、</a:t>
              </a:r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确认和完成消息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54355" y="3092768"/>
              <a:ext cx="17355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 xml:space="preserve">文件按 </a:t>
              </a:r>
              <a:r>
                <a:rPr lang="zh-CN" sz="1350" b="1" dirty="0">
                  <a:solidFill>
                    <a:srgbClr val="3A7BD5"/>
                  </a:solidFill>
                  <a:latin typeface="Arial"/>
                  <a:ea typeface="Microsoft YaHei"/>
                  <a:cs typeface="Arial"/>
                </a:rPr>
                <a:t>8MB</a:t>
              </a:r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 xml:space="preserve"> 分块发送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4355" y="3473768"/>
              <a:ext cx="20415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A7BD5"/>
                  </a:solidFill>
                  <a:latin typeface="Arial"/>
                  <a:ea typeface="Microsoft YaHei"/>
                  <a:cs typeface="Arial"/>
                </a:rPr>
                <a:t>SHA-256</a:t>
              </a:r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 xml:space="preserve"> 校验文件完整性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4355" y="385476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支持文件夹和多文件传输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667500" y="1238250"/>
            <a:ext cx="4953000" cy="4572000"/>
            <a:chOff x="6667500" y="1238250"/>
            <a:chExt cx="4953000" cy="4572000"/>
          </a:xfrm>
        </p:grpSpPr>
        <p:sp>
          <p:nvSpPr>
            <p:cNvPr id="18" name="Rectangle 18"/>
            <p:cNvSpPr/>
            <p:nvPr/>
          </p:nvSpPr>
          <p:spPr>
            <a:xfrm>
              <a:off x="6667500" y="1238250"/>
              <a:ext cx="4953000" cy="457200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19050">
              <a:solidFill>
                <a:srgbClr val="E5E7EB"/>
              </a:solidFill>
              <a:prstDash val="lgDash"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27730" y="3378518"/>
              <a:ext cx="20325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[替换为：传输进度截图]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273028" y="6570345"/>
            <a:ext cx="3589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9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3A7BD5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291465"/>
            <a:ext cx="4063436" cy="670560"/>
            <a:chOff x="571500" y="291465"/>
            <a:chExt cx="4063436" cy="670560"/>
          </a:xfrm>
        </p:grpSpPr>
        <p:sp>
          <p:nvSpPr>
            <p:cNvPr id="4" name="Rectangle 4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3A7BD5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39140" y="291465"/>
              <a:ext cx="3895796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聊天复用 P2P 通道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54355" y="1295400"/>
            <a:ext cx="5351145" cy="3119438"/>
            <a:chOff x="554355" y="1295400"/>
            <a:chExt cx="5351145" cy="3119438"/>
          </a:xfrm>
        </p:grpSpPr>
        <p:grpSp>
          <p:nvGrpSpPr>
            <p:cNvPr id="10" name="Group 10"/>
            <p:cNvGrpSpPr/>
            <p:nvPr/>
          </p:nvGrpSpPr>
          <p:grpSpPr>
            <a:xfrm>
              <a:off x="614362" y="1295400"/>
              <a:ext cx="257175" cy="242888"/>
              <a:chOff x="614362" y="1295400"/>
              <a:chExt cx="257175" cy="24288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685800" y="1366838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3A7BD5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85800" y="1423988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3A7BD5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14362" y="1295400"/>
                <a:ext cx="257175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42888">
                    <a:moveTo>
                      <a:pt x="85725" y="200025"/>
                    </a:moveTo>
                    <a:lnTo>
                      <a:pt x="42862" y="200025"/>
                    </a:lnTo>
                    <a:cubicBezTo>
                      <a:pt x="19190" y="200025"/>
                      <a:pt x="0" y="180835"/>
                      <a:pt x="0" y="157162"/>
                    </a:cubicBezTo>
                    <a:lnTo>
                      <a:pt x="0" y="42862"/>
                    </a:lnTo>
                    <a:cubicBezTo>
                      <a:pt x="0" y="19190"/>
                      <a:pt x="19190" y="0"/>
                      <a:pt x="42862" y="0"/>
                    </a:cubicBezTo>
                    <a:lnTo>
                      <a:pt x="214312" y="0"/>
                    </a:lnTo>
                    <a:cubicBezTo>
                      <a:pt x="237985" y="0"/>
                      <a:pt x="257175" y="19190"/>
                      <a:pt x="257175" y="42862"/>
                    </a:cubicBezTo>
                    <a:lnTo>
                      <a:pt x="257175" y="157162"/>
                    </a:lnTo>
                    <a:cubicBezTo>
                      <a:pt x="257175" y="180835"/>
                      <a:pt x="237985" y="200025"/>
                      <a:pt x="214312" y="200025"/>
                    </a:cubicBezTo>
                    <a:lnTo>
                      <a:pt x="171450" y="200025"/>
                    </a:lnTo>
                    <a:lnTo>
                      <a:pt x="128588" y="242888"/>
                    </a:lnTo>
                    <a:lnTo>
                      <a:pt x="85725" y="200025"/>
                    </a:lnTo>
                  </a:path>
                </a:pathLst>
              </a:custGeom>
              <a:noFill/>
              <a:ln w="19050">
                <a:solidFill>
                  <a:srgbClr val="3A7BD5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009650" y="134302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首帧分流机制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571500" y="18097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54355" y="2006918"/>
              <a:ext cx="21585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聊天消息使用独立 Type 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56260" y="2346960"/>
              <a:ext cx="35669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7BD5"/>
                  </a:solidFill>
                  <a:latin typeface="Consolas"/>
                  <a:ea typeface="Microsoft YaHei"/>
                  <a:cs typeface="Consolas"/>
                </a:rPr>
                <a:t>0x0501 kTypeChatText / 0x0502 kTypeChatAck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4355" y="2711768"/>
              <a:ext cx="238315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P2pServer 根据首帧 Type</a:t>
              </a:r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判断连接用途（文件 or 聊天）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4355" y="3378518"/>
              <a:ext cx="309467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文件传输和聊天共享底层 FrameCodec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4355" y="3759518"/>
              <a:ext cx="31936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ChatManager 维护设备会话和消息状态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4355" y="4140518"/>
              <a:ext cx="30136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消息写入 SQLite，重启后可恢复历史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667500" y="1238250"/>
            <a:ext cx="4953000" cy="4572000"/>
            <a:chOff x="6667500" y="1238250"/>
            <a:chExt cx="4953000" cy="4572000"/>
          </a:xfrm>
        </p:grpSpPr>
        <p:sp>
          <p:nvSpPr>
            <p:cNvPr id="20" name="Rectangle 20"/>
            <p:cNvSpPr/>
            <p:nvPr/>
          </p:nvSpPr>
          <p:spPr>
            <a:xfrm>
              <a:off x="6667500" y="1238250"/>
              <a:ext cx="4953000" cy="457200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19050">
              <a:solidFill>
                <a:srgbClr val="E5E7EB"/>
              </a:solidFill>
              <a:prstDash val="lgDash"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27730" y="3378518"/>
              <a:ext cx="20325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[替换为：聊天界面截图]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207020" y="65703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10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3A7BD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323850"/>
            <a:ext cx="4133136" cy="738188"/>
            <a:chOff x="571500" y="323850"/>
            <a:chExt cx="4133136" cy="738188"/>
          </a:xfrm>
        </p:grpSpPr>
        <p:sp>
          <p:nvSpPr>
            <p:cNvPr id="4" name="Rectangle 4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3A7BD5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2950" y="323850"/>
              <a:ext cx="3961686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自研 TLV 协议的价值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3905" y="787718"/>
              <a:ext cx="23745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为什么没有直接照搬现成协议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71500" y="1190625"/>
            <a:ext cx="11049000" cy="2676525"/>
            <a:chOff x="571500" y="1190625"/>
            <a:chExt cx="11049000" cy="2676525"/>
          </a:xfrm>
        </p:grpSpPr>
        <p:sp>
          <p:nvSpPr>
            <p:cNvPr id="8" name="Rectangle 8"/>
            <p:cNvSpPr/>
            <p:nvPr/>
          </p:nvSpPr>
          <p:spPr>
            <a:xfrm>
              <a:off x="571500" y="1190625"/>
              <a:ext cx="11049000" cy="38100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8665" y="1343978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A7BD5"/>
                  </a:solidFill>
                  <a:latin typeface="Arial"/>
                  <a:ea typeface="Microsoft YaHei"/>
                  <a:cs typeface="Arial"/>
                </a:rPr>
                <a:t>设计点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225165" y="1343978"/>
              <a:ext cx="11219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A7BD5"/>
                  </a:solidFill>
                  <a:latin typeface="Arial"/>
                  <a:ea typeface="Microsoft YaHei"/>
                  <a:cs typeface="Arial"/>
                </a:rPr>
                <a:t>GridYard 的做法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01915" y="1343978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A7BD5"/>
                  </a:solidFill>
                  <a:latin typeface="Arial"/>
                  <a:ea typeface="Microsoft YaHei"/>
                  <a:cs typeface="Arial"/>
                </a:rPr>
                <a:t>价值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571500" y="15716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46760" y="1727835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帧结构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223260" y="1727835"/>
              <a:ext cx="28148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8 字节头部 + Type + Length + Payload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00010" y="1727835"/>
              <a:ext cx="175869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解决 TCP 粘包/半包问题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571500" y="20288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6760" y="2185035"/>
              <a:ext cx="7865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Type 分区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23260" y="2185035"/>
              <a:ext cx="28308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文件、聊天、确认、错误使用不同 Type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00010" y="2185035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首帧分流，扩展更清楚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571500" y="24860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46760" y="2642235"/>
              <a:ext cx="102180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Payload 上限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23260" y="2642235"/>
              <a:ext cx="2430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控制帧和数据帧使用不同大小限制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00010" y="2642235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防异常包拖垮内存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571500" y="29432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46760" y="309943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版本字段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223260" y="3099435"/>
              <a:ext cx="21987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Hello 和传输请求携带协议版本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00010" y="3099435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兼容、降级和拒绝不兼容客户端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571500" y="34004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46760" y="3556635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数据块确认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223260" y="3556635"/>
              <a:ext cx="19187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分块传输 + ACK + SHA-256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00010" y="3556635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传输状态可追踪，完整性可验证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571500" y="38576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554355" y="3950018"/>
            <a:ext cx="5512117" cy="845820"/>
            <a:chOff x="554355" y="3950018"/>
            <a:chExt cx="5512117" cy="845820"/>
          </a:xfrm>
        </p:grpSpPr>
        <p:sp>
          <p:nvSpPr>
            <p:cNvPr id="34" name="TextBox 34"/>
            <p:cNvSpPr txBox="1"/>
            <p:nvPr/>
          </p:nvSpPr>
          <p:spPr>
            <a:xfrm>
              <a:off x="554355" y="3950018"/>
              <a:ext cx="5512117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自研协议不是炫技，而是课程项目的核心训练点。TCP 只提供字节流，</a:t>
              </a:r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不提供消息边界，所以必须自己定义帧格式。TLV 结构简单、扩展性强，</a:t>
              </a:r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文件传输和聊天可以共用同一套 FrameCodec。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1207020" y="65703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11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3A7BD5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291465"/>
            <a:ext cx="4202054" cy="670560"/>
            <a:chOff x="571500" y="291465"/>
            <a:chExt cx="4202054" cy="670560"/>
          </a:xfrm>
        </p:grpSpPr>
        <p:sp>
          <p:nvSpPr>
            <p:cNvPr id="4" name="Rectangle 4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3A7BD5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39140" y="291465"/>
              <a:ext cx="403441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SQLite 历史持久化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54355" y="1281112"/>
            <a:ext cx="5351145" cy="2905126"/>
            <a:chOff x="554355" y="1281112"/>
            <a:chExt cx="5351145" cy="2905126"/>
          </a:xfrm>
        </p:grpSpPr>
        <p:grpSp>
          <p:nvGrpSpPr>
            <p:cNvPr id="10" name="Group 10"/>
            <p:cNvGrpSpPr/>
            <p:nvPr/>
          </p:nvGrpSpPr>
          <p:grpSpPr>
            <a:xfrm>
              <a:off x="628650" y="1281112"/>
              <a:ext cx="228600" cy="257176"/>
              <a:chOff x="628650" y="1281112"/>
              <a:chExt cx="228600" cy="25717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628650" y="1281112"/>
                <a:ext cx="2286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85725">
                    <a:moveTo>
                      <a:pt x="0" y="42862"/>
                    </a:moveTo>
                    <a:cubicBezTo>
                      <a:pt x="0" y="66535"/>
                      <a:pt x="51174" y="85725"/>
                      <a:pt x="114300" y="85725"/>
                    </a:cubicBezTo>
                    <a:cubicBezTo>
                      <a:pt x="177426" y="85725"/>
                      <a:pt x="228600" y="66535"/>
                      <a:pt x="228600" y="42862"/>
                    </a:cubicBezTo>
                    <a:cubicBezTo>
                      <a:pt x="228600" y="19190"/>
                      <a:pt x="177426" y="0"/>
                      <a:pt x="114300" y="0"/>
                    </a:cubicBezTo>
                    <a:cubicBezTo>
                      <a:pt x="51174" y="0"/>
                      <a:pt x="0" y="19190"/>
                      <a:pt x="0" y="42862"/>
                    </a:cubicBezTo>
                  </a:path>
                </a:pathLst>
              </a:custGeom>
              <a:noFill/>
              <a:ln w="19050">
                <a:solidFill>
                  <a:srgbClr val="3A7BD5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28650" y="1323975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3A7BD5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28650" y="1409700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3A7BD5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009650" y="1343025"/>
              <a:ext cx="1508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本地数据层架构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571500" y="18097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54355" y="2006918"/>
              <a:ext cx="23745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A7BD5"/>
                  </a:solidFill>
                  <a:latin typeface="Arial"/>
                  <a:ea typeface="Microsoft YaHei"/>
                  <a:cs typeface="Arial"/>
                </a:rPr>
                <a:t>设备目录</a:t>
              </a:r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：记录发现过的设备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54355" y="238791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A7BD5"/>
                  </a:solidFill>
                  <a:latin typeface="Arial"/>
                  <a:ea typeface="Microsoft YaHei"/>
                  <a:cs typeface="Arial"/>
                </a:rPr>
                <a:t>聊天消息</a:t>
              </a:r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：分页加载和重启恢复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4355" y="2768918"/>
              <a:ext cx="36347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A7BD5"/>
                  </a:solidFill>
                  <a:latin typeface="Arial"/>
                  <a:ea typeface="Microsoft YaHei"/>
                  <a:cs typeface="Arial"/>
                </a:rPr>
                <a:t>传输历史</a:t>
              </a:r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：记录成功、失败、取消、拒绝状态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4355" y="314991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A7BD5"/>
                  </a:solidFill>
                  <a:latin typeface="Arial"/>
                  <a:ea typeface="Microsoft YaHei"/>
                  <a:cs typeface="Arial"/>
                </a:rPr>
                <a:t>Repository 模式</a:t>
              </a:r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隔离 SQL 细节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4355" y="3530918"/>
              <a:ext cx="33107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A7BD5"/>
                  </a:solidFill>
                  <a:latin typeface="Arial"/>
                  <a:ea typeface="Microsoft YaHei"/>
                  <a:cs typeface="Arial"/>
                </a:rPr>
                <a:t>DatabaseWorker</a:t>
              </a:r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 xml:space="preserve"> 线程中执行数据库操作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4355" y="3911918"/>
              <a:ext cx="23745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避免阻塞界面，保持流畅体验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667500" y="1238250"/>
            <a:ext cx="4953000" cy="4572000"/>
            <a:chOff x="6667500" y="1238250"/>
            <a:chExt cx="4953000" cy="4572000"/>
          </a:xfrm>
        </p:grpSpPr>
        <p:sp>
          <p:nvSpPr>
            <p:cNvPr id="20" name="Rectangle 20"/>
            <p:cNvSpPr/>
            <p:nvPr/>
          </p:nvSpPr>
          <p:spPr>
            <a:xfrm>
              <a:off x="6667500" y="1238250"/>
              <a:ext cx="4953000" cy="457200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19050">
              <a:solidFill>
                <a:srgbClr val="E5E7EB"/>
              </a:solidFill>
              <a:prstDash val="lgDash"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47708" y="3378518"/>
              <a:ext cx="23925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[替换为：传输历史恢复截图]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207020" y="65703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12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3A7BD5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291465"/>
            <a:ext cx="4872038" cy="670560"/>
            <a:chOff x="571500" y="291465"/>
            <a:chExt cx="4872038" cy="670560"/>
          </a:xfrm>
        </p:grpSpPr>
        <p:sp>
          <p:nvSpPr>
            <p:cNvPr id="4" name="Rectangle 4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3A7BD5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39140" y="291465"/>
              <a:ext cx="4704398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发布版运行时数据策略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1143000"/>
            <a:ext cx="11049000" cy="2809875"/>
            <a:chOff x="571500" y="1143000"/>
            <a:chExt cx="11049000" cy="2809875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11049000" cy="47625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7712" y="13263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3A7BD5"/>
                  </a:solidFill>
                  <a:latin typeface="Arial"/>
                  <a:ea typeface="Microsoft YaHei"/>
                  <a:cs typeface="Arial"/>
                </a:rPr>
                <a:t>数据类型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38462" y="13263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3A7BD5"/>
                  </a:solidFill>
                  <a:latin typeface="Arial"/>
                  <a:ea typeface="Microsoft YaHei"/>
                  <a:cs typeface="Arial"/>
                </a:rPr>
                <a:t>最终位置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71500" y="1619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4855" y="1854518"/>
              <a:ext cx="3943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配置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38462" y="1878806"/>
              <a:ext cx="31714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Consolas"/>
                  <a:ea typeface="Microsoft YaHei"/>
                  <a:cs typeface="Consolas"/>
                </a:rPr>
                <a:t>~/.config/CQNU-SED/GridYard/gridyard.ini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71500" y="22383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4855" y="2473642"/>
              <a:ext cx="5743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数据库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38462" y="2497931"/>
              <a:ext cx="34114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Consolas"/>
                  <a:ea typeface="Microsoft YaHei"/>
                  <a:cs typeface="Consolas"/>
                </a:rPr>
                <a:t>~/.local/share/CQNU-SED/GridYard/database/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571500" y="2857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4855" y="3092768"/>
              <a:ext cx="3943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日志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38462" y="3117056"/>
              <a:ext cx="30439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2E"/>
                  </a:solidFill>
                  <a:latin typeface="Consolas"/>
                  <a:ea typeface="Microsoft YaHei"/>
                  <a:cs typeface="Consolas"/>
                </a:rPr>
                <a:t>~/.local/share/CQNU-SED/GridYard/logs/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571500" y="34766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71500" y="3476625"/>
              <a:ext cx="11049000" cy="47625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47712" y="3669506"/>
              <a:ext cx="204482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3A7BD5"/>
                  </a:solidFill>
                  <a:latin typeface="Arial"/>
                  <a:ea typeface="Microsoft YaHei"/>
                  <a:cs typeface="Arial"/>
                </a:rPr>
                <a:t>Linux 桌面应用标准用户目录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50545" y="3917632"/>
            <a:ext cx="3981450" cy="1506856"/>
            <a:chOff x="550545" y="3917632"/>
            <a:chExt cx="3981450" cy="1506856"/>
          </a:xfrm>
        </p:grpSpPr>
        <p:sp>
          <p:nvSpPr>
            <p:cNvPr id="23" name="TextBox 23"/>
            <p:cNvSpPr txBox="1"/>
            <p:nvPr/>
          </p:nvSpPr>
          <p:spPr>
            <a:xfrm>
              <a:off x="550545" y="39176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验证结论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600075" y="4352925"/>
              <a:ext cx="171450" cy="171450"/>
              <a:chOff x="600075" y="4352925"/>
              <a:chExt cx="171450" cy="17145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00075" y="43529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57225" y="441960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897255" y="4388168"/>
              <a:ext cx="31756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--config 参数可正确覆盖配置文件路径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600075" y="4733925"/>
              <a:ext cx="171450" cy="171450"/>
              <a:chOff x="600075" y="4733925"/>
              <a:chExt cx="171450" cy="17145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00075" y="47339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57225" y="480060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897255" y="4769168"/>
              <a:ext cx="36347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默认配置、数据库、日志均写入系统标准目录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600075" y="5114925"/>
              <a:ext cx="171450" cy="171450"/>
              <a:chOff x="600075" y="5114925"/>
              <a:chExt cx="171450" cy="17145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00075" y="51149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57225" y="518160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897255" y="515016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修改设备别名后重启仍保持不变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207020" y="65703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13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3A7BD5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291465"/>
            <a:ext cx="3023806" cy="670560"/>
            <a:chOff x="571500" y="291465"/>
            <a:chExt cx="3023806" cy="670560"/>
          </a:xfrm>
        </p:grpSpPr>
        <p:sp>
          <p:nvSpPr>
            <p:cNvPr id="4" name="Rectangle 4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3A7BD5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39140" y="291465"/>
              <a:ext cx="2856166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最终验证结果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71500" y="1047750"/>
            <a:ext cx="11049000" cy="4953000"/>
            <a:chOff x="571500" y="1047750"/>
            <a:chExt cx="11049000" cy="4953000"/>
          </a:xfrm>
        </p:grpSpPr>
        <p:sp>
          <p:nvSpPr>
            <p:cNvPr id="7" name="Rectangle 7"/>
            <p:cNvSpPr/>
            <p:nvPr/>
          </p:nvSpPr>
          <p:spPr>
            <a:xfrm>
              <a:off x="571500" y="1047750"/>
              <a:ext cx="11049000" cy="47625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7712" y="1231106"/>
              <a:ext cx="5011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3A7BD5"/>
                  </a:solidFill>
                  <a:latin typeface="Arial"/>
                  <a:ea typeface="Microsoft YaHei"/>
                  <a:cs typeface="Arial"/>
                </a:rPr>
                <a:t>验证项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19693" y="1231106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3A7BD5"/>
                  </a:solidFill>
                  <a:latin typeface="Arial"/>
                  <a:ea typeface="Microsoft YaHei"/>
                  <a:cs typeface="Arial"/>
                </a:rPr>
                <a:t>结果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71500" y="1524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4855" y="1759268"/>
              <a:ext cx="12314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AppImage 启动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8510588" y="1728788"/>
              <a:ext cx="200025" cy="200025"/>
              <a:chOff x="8510588" y="1728788"/>
              <a:chExt cx="200025" cy="2000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510588" y="17287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577262" y="180657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8843010" y="17754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通过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571500" y="2095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4855" y="2330768"/>
              <a:ext cx="9344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压缩包运行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8510588" y="2300288"/>
              <a:ext cx="200025" cy="200025"/>
              <a:chOff x="8510588" y="2300288"/>
              <a:chExt cx="200025" cy="20002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8510588" y="23002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577262" y="237807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8843010" y="23469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通过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71500" y="266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44855" y="290226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系统默认配置目录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8510588" y="2871788"/>
              <a:ext cx="200025" cy="200025"/>
              <a:chOff x="8510588" y="2871788"/>
              <a:chExt cx="200025" cy="20002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510588" y="28717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577262" y="294957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8843010" y="29184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通过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571500" y="3238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44855" y="347376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系统默认数据库目录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8510588" y="3443288"/>
              <a:ext cx="200025" cy="200025"/>
              <a:chOff x="8510588" y="3443288"/>
              <a:chExt cx="200025" cy="2000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510588" y="34432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577262" y="352107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843010" y="34899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通过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71500" y="3810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44855" y="404526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系统默认日志目录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8510588" y="4014788"/>
              <a:ext cx="200025" cy="200025"/>
              <a:chOff x="8510588" y="4014788"/>
              <a:chExt cx="200025" cy="20002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510588" y="40147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577262" y="409257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8843010" y="40614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通过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571500" y="4381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44855" y="4616768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设备别名持久化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8510588" y="4586288"/>
              <a:ext cx="200025" cy="200025"/>
              <a:chOff x="8510588" y="4586288"/>
              <a:chExt cx="200025" cy="20002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8510588" y="45862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577262" y="466407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8843010" y="46329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通过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571500" y="4953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44855" y="51882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文件传输与聊天主流程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8510588" y="5157788"/>
              <a:ext cx="200025" cy="200025"/>
              <a:chOff x="8510588" y="5157788"/>
              <a:chExt cx="200025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510588" y="51577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577262" y="523557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8843010" y="520446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0B981"/>
                  </a:solidFill>
                  <a:latin typeface="Arial"/>
                  <a:ea typeface="Microsoft YaHei"/>
                  <a:cs typeface="Arial"/>
                </a:rPr>
                <a:t>通过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571500" y="5524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571500" y="5524500"/>
              <a:ext cx="11049000" cy="47625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47712" y="5717381"/>
              <a:ext cx="12178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3A7BD5"/>
                  </a:solidFill>
                  <a:latin typeface="Arial"/>
                  <a:ea typeface="Microsoft YaHei"/>
                  <a:cs typeface="Arial"/>
                </a:rPr>
                <a:t>7 / 7 项全部通过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1207020" y="65703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14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3A7BD5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291465"/>
            <a:ext cx="2561749" cy="670560"/>
            <a:chOff x="571500" y="291465"/>
            <a:chExt cx="2561749" cy="670560"/>
          </a:xfrm>
        </p:grpSpPr>
        <p:sp>
          <p:nvSpPr>
            <p:cNvPr id="4" name="Rectangle 4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3A7BD5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39140" y="291465"/>
              <a:ext cx="2394109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分工与收获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71500" y="1143000"/>
            <a:ext cx="11049000" cy="2667000"/>
            <a:chOff x="571500" y="1143000"/>
            <a:chExt cx="11049000" cy="2667000"/>
          </a:xfrm>
        </p:grpSpPr>
        <p:grpSp>
          <p:nvGrpSpPr>
            <p:cNvPr id="28" name="Group 28"/>
            <p:cNvGrpSpPr/>
            <p:nvPr/>
          </p:nvGrpSpPr>
          <p:grpSpPr>
            <a:xfrm>
              <a:off x="571500" y="1143000"/>
              <a:ext cx="3429000" cy="2667000"/>
              <a:chOff x="571500" y="1143000"/>
              <a:chExt cx="3429000" cy="26670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71500" y="1143000"/>
                <a:ext cx="3429000" cy="2667000"/>
              </a:xfrm>
              <a:prstGeom prst="roundRect">
                <a:avLst>
                  <a:gd name="adj" fmla="val 4286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2011108" y="1424940"/>
                <a:ext cx="549783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3A7BD5"/>
                    </a:solidFill>
                    <a:latin typeface="Arial"/>
                    <a:ea typeface="Microsoft YaHei"/>
                    <a:cs typeface="Arial"/>
                  </a:rPr>
                  <a:t>高扬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415058" y="1772602"/>
                <a:ext cx="174188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架构设计 / 协议层 / CMake</a:t>
                </a:r>
              </a:p>
            </p:txBody>
          </p:sp>
          <p:sp>
            <p:nvSpPr>
              <p:cNvPr id="10" name="Line 10"/>
              <p:cNvSpPr/>
              <p:nvPr/>
            </p:nvSpPr>
            <p:spPr>
              <a:xfrm>
                <a:off x="952500" y="2057400"/>
                <a:ext cx="266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67000" h="9525">
                    <a:moveTo>
                      <a:pt x="0" y="0"/>
                    </a:moveTo>
                    <a:lnTo>
                      <a:pt x="2667000" y="0"/>
                    </a:lnTo>
                  </a:path>
                </a:pathLst>
              </a:custGeom>
              <a:noFill/>
              <a:ln w="9525">
                <a:solidFill>
                  <a:srgbClr val="E5E7EB"/>
                </a:solidFill>
              </a:ln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990600" y="2286000"/>
                <a:ext cx="152400" cy="152400"/>
                <a:chOff x="990600" y="2286000"/>
                <a:chExt cx="152400" cy="152400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990600" y="2286000"/>
                  <a:ext cx="571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76200">
                      <a:moveTo>
                        <a:pt x="9525" y="0"/>
                      </a:move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66675"/>
                      </a:lnTo>
                      <a:cubicBezTo>
                        <a:pt x="57150" y="71936"/>
                        <a:pt x="52886" y="76200"/>
                        <a:pt x="47625" y="76200"/>
                      </a:cubicBezTo>
                      <a:lnTo>
                        <a:pt x="9525" y="76200"/>
                      </a:lnTo>
                      <a:cubicBezTo>
                        <a:pt x="4264" y="76200"/>
                        <a:pt x="0" y="71936"/>
                        <a:pt x="0" y="66675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</a:path>
                  </a:pathLst>
                </a:custGeom>
                <a:noFill/>
                <a:ln w="19050">
                  <a:solidFill>
                    <a:srgbClr val="3A7BD5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990600" y="2400300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9525" y="0"/>
                      </a:move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28575"/>
                      </a:lnTo>
                      <a:cubicBezTo>
                        <a:pt x="57150" y="33836"/>
                        <a:pt x="52886" y="38100"/>
                        <a:pt x="47625" y="38100"/>
                      </a:cubicBezTo>
                      <a:lnTo>
                        <a:pt x="9525" y="38100"/>
                      </a:lnTo>
                      <a:cubicBezTo>
                        <a:pt x="4264" y="38100"/>
                        <a:pt x="0" y="33836"/>
                        <a:pt x="0" y="28575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</a:path>
                  </a:pathLst>
                </a:custGeom>
                <a:noFill/>
                <a:ln w="19050">
                  <a:solidFill>
                    <a:srgbClr val="3A7BD5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085850" y="2362200"/>
                  <a:ext cx="571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76200">
                      <a:moveTo>
                        <a:pt x="9525" y="0"/>
                      </a:move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66675"/>
                      </a:lnTo>
                      <a:cubicBezTo>
                        <a:pt x="57150" y="71936"/>
                        <a:pt x="52886" y="76200"/>
                        <a:pt x="47625" y="76200"/>
                      </a:cubicBezTo>
                      <a:lnTo>
                        <a:pt x="9525" y="76200"/>
                      </a:lnTo>
                      <a:cubicBezTo>
                        <a:pt x="4264" y="76200"/>
                        <a:pt x="0" y="71936"/>
                        <a:pt x="0" y="66675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</a:path>
                  </a:pathLst>
                </a:custGeom>
                <a:noFill/>
                <a:ln w="19050">
                  <a:solidFill>
                    <a:srgbClr val="3A7BD5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085850" y="2286000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9525" y="0"/>
                      </a:move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28575"/>
                      </a:lnTo>
                      <a:cubicBezTo>
                        <a:pt x="57150" y="33836"/>
                        <a:pt x="52886" y="38100"/>
                        <a:pt x="47625" y="38100"/>
                      </a:cubicBezTo>
                      <a:lnTo>
                        <a:pt x="9525" y="38100"/>
                      </a:lnTo>
                      <a:cubicBezTo>
                        <a:pt x="4264" y="38100"/>
                        <a:pt x="0" y="33836"/>
                        <a:pt x="0" y="28575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</a:path>
                  </a:pathLst>
                </a:custGeom>
                <a:noFill/>
                <a:ln w="19050">
                  <a:solidFill>
                    <a:srgbClr val="3A7BD5"/>
                  </a:solidFill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1280160" y="2327910"/>
                <a:ext cx="9906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2E"/>
                    </a:solidFill>
                    <a:latin typeface="Arial"/>
                    <a:ea typeface="Microsoft YaHei"/>
                    <a:cs typeface="Arial"/>
                  </a:rPr>
                  <a:t>四层架构设计</a:t>
                </a:r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977108" y="2676525"/>
                <a:ext cx="17938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9383" h="171450">
                    <a:moveTo>
                      <a:pt x="89692" y="0"/>
                    </a:moveTo>
                    <a:cubicBezTo>
                      <a:pt x="111940" y="19684"/>
                      <a:pt x="140979" y="29933"/>
                      <a:pt x="170654" y="28575"/>
                    </a:cubicBezTo>
                    <a:cubicBezTo>
                      <a:pt x="179383" y="58269"/>
                      <a:pt x="175697" y="90235"/>
                      <a:pt x="160438" y="117163"/>
                    </a:cubicBezTo>
                    <a:cubicBezTo>
                      <a:pt x="145178" y="144091"/>
                      <a:pt x="119651" y="163679"/>
                      <a:pt x="89692" y="171450"/>
                    </a:cubicBezTo>
                    <a:cubicBezTo>
                      <a:pt x="59732" y="163679"/>
                      <a:pt x="34205" y="144091"/>
                      <a:pt x="18946" y="117163"/>
                    </a:cubicBezTo>
                    <a:cubicBezTo>
                      <a:pt x="3686" y="90235"/>
                      <a:pt x="0" y="58269"/>
                      <a:pt x="8729" y="28575"/>
                    </a:cubicBezTo>
                    <a:cubicBezTo>
                      <a:pt x="38405" y="29933"/>
                      <a:pt x="67443" y="19684"/>
                      <a:pt x="89692" y="0"/>
                    </a:cubicBezTo>
                  </a:path>
                </a:pathLst>
              </a:custGeom>
              <a:noFill/>
              <a:ln w="19050">
                <a:solidFill>
                  <a:srgbClr val="3A7BD5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80160" y="2727960"/>
                <a:ext cx="178269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2E"/>
                    </a:solidFill>
                    <a:latin typeface="Arial"/>
                    <a:ea typeface="Microsoft YaHei"/>
                    <a:cs typeface="Arial"/>
                  </a:rPr>
                  <a:t>TLV 协议与 FrameCodec</a:t>
                </a:r>
              </a:p>
            </p:txBody>
          </p:sp>
          <p:grpSp>
            <p:nvGrpSpPr>
              <p:cNvPr id="21" name="Group 21"/>
              <p:cNvGrpSpPr/>
              <p:nvPr/>
            </p:nvGrpSpPr>
            <p:grpSpPr>
              <a:xfrm>
                <a:off x="976894" y="3072394"/>
                <a:ext cx="179813" cy="179813"/>
                <a:chOff x="976894" y="3072394"/>
                <a:chExt cx="179813" cy="179813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976894" y="3072394"/>
                  <a:ext cx="179813" cy="179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813" h="179813">
                      <a:moveTo>
                        <a:pt x="73952" y="16726"/>
                      </a:moveTo>
                      <a:cubicBezTo>
                        <a:pt x="78010" y="0"/>
                        <a:pt x="101803" y="0"/>
                        <a:pt x="105861" y="16726"/>
                      </a:cubicBezTo>
                      <a:cubicBezTo>
                        <a:pt x="107096" y="21822"/>
                        <a:pt x="110690" y="26023"/>
                        <a:pt x="115535" y="28030"/>
                      </a:cubicBezTo>
                      <a:cubicBezTo>
                        <a:pt x="120380" y="30037"/>
                        <a:pt x="125891" y="29609"/>
                        <a:pt x="130369" y="26880"/>
                      </a:cubicBezTo>
                      <a:cubicBezTo>
                        <a:pt x="145066" y="17926"/>
                        <a:pt x="161896" y="34747"/>
                        <a:pt x="152943" y="49454"/>
                      </a:cubicBezTo>
                      <a:cubicBezTo>
                        <a:pt x="150217" y="53929"/>
                        <a:pt x="149791" y="59437"/>
                        <a:pt x="151795" y="64278"/>
                      </a:cubicBezTo>
                      <a:cubicBezTo>
                        <a:pt x="153800" y="69120"/>
                        <a:pt x="157995" y="72714"/>
                        <a:pt x="163087" y="73952"/>
                      </a:cubicBezTo>
                      <a:cubicBezTo>
                        <a:pt x="179813" y="78010"/>
                        <a:pt x="179813" y="101803"/>
                        <a:pt x="163087" y="105861"/>
                      </a:cubicBezTo>
                      <a:cubicBezTo>
                        <a:pt x="157991" y="107096"/>
                        <a:pt x="153790" y="110690"/>
                        <a:pt x="151783" y="115535"/>
                      </a:cubicBezTo>
                      <a:cubicBezTo>
                        <a:pt x="149776" y="120380"/>
                        <a:pt x="150204" y="125891"/>
                        <a:pt x="152933" y="130369"/>
                      </a:cubicBezTo>
                      <a:cubicBezTo>
                        <a:pt x="161887" y="145066"/>
                        <a:pt x="145066" y="161896"/>
                        <a:pt x="130359" y="152943"/>
                      </a:cubicBezTo>
                      <a:cubicBezTo>
                        <a:pt x="125884" y="150217"/>
                        <a:pt x="120376" y="149791"/>
                        <a:pt x="115535" y="151795"/>
                      </a:cubicBezTo>
                      <a:cubicBezTo>
                        <a:pt x="110693" y="153800"/>
                        <a:pt x="107099" y="157995"/>
                        <a:pt x="105861" y="163087"/>
                      </a:cubicBezTo>
                      <a:cubicBezTo>
                        <a:pt x="101803" y="179813"/>
                        <a:pt x="78010" y="179813"/>
                        <a:pt x="73952" y="163087"/>
                      </a:cubicBezTo>
                      <a:cubicBezTo>
                        <a:pt x="72717" y="157991"/>
                        <a:pt x="69123" y="153790"/>
                        <a:pt x="64278" y="151783"/>
                      </a:cubicBezTo>
                      <a:cubicBezTo>
                        <a:pt x="59433" y="149776"/>
                        <a:pt x="53922" y="150204"/>
                        <a:pt x="49444" y="152933"/>
                      </a:cubicBezTo>
                      <a:cubicBezTo>
                        <a:pt x="34747" y="161887"/>
                        <a:pt x="17917" y="145066"/>
                        <a:pt x="26870" y="130359"/>
                      </a:cubicBezTo>
                      <a:cubicBezTo>
                        <a:pt x="29596" y="125884"/>
                        <a:pt x="30022" y="120376"/>
                        <a:pt x="28018" y="115535"/>
                      </a:cubicBezTo>
                      <a:cubicBezTo>
                        <a:pt x="26013" y="110693"/>
                        <a:pt x="21818" y="107099"/>
                        <a:pt x="16726" y="105861"/>
                      </a:cubicBezTo>
                      <a:cubicBezTo>
                        <a:pt x="0" y="101803"/>
                        <a:pt x="0" y="78010"/>
                        <a:pt x="16726" y="73952"/>
                      </a:cubicBezTo>
                      <a:cubicBezTo>
                        <a:pt x="21822" y="72717"/>
                        <a:pt x="26023" y="69123"/>
                        <a:pt x="28030" y="64278"/>
                      </a:cubicBezTo>
                      <a:cubicBezTo>
                        <a:pt x="30037" y="59433"/>
                        <a:pt x="29609" y="53922"/>
                        <a:pt x="26880" y="49444"/>
                      </a:cubicBezTo>
                      <a:cubicBezTo>
                        <a:pt x="17926" y="34747"/>
                        <a:pt x="34747" y="17917"/>
                        <a:pt x="49454" y="26870"/>
                      </a:cubicBezTo>
                      <a:cubicBezTo>
                        <a:pt x="58979" y="32661"/>
                        <a:pt x="71323" y="27537"/>
                        <a:pt x="73952" y="16726"/>
                      </a:cubicBezTo>
                    </a:path>
                  </a:pathLst>
                </a:custGeom>
                <a:noFill/>
                <a:ln w="19050">
                  <a:solidFill>
                    <a:srgbClr val="3A7BD5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1038225" y="313372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3A7BD5"/>
                  </a:solidFill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1280160" y="3128010"/>
                <a:ext cx="16706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2E"/>
                    </a:solidFill>
                    <a:latin typeface="Arial"/>
                    <a:ea typeface="Microsoft YaHei"/>
                    <a:cs typeface="Arial"/>
                  </a:rPr>
                  <a:t>CMake 构建与打包部署</a:t>
                </a:r>
              </a:p>
            </p:txBody>
          </p:sp>
          <p:grpSp>
            <p:nvGrpSpPr>
              <p:cNvPr id="26" name="Group 26"/>
              <p:cNvGrpSpPr/>
              <p:nvPr/>
            </p:nvGrpSpPr>
            <p:grpSpPr>
              <a:xfrm>
                <a:off x="990600" y="3486150"/>
                <a:ext cx="152400" cy="161925"/>
                <a:chOff x="990600" y="3486150"/>
                <a:chExt cx="152400" cy="161925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990600" y="3609975"/>
                  <a:ext cx="1524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38100">
                      <a:moveTo>
                        <a:pt x="0" y="0"/>
                      </a:moveTo>
                      <a:lnTo>
                        <a:pt x="0" y="19050"/>
                      </a:lnTo>
                      <a:cubicBezTo>
                        <a:pt x="0" y="29571"/>
                        <a:pt x="8529" y="38100"/>
                        <a:pt x="19050" y="38100"/>
                      </a:cubicBezTo>
                      <a:lnTo>
                        <a:pt x="133350" y="38100"/>
                      </a:lnTo>
                      <a:cubicBezTo>
                        <a:pt x="143871" y="38100"/>
                        <a:pt x="152400" y="29571"/>
                        <a:pt x="152400" y="19050"/>
                      </a:cubicBez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3A7BD5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1019175" y="3486150"/>
                  <a:ext cx="9525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47625">
                      <a:moveTo>
                        <a:pt x="0" y="47625"/>
                      </a:moveTo>
                      <a:lnTo>
                        <a:pt x="47625" y="0"/>
                      </a:lnTo>
                      <a:lnTo>
                        <a:pt x="95250" y="47625"/>
                      </a:lnTo>
                    </a:path>
                  </a:pathLst>
                </a:custGeom>
                <a:noFill/>
                <a:ln w="19050">
                  <a:solidFill>
                    <a:srgbClr val="3A7BD5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1066800" y="3486150"/>
                  <a:ext cx="952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14300">
                      <a:moveTo>
                        <a:pt x="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19050">
                  <a:solidFill>
                    <a:srgbClr val="3A7BD5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1280160" y="3528060"/>
                <a:ext cx="14706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2E"/>
                    </a:solidFill>
                    <a:latin typeface="Arial"/>
                    <a:ea typeface="Microsoft YaHei"/>
                    <a:cs typeface="Arial"/>
                  </a:rPr>
                  <a:t>阶段验收与版本管理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4381500" y="1143000"/>
              <a:ext cx="3429000" cy="2667000"/>
              <a:chOff x="4381500" y="1143000"/>
              <a:chExt cx="3429000" cy="26670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4381500" y="1143000"/>
                <a:ext cx="3429000" cy="2667000"/>
              </a:xfrm>
              <a:prstGeom prst="roundRect">
                <a:avLst>
                  <a:gd name="adj" fmla="val 4286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5695093" y="1424940"/>
                <a:ext cx="801815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10B981"/>
                    </a:solidFill>
                    <a:latin typeface="Arial"/>
                    <a:ea typeface="Microsoft YaHei"/>
                    <a:cs typeface="Arial"/>
                  </a:rPr>
                  <a:t>冯春霖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116544" y="1772602"/>
                <a:ext cx="195891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网络传输 / Worker / 聊天连接</a:t>
                </a:r>
              </a:p>
            </p:txBody>
          </p:sp>
          <p:sp>
            <p:nvSpPr>
              <p:cNvPr id="32" name="Line 32"/>
              <p:cNvSpPr/>
              <p:nvPr/>
            </p:nvSpPr>
            <p:spPr>
              <a:xfrm>
                <a:off x="4762500" y="2057400"/>
                <a:ext cx="266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67000" h="9525">
                    <a:moveTo>
                      <a:pt x="0" y="0"/>
                    </a:moveTo>
                    <a:lnTo>
                      <a:pt x="2667000" y="0"/>
                    </a:lnTo>
                  </a:path>
                </a:pathLst>
              </a:custGeom>
              <a:noFill/>
              <a:ln w="9525">
                <a:solidFill>
                  <a:srgbClr val="E5E7EB"/>
                </a:solidFill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4791075" y="2305050"/>
                <a:ext cx="171450" cy="114300"/>
                <a:chOff x="4791075" y="2305050"/>
                <a:chExt cx="171450" cy="114300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4829175" y="2305050"/>
                  <a:ext cx="1333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38100">
                      <a:moveTo>
                        <a:pt x="0" y="38100"/>
                      </a:moveTo>
                      <a:lnTo>
                        <a:pt x="133350" y="38100"/>
                      </a:ln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rgbClr val="10B981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4791075" y="2381250"/>
                  <a:ext cx="1333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38100">
                      <a:moveTo>
                        <a:pt x="133350" y="0"/>
                      </a:moveTo>
                      <a:lnTo>
                        <a:pt x="0" y="0"/>
                      </a:lnTo>
                      <a:lnTo>
                        <a:pt x="38100" y="38100"/>
                      </a:lnTo>
                    </a:path>
                  </a:pathLst>
                </a:custGeom>
                <a:noFill/>
                <a:ln w="19050">
                  <a:solidFill>
                    <a:srgbClr val="10B981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5090160" y="2327910"/>
                <a:ext cx="168668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2E"/>
                    </a:solidFill>
                    <a:latin typeface="Arial"/>
                    <a:ea typeface="Microsoft YaHei"/>
                    <a:cs typeface="Arial"/>
                  </a:rPr>
                  <a:t>文件发送/接收 Worker</a:t>
                </a:r>
              </a:p>
            </p:txBody>
          </p:sp>
          <p:grpSp>
            <p:nvGrpSpPr>
              <p:cNvPr id="40" name="Group 40"/>
              <p:cNvGrpSpPr/>
              <p:nvPr/>
            </p:nvGrpSpPr>
            <p:grpSpPr>
              <a:xfrm>
                <a:off x="4791075" y="2686050"/>
                <a:ext cx="171450" cy="161925"/>
                <a:chOff x="4791075" y="2686050"/>
                <a:chExt cx="171450" cy="161925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4838700" y="2733675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10B981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4838700" y="2771775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10B981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4791075" y="2686050"/>
                  <a:ext cx="171450" cy="16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61925">
                      <a:moveTo>
                        <a:pt x="57150" y="133350"/>
                      </a:moveTo>
                      <a:lnTo>
                        <a:pt x="28575" y="133350"/>
                      </a:lnTo>
                      <a:cubicBezTo>
                        <a:pt x="12793" y="133350"/>
                        <a:pt x="0" y="120557"/>
                        <a:pt x="0" y="1047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42875" y="0"/>
                      </a:lnTo>
                      <a:cubicBezTo>
                        <a:pt x="158657" y="0"/>
                        <a:pt x="171450" y="12793"/>
                        <a:pt x="171450" y="28575"/>
                      </a:cubicBezTo>
                      <a:lnTo>
                        <a:pt x="171450" y="104775"/>
                      </a:lnTo>
                      <a:cubicBezTo>
                        <a:pt x="171450" y="120557"/>
                        <a:pt x="158657" y="133350"/>
                        <a:pt x="142875" y="133350"/>
                      </a:cubicBezTo>
                      <a:lnTo>
                        <a:pt x="114300" y="133350"/>
                      </a:lnTo>
                      <a:lnTo>
                        <a:pt x="85725" y="161925"/>
                      </a:lnTo>
                      <a:lnTo>
                        <a:pt x="57150" y="133350"/>
                      </a:lnTo>
                    </a:path>
                  </a:pathLst>
                </a:custGeom>
                <a:noFill/>
                <a:ln w="19050">
                  <a:solidFill>
                    <a:srgbClr val="10B981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5090160" y="2727960"/>
                <a:ext cx="14706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2E"/>
                    </a:solidFill>
                    <a:latin typeface="Arial"/>
                    <a:ea typeface="Microsoft YaHei"/>
                    <a:cs typeface="Arial"/>
                  </a:rPr>
                  <a:t>聊天连接与消息收发</a:t>
                </a:r>
              </a:p>
            </p:txBody>
          </p:sp>
          <p:grpSp>
            <p:nvGrpSpPr>
              <p:cNvPr id="46" name="Group 46"/>
              <p:cNvGrpSpPr/>
              <p:nvPr/>
            </p:nvGrpSpPr>
            <p:grpSpPr>
              <a:xfrm>
                <a:off x="4791075" y="3086100"/>
                <a:ext cx="171450" cy="152400"/>
                <a:chOff x="4791075" y="3086100"/>
                <a:chExt cx="171450" cy="152400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4791075" y="3086100"/>
                  <a:ext cx="1714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76200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42875" y="0"/>
                      </a:lnTo>
                      <a:cubicBezTo>
                        <a:pt x="158657" y="0"/>
                        <a:pt x="171450" y="12793"/>
                        <a:pt x="171450" y="28575"/>
                      </a:cubicBezTo>
                      <a:lnTo>
                        <a:pt x="171450" y="47625"/>
                      </a:lnTo>
                      <a:cubicBezTo>
                        <a:pt x="171450" y="63407"/>
                        <a:pt x="158657" y="76200"/>
                        <a:pt x="142875" y="76200"/>
                      </a:cubicBezTo>
                      <a:lnTo>
                        <a:pt x="28575" y="76200"/>
                      </a:lnTo>
                      <a:cubicBezTo>
                        <a:pt x="12793" y="76200"/>
                        <a:pt x="0" y="63407"/>
                        <a:pt x="0" y="47625"/>
                      </a:cubicBezTo>
                    </a:path>
                  </a:pathLst>
                </a:custGeom>
                <a:noFill/>
                <a:ln w="19050">
                  <a:solidFill>
                    <a:srgbClr val="10B981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4791075" y="3162300"/>
                  <a:ext cx="1714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76200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42875" y="0"/>
                      </a:lnTo>
                      <a:cubicBezTo>
                        <a:pt x="158657" y="0"/>
                        <a:pt x="171450" y="12793"/>
                        <a:pt x="171450" y="28575"/>
                      </a:cubicBezTo>
                      <a:lnTo>
                        <a:pt x="171450" y="47625"/>
                      </a:lnTo>
                      <a:cubicBezTo>
                        <a:pt x="171450" y="63407"/>
                        <a:pt x="158657" y="76200"/>
                        <a:pt x="142875" y="76200"/>
                      </a:cubicBezTo>
                      <a:lnTo>
                        <a:pt x="28575" y="76200"/>
                      </a:lnTo>
                      <a:cubicBezTo>
                        <a:pt x="12793" y="76200"/>
                        <a:pt x="0" y="63407"/>
                        <a:pt x="0" y="47625"/>
                      </a:cubicBezTo>
                      <a:lnTo>
                        <a:pt x="0" y="28575"/>
                      </a:lnTo>
                    </a:path>
                  </a:pathLst>
                </a:custGeom>
                <a:noFill/>
                <a:ln w="19050">
                  <a:solidFill>
                    <a:srgbClr val="10B981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4829175" y="31242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0B981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4829175" y="32004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0B981"/>
                  </a:solidFill>
                </a:ln>
              </p:spPr>
            </p:sp>
          </p:grpSp>
          <p:sp>
            <p:nvSpPr>
              <p:cNvPr id="47" name="TextBox 47"/>
              <p:cNvSpPr txBox="1"/>
              <p:nvPr/>
            </p:nvSpPr>
            <p:spPr>
              <a:xfrm>
                <a:off x="5090160" y="3128010"/>
                <a:ext cx="151066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2E"/>
                    </a:solidFill>
                    <a:latin typeface="Arial"/>
                    <a:ea typeface="Microsoft YaHei"/>
                    <a:cs typeface="Arial"/>
                  </a:rPr>
                  <a:t>P2pServer 首帧分流</a:t>
                </a:r>
              </a:p>
            </p:txBody>
          </p:sp>
          <p:grpSp>
            <p:nvGrpSpPr>
              <p:cNvPr id="58" name="Group 58"/>
              <p:cNvGrpSpPr/>
              <p:nvPr/>
            </p:nvGrpSpPr>
            <p:grpSpPr>
              <a:xfrm>
                <a:off x="4791075" y="3476625"/>
                <a:ext cx="171450" cy="171450"/>
                <a:chOff x="4791075" y="3476625"/>
                <a:chExt cx="171450" cy="171450"/>
              </a:xfrm>
            </p:grpSpPr>
            <p:sp>
              <p:nvSpPr>
                <p:cNvPr id="48" name="Freeform 48"/>
                <p:cNvSpPr/>
                <p:nvPr/>
              </p:nvSpPr>
              <p:spPr>
                <a:xfrm>
                  <a:off x="4810125" y="3495675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9525"/>
                      </a:moveTo>
                      <a:cubicBezTo>
                        <a:pt x="0" y="4264"/>
                        <a:pt x="4264" y="0"/>
                        <a:pt x="9525" y="0"/>
                      </a:cubicBezTo>
                      <a:lnTo>
                        <a:pt x="123825" y="0"/>
                      </a:lnTo>
                      <a:cubicBezTo>
                        <a:pt x="129086" y="0"/>
                        <a:pt x="133350" y="4264"/>
                        <a:pt x="133350" y="9525"/>
                      </a:cubicBezTo>
                      <a:lnTo>
                        <a:pt x="133350" y="123825"/>
                      </a:lnTo>
                      <a:cubicBezTo>
                        <a:pt x="133350" y="129086"/>
                        <a:pt x="129086" y="133350"/>
                        <a:pt x="123825" y="133350"/>
                      </a:cubicBezTo>
                      <a:lnTo>
                        <a:pt x="9525" y="133350"/>
                      </a:lnTo>
                      <a:cubicBezTo>
                        <a:pt x="4264" y="133350"/>
                        <a:pt x="0" y="129086"/>
                        <a:pt x="0" y="123825"/>
                      </a:cubicBezTo>
                      <a:lnTo>
                        <a:pt x="0" y="9525"/>
                      </a:lnTo>
                    </a:path>
                  </a:pathLst>
                </a:custGeom>
                <a:noFill/>
                <a:ln w="19050">
                  <a:solidFill>
                    <a:srgbClr val="10B981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4848225" y="353377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0"/>
                      </a:moveTo>
                      <a:lnTo>
                        <a:pt x="57150" y="0"/>
                      </a:lnTo>
                      <a:lnTo>
                        <a:pt x="57150" y="57150"/>
                      </a:lnTo>
                      <a:lnTo>
                        <a:pt x="0" y="5715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10B981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4791075" y="3543300"/>
                  <a:ext cx="190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9525">
                      <a:moveTo>
                        <a:pt x="0" y="0"/>
                      </a:moveTo>
                      <a:lnTo>
                        <a:pt x="19050" y="0"/>
                      </a:lnTo>
                    </a:path>
                  </a:pathLst>
                </a:custGeom>
                <a:noFill/>
                <a:ln w="19050">
                  <a:solidFill>
                    <a:srgbClr val="10B981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4791075" y="3581400"/>
                  <a:ext cx="190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9525">
                      <a:moveTo>
                        <a:pt x="0" y="0"/>
                      </a:moveTo>
                      <a:lnTo>
                        <a:pt x="19050" y="0"/>
                      </a:lnTo>
                    </a:path>
                  </a:pathLst>
                </a:custGeom>
                <a:noFill/>
                <a:ln w="19050">
                  <a:solidFill>
                    <a:srgbClr val="10B981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4857750" y="3476625"/>
                  <a:ext cx="9525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050">
                      <a:moveTo>
                        <a:pt x="0" y="0"/>
                      </a:move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0B981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4895850" y="3476625"/>
                  <a:ext cx="9525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050">
                      <a:moveTo>
                        <a:pt x="0" y="0"/>
                      </a:move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0B981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4943475" y="3543300"/>
                  <a:ext cx="190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9525">
                      <a:moveTo>
                        <a:pt x="19050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10B981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4943475" y="3581400"/>
                  <a:ext cx="190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9525">
                      <a:moveTo>
                        <a:pt x="19050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10B981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4895850" y="3629025"/>
                  <a:ext cx="9525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050">
                      <a:moveTo>
                        <a:pt x="0" y="1905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10B981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4857750" y="3629025"/>
                  <a:ext cx="9525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050">
                      <a:moveTo>
                        <a:pt x="0" y="1905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10B981"/>
                  </a:solidFill>
                </a:ln>
              </p:spPr>
            </p:sp>
          </p:grpSp>
          <p:sp>
            <p:nvSpPr>
              <p:cNvPr id="59" name="TextBox 59"/>
              <p:cNvSpPr txBox="1"/>
              <p:nvPr/>
            </p:nvSpPr>
            <p:spPr>
              <a:xfrm>
                <a:off x="5090160" y="3528060"/>
                <a:ext cx="14706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2E"/>
                    </a:solidFill>
                    <a:latin typeface="Arial"/>
                    <a:ea typeface="Microsoft YaHei"/>
                    <a:cs typeface="Arial"/>
                  </a:rPr>
                  <a:t>性能调优与线程管理</a:t>
                </a: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>
              <a:off x="8191500" y="1143000"/>
              <a:ext cx="3429000" cy="2667000"/>
              <a:chOff x="8191500" y="1143000"/>
              <a:chExt cx="3429000" cy="266700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8191500" y="1143000"/>
                <a:ext cx="3429000" cy="2667000"/>
              </a:xfrm>
              <a:prstGeom prst="roundRect">
                <a:avLst>
                  <a:gd name="adj" fmla="val 4286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9505093" y="1424940"/>
                <a:ext cx="801815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8B5CF6"/>
                    </a:solidFill>
                    <a:latin typeface="Arial"/>
                    <a:ea typeface="Microsoft YaHei"/>
                    <a:cs typeface="Arial"/>
                  </a:rPr>
                  <a:t>杜若贤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9066562" y="1772602"/>
                <a:ext cx="167887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QML 界面 / UI 组件 / 测试</a:t>
                </a:r>
              </a:p>
            </p:txBody>
          </p:sp>
          <p:sp>
            <p:nvSpPr>
              <p:cNvPr id="64" name="Line 64"/>
              <p:cNvSpPr/>
              <p:nvPr/>
            </p:nvSpPr>
            <p:spPr>
              <a:xfrm>
                <a:off x="8572500" y="2057400"/>
                <a:ext cx="266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67000" h="9525">
                    <a:moveTo>
                      <a:pt x="0" y="0"/>
                    </a:moveTo>
                    <a:lnTo>
                      <a:pt x="2667000" y="0"/>
                    </a:lnTo>
                  </a:path>
                </a:pathLst>
              </a:custGeom>
              <a:noFill/>
              <a:ln w="9525">
                <a:solidFill>
                  <a:srgbClr val="E5E7EB"/>
                </a:solidFill>
              </a:ln>
            </p:spPr>
          </p:sp>
          <p:grpSp>
            <p:nvGrpSpPr>
              <p:cNvPr id="69" name="Group 69"/>
              <p:cNvGrpSpPr/>
              <p:nvPr/>
            </p:nvGrpSpPr>
            <p:grpSpPr>
              <a:xfrm>
                <a:off x="8601075" y="2286000"/>
                <a:ext cx="171450" cy="161925"/>
                <a:chOff x="8601075" y="2286000"/>
                <a:chExt cx="171450" cy="161925"/>
              </a:xfrm>
            </p:grpSpPr>
            <p:sp>
              <p:nvSpPr>
                <p:cNvPr id="65" name="Freeform 65"/>
                <p:cNvSpPr/>
                <p:nvPr/>
              </p:nvSpPr>
              <p:spPr>
                <a:xfrm>
                  <a:off x="8601075" y="2286000"/>
                  <a:ext cx="17145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14300">
                      <a:moveTo>
                        <a:pt x="0" y="9525"/>
                      </a:moveTo>
                      <a:cubicBezTo>
                        <a:pt x="0" y="4264"/>
                        <a:pt x="4264" y="0"/>
                        <a:pt x="9525" y="0"/>
                      </a:cubicBezTo>
                      <a:lnTo>
                        <a:pt x="161925" y="0"/>
                      </a:lnTo>
                      <a:cubicBezTo>
                        <a:pt x="167186" y="0"/>
                        <a:pt x="171450" y="4264"/>
                        <a:pt x="171450" y="9525"/>
                      </a:cubicBezTo>
                      <a:lnTo>
                        <a:pt x="171450" y="104775"/>
                      </a:lnTo>
                      <a:cubicBezTo>
                        <a:pt x="171450" y="110036"/>
                        <a:pt x="167186" y="114300"/>
                        <a:pt x="161925" y="114300"/>
                      </a:cubicBezTo>
                      <a:lnTo>
                        <a:pt x="9525" y="114300"/>
                      </a:lnTo>
                      <a:cubicBezTo>
                        <a:pt x="4264" y="114300"/>
                        <a:pt x="0" y="110036"/>
                        <a:pt x="0" y="104775"/>
                      </a:cubicBezTo>
                      <a:lnTo>
                        <a:pt x="0" y="9525"/>
                      </a:lnTo>
                    </a:path>
                  </a:pathLst>
                </a:custGeom>
                <a:noFill/>
                <a:ln w="19050">
                  <a:solidFill>
                    <a:srgbClr val="8B5CF6"/>
                  </a:solidFill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8639175" y="2438400"/>
                  <a:ext cx="95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">
                      <a:moveTo>
                        <a:pt x="0" y="0"/>
                      </a:move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rgbClr val="8B5CF6"/>
                  </a:solidFill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8658225" y="2400300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8B5CF6"/>
                  </a:solidFill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8715375" y="2400300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8B5CF6"/>
                  </a:solidFill>
                </a:ln>
              </p:spPr>
            </p:sp>
          </p:grpSp>
          <p:sp>
            <p:nvSpPr>
              <p:cNvPr id="70" name="TextBox 70"/>
              <p:cNvSpPr txBox="1"/>
              <p:nvPr/>
            </p:nvSpPr>
            <p:spPr>
              <a:xfrm>
                <a:off x="8900160" y="2327910"/>
                <a:ext cx="152666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2E"/>
                    </a:solidFill>
                    <a:latin typeface="Arial"/>
                    <a:ea typeface="Microsoft YaHei"/>
                    <a:cs typeface="Arial"/>
                  </a:rPr>
                  <a:t>QML 界面与组件开发</a:t>
                </a:r>
              </a:p>
            </p:txBody>
          </p:sp>
          <p:grpSp>
            <p:nvGrpSpPr>
              <p:cNvPr id="73" name="Group 73"/>
              <p:cNvGrpSpPr/>
              <p:nvPr/>
            </p:nvGrpSpPr>
            <p:grpSpPr>
              <a:xfrm>
                <a:off x="8601075" y="2705100"/>
                <a:ext cx="171450" cy="133350"/>
                <a:chOff x="8601075" y="2705100"/>
                <a:chExt cx="171450" cy="133350"/>
              </a:xfrm>
            </p:grpSpPr>
            <p:sp>
              <p:nvSpPr>
                <p:cNvPr id="71" name="Freeform 71"/>
                <p:cNvSpPr/>
                <p:nvPr/>
              </p:nvSpPr>
              <p:spPr>
                <a:xfrm>
                  <a:off x="8601075" y="2828925"/>
                  <a:ext cx="171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">
                      <a:moveTo>
                        <a:pt x="0" y="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19050">
                  <a:solidFill>
                    <a:srgbClr val="8B5CF6"/>
                  </a:solidFill>
                </a:ln>
              </p:spPr>
            </p:sp>
            <p:sp>
              <p:nvSpPr>
                <p:cNvPr id="72" name="Freeform 72"/>
                <p:cNvSpPr/>
                <p:nvPr/>
              </p:nvSpPr>
              <p:spPr>
                <a:xfrm>
                  <a:off x="8620125" y="2705100"/>
                  <a:ext cx="1333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95250">
                      <a:moveTo>
                        <a:pt x="0" y="9525"/>
                      </a:moveTo>
                      <a:cubicBezTo>
                        <a:pt x="0" y="4264"/>
                        <a:pt x="4264" y="0"/>
                        <a:pt x="9525" y="0"/>
                      </a:cubicBezTo>
                      <a:lnTo>
                        <a:pt x="123825" y="0"/>
                      </a:lnTo>
                      <a:cubicBezTo>
                        <a:pt x="129086" y="0"/>
                        <a:pt x="133350" y="4264"/>
                        <a:pt x="133350" y="9525"/>
                      </a:cubicBezTo>
                      <a:lnTo>
                        <a:pt x="133350" y="85725"/>
                      </a:lnTo>
                      <a:cubicBezTo>
                        <a:pt x="133350" y="90986"/>
                        <a:pt x="129086" y="95250"/>
                        <a:pt x="123825" y="95250"/>
                      </a:cubicBezTo>
                      <a:lnTo>
                        <a:pt x="9525" y="95250"/>
                      </a:lnTo>
                      <a:cubicBezTo>
                        <a:pt x="4264" y="95250"/>
                        <a:pt x="0" y="90986"/>
                        <a:pt x="0" y="85725"/>
                      </a:cubicBezTo>
                      <a:lnTo>
                        <a:pt x="0" y="9525"/>
                      </a:lnTo>
                    </a:path>
                  </a:pathLst>
                </a:custGeom>
                <a:noFill/>
                <a:ln w="19050">
                  <a:solidFill>
                    <a:srgbClr val="8B5CF6"/>
                  </a:solidFill>
                </a:ln>
              </p:spPr>
            </p:sp>
          </p:grpSp>
          <p:sp>
            <p:nvSpPr>
              <p:cNvPr id="74" name="TextBox 74"/>
              <p:cNvSpPr txBox="1"/>
              <p:nvPr/>
            </p:nvSpPr>
            <p:spPr>
              <a:xfrm>
                <a:off x="8900160" y="2727960"/>
                <a:ext cx="13346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2E"/>
                    </a:solidFill>
                    <a:latin typeface="Arial"/>
                    <a:ea typeface="Microsoft YaHei"/>
                    <a:cs typeface="Arial"/>
                  </a:rPr>
                  <a:t>UI 样式与交互优化</a:t>
                </a:r>
              </a:p>
            </p:txBody>
          </p:sp>
          <p:grpSp>
            <p:nvGrpSpPr>
              <p:cNvPr id="77" name="Group 77"/>
              <p:cNvGrpSpPr/>
              <p:nvPr/>
            </p:nvGrpSpPr>
            <p:grpSpPr>
              <a:xfrm>
                <a:off x="8601075" y="3076575"/>
                <a:ext cx="171450" cy="171450"/>
                <a:chOff x="8601075" y="3076575"/>
                <a:chExt cx="171450" cy="171450"/>
              </a:xfrm>
            </p:grpSpPr>
            <p:sp>
              <p:nvSpPr>
                <p:cNvPr id="75" name="Freeform 75"/>
                <p:cNvSpPr/>
                <p:nvPr/>
              </p:nvSpPr>
              <p:spPr>
                <a:xfrm>
                  <a:off x="8601075" y="307657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8B5CF6"/>
                  </a:solidFill>
                </a:ln>
              </p:spPr>
            </p:sp>
            <p:sp>
              <p:nvSpPr>
                <p:cNvPr id="76" name="Freeform 76"/>
                <p:cNvSpPr/>
                <p:nvPr/>
              </p:nvSpPr>
              <p:spPr>
                <a:xfrm>
                  <a:off x="8658225" y="3143250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0" y="19050"/>
                      </a:moveTo>
                      <a:lnTo>
                        <a:pt x="19050" y="38100"/>
                      </a:ln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8B5CF6"/>
                  </a:solidFill>
                </a:ln>
              </p:spPr>
            </p:sp>
          </p:grpSp>
          <p:sp>
            <p:nvSpPr>
              <p:cNvPr id="78" name="TextBox 78"/>
              <p:cNvSpPr txBox="1"/>
              <p:nvPr/>
            </p:nvSpPr>
            <p:spPr>
              <a:xfrm>
                <a:off x="8900160" y="3128010"/>
                <a:ext cx="14706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2E"/>
                    </a:solidFill>
                    <a:latin typeface="Arial"/>
                    <a:ea typeface="Microsoft YaHei"/>
                    <a:cs typeface="Arial"/>
                  </a:rPr>
                  <a:t>测试用例与质量保障</a:t>
                </a:r>
              </a:p>
            </p:txBody>
          </p:sp>
          <p:sp>
            <p:nvSpPr>
              <p:cNvPr id="79" name="Freeform 79"/>
              <p:cNvSpPr/>
              <p:nvPr/>
            </p:nvSpPr>
            <p:spPr>
              <a:xfrm>
                <a:off x="8601075" y="3486150"/>
                <a:ext cx="1714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42875">
                    <a:moveTo>
                      <a:pt x="19050" y="0"/>
                    </a:moveTo>
                    <a:lnTo>
                      <a:pt x="57150" y="0"/>
                    </a:lnTo>
                    <a:lnTo>
                      <a:pt x="85725" y="28575"/>
                    </a:lnTo>
                    <a:lnTo>
                      <a:pt x="152400" y="28575"/>
                    </a:lnTo>
                    <a:cubicBezTo>
                      <a:pt x="162921" y="28575"/>
                      <a:pt x="171450" y="37104"/>
                      <a:pt x="171450" y="47625"/>
                    </a:cubicBezTo>
                    <a:lnTo>
                      <a:pt x="171450" y="123825"/>
                    </a:lnTo>
                    <a:cubicBezTo>
                      <a:pt x="171450" y="134346"/>
                      <a:pt x="162921" y="142875"/>
                      <a:pt x="152400" y="142875"/>
                    </a:cubicBezTo>
                    <a:lnTo>
                      <a:pt x="19050" y="142875"/>
                    </a:lnTo>
                    <a:cubicBezTo>
                      <a:pt x="8529" y="142875"/>
                      <a:pt x="0" y="134346"/>
                      <a:pt x="0" y="123825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</a:path>
                </a:pathLst>
              </a:custGeom>
              <a:noFill/>
              <a:ln w="19050">
                <a:solidFill>
                  <a:srgbClr val="8B5CF6"/>
                </a:solidFill>
              </a:ln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8900160" y="3528060"/>
                <a:ext cx="106260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A1A2E"/>
                    </a:solidFill>
                    <a:latin typeface="Arial"/>
                    <a:ea typeface="Microsoft YaHei"/>
                    <a:cs typeface="Arial"/>
                  </a:rPr>
                  <a:t>文档与 UML 图</a:t>
                </a:r>
              </a:p>
            </p:txBody>
          </p:sp>
        </p:grpSp>
      </p:grpSp>
      <p:grpSp>
        <p:nvGrpSpPr>
          <p:cNvPr id="89" name="Group 89"/>
          <p:cNvGrpSpPr/>
          <p:nvPr/>
        </p:nvGrpSpPr>
        <p:grpSpPr>
          <a:xfrm>
            <a:off x="571500" y="4191000"/>
            <a:ext cx="11049000" cy="1905000"/>
            <a:chOff x="571500" y="4191000"/>
            <a:chExt cx="11049000" cy="1905000"/>
          </a:xfrm>
        </p:grpSpPr>
        <p:sp>
          <p:nvSpPr>
            <p:cNvPr id="83" name="Rectangle 83"/>
            <p:cNvSpPr/>
            <p:nvPr/>
          </p:nvSpPr>
          <p:spPr>
            <a:xfrm>
              <a:off x="571500" y="4191000"/>
              <a:ext cx="11049000" cy="1905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931545" y="43938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项目总结</a:t>
              </a:r>
            </a:p>
          </p:txBody>
        </p:sp>
        <p:sp>
          <p:nvSpPr>
            <p:cNvPr id="85" name="Line 85"/>
            <p:cNvSpPr/>
            <p:nvPr/>
          </p:nvSpPr>
          <p:spPr>
            <a:xfrm>
              <a:off x="952500" y="47244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rgbClr val="3A7BD5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935355" y="4921568"/>
              <a:ext cx="434582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完成局域网发现、P2P 文件传输、在线聊天和本地历史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35355" y="5245418"/>
              <a:ext cx="30856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最终版本支持 AppImage 和压缩包交付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35355" y="5569268"/>
              <a:ext cx="38147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后续可扩展账号登录、服务端漫游和跨网段协作</a:t>
              </a:r>
            </a:p>
          </p:txBody>
        </p:sp>
      </p:grpSp>
      <p:sp>
        <p:nvSpPr>
          <p:cNvPr id="90" name="TextBox 90"/>
          <p:cNvSpPr txBox="1"/>
          <p:nvPr/>
        </p:nvSpPr>
        <p:spPr>
          <a:xfrm>
            <a:off x="11207020" y="65703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15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8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3A7BD5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291465"/>
            <a:ext cx="2785205" cy="722947"/>
            <a:chOff x="571500" y="291465"/>
            <a:chExt cx="2785205" cy="722947"/>
          </a:xfrm>
        </p:grpSpPr>
        <p:sp>
          <p:nvSpPr>
            <p:cNvPr id="4" name="Rectangle 4"/>
            <p:cNvSpPr/>
            <p:nvPr/>
          </p:nvSpPr>
          <p:spPr>
            <a:xfrm>
              <a:off x="571500" y="3810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rgbClr val="3A7BD5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39140" y="291465"/>
              <a:ext cx="1932051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A1A2E"/>
                  </a:solidFill>
                  <a:latin typeface="Arial"/>
                  <a:ea typeface="Microsoft YaHei"/>
                  <a:cs typeface="Arial"/>
                </a:rPr>
                <a:t>代码结构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7715" y="801052"/>
              <a:ext cx="25889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APPENDIX — SOURCE CODE ORGANIZATION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1238250"/>
            <a:ext cx="11049000" cy="3867150"/>
            <a:chOff x="571500" y="1238250"/>
            <a:chExt cx="11049000" cy="3867150"/>
          </a:xfrm>
        </p:grpSpPr>
        <p:sp>
          <p:nvSpPr>
            <p:cNvPr id="8" name="Rectangle 8"/>
            <p:cNvSpPr/>
            <p:nvPr/>
          </p:nvSpPr>
          <p:spPr>
            <a:xfrm>
              <a:off x="571500" y="1238250"/>
              <a:ext cx="11049000" cy="5334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795338" y="1416050"/>
              <a:ext cx="200025" cy="166688"/>
            </a:xfrm>
            <a:custGeom>
              <a:avLst/>
              <a:gdLst/>
              <a:ahLst/>
              <a:cxnLst/>
              <a:rect l="l" t="t" r="r" b="b"/>
              <a:pathLst>
                <a:path w="200025" h="166688">
                  <a:moveTo>
                    <a:pt x="22225" y="0"/>
                  </a:moveTo>
                  <a:lnTo>
                    <a:pt x="66675" y="0"/>
                  </a:lnTo>
                  <a:lnTo>
                    <a:pt x="100012" y="33338"/>
                  </a:lnTo>
                  <a:lnTo>
                    <a:pt x="177800" y="33338"/>
                  </a:lnTo>
                  <a:cubicBezTo>
                    <a:pt x="190075" y="33338"/>
                    <a:pt x="200025" y="43288"/>
                    <a:pt x="200025" y="55563"/>
                  </a:cubicBezTo>
                  <a:lnTo>
                    <a:pt x="200025" y="144463"/>
                  </a:lnTo>
                  <a:cubicBezTo>
                    <a:pt x="200025" y="156737"/>
                    <a:pt x="190075" y="166688"/>
                    <a:pt x="177800" y="166688"/>
                  </a:cubicBezTo>
                  <a:lnTo>
                    <a:pt x="22225" y="166688"/>
                  </a:lnTo>
                  <a:cubicBezTo>
                    <a:pt x="9950" y="166688"/>
                    <a:pt x="0" y="156737"/>
                    <a:pt x="0" y="144463"/>
                  </a:cubicBezTo>
                  <a:lnTo>
                    <a:pt x="0" y="22225"/>
                  </a:lnTo>
                  <a:cubicBezTo>
                    <a:pt x="0" y="9950"/>
                    <a:pt x="9950" y="0"/>
                    <a:pt x="22225" y="0"/>
                  </a:cubicBezTo>
                </a:path>
              </a:pathLst>
            </a:custGeom>
            <a:noFill/>
            <a:ln w="19050">
              <a:solidFill>
                <a:srgbClr val="3A7BD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23950" y="1419225"/>
              <a:ext cx="169830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A7BD5"/>
                  </a:solidFill>
                  <a:latin typeface="Consolas"/>
                  <a:ea typeface="Microsoft YaHei"/>
                  <a:cs typeface="Consolas"/>
                </a:rPr>
                <a:t>src/client/core/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85260" y="1451610"/>
              <a:ext cx="46710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应用控制器、配置管理、聊天管理、传输会话、历史控制器、日志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71500" y="1905000"/>
              <a:ext cx="11049000" cy="5334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795338" y="2082800"/>
              <a:ext cx="200025" cy="166688"/>
            </a:xfrm>
            <a:custGeom>
              <a:avLst/>
              <a:gdLst/>
              <a:ahLst/>
              <a:cxnLst/>
              <a:rect l="l" t="t" r="r" b="b"/>
              <a:pathLst>
                <a:path w="200025" h="166688">
                  <a:moveTo>
                    <a:pt x="22225" y="0"/>
                  </a:moveTo>
                  <a:lnTo>
                    <a:pt x="66675" y="0"/>
                  </a:lnTo>
                  <a:lnTo>
                    <a:pt x="100012" y="33338"/>
                  </a:lnTo>
                  <a:lnTo>
                    <a:pt x="177800" y="33338"/>
                  </a:lnTo>
                  <a:cubicBezTo>
                    <a:pt x="190075" y="33338"/>
                    <a:pt x="200025" y="43288"/>
                    <a:pt x="200025" y="55563"/>
                  </a:cubicBezTo>
                  <a:lnTo>
                    <a:pt x="200025" y="144463"/>
                  </a:lnTo>
                  <a:cubicBezTo>
                    <a:pt x="200025" y="156737"/>
                    <a:pt x="190075" y="166688"/>
                    <a:pt x="177800" y="166688"/>
                  </a:cubicBezTo>
                  <a:lnTo>
                    <a:pt x="22225" y="166688"/>
                  </a:lnTo>
                  <a:cubicBezTo>
                    <a:pt x="9950" y="166688"/>
                    <a:pt x="0" y="156737"/>
                    <a:pt x="0" y="144463"/>
                  </a:cubicBezTo>
                  <a:lnTo>
                    <a:pt x="0" y="22225"/>
                  </a:lnTo>
                  <a:cubicBezTo>
                    <a:pt x="0" y="9950"/>
                    <a:pt x="9950" y="0"/>
                    <a:pt x="22225" y="0"/>
                  </a:cubicBezTo>
                </a:path>
              </a:pathLst>
            </a:custGeom>
            <a:noFill/>
            <a:ln w="19050">
              <a:solidFill>
                <a:srgbClr val="10B98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23950" y="2085975"/>
              <a:ext cx="206835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0B981"/>
                  </a:solidFill>
                  <a:latin typeface="Consolas"/>
                  <a:ea typeface="Microsoft YaHei"/>
                  <a:cs typeface="Consolas"/>
                </a:rPr>
                <a:t>src/client/network/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75760" y="2118360"/>
              <a:ext cx="383095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设备发现、P2P 服务器、聊天连接、文件收发 Worker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" y="2571750"/>
              <a:ext cx="11049000" cy="5334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795338" y="2749550"/>
              <a:ext cx="200025" cy="166688"/>
            </a:xfrm>
            <a:custGeom>
              <a:avLst/>
              <a:gdLst/>
              <a:ahLst/>
              <a:cxnLst/>
              <a:rect l="l" t="t" r="r" b="b"/>
              <a:pathLst>
                <a:path w="200025" h="166688">
                  <a:moveTo>
                    <a:pt x="22225" y="0"/>
                  </a:moveTo>
                  <a:lnTo>
                    <a:pt x="66675" y="0"/>
                  </a:lnTo>
                  <a:lnTo>
                    <a:pt x="100012" y="33338"/>
                  </a:lnTo>
                  <a:lnTo>
                    <a:pt x="177800" y="33338"/>
                  </a:lnTo>
                  <a:cubicBezTo>
                    <a:pt x="190075" y="33338"/>
                    <a:pt x="200025" y="43288"/>
                    <a:pt x="200025" y="55562"/>
                  </a:cubicBezTo>
                  <a:lnTo>
                    <a:pt x="200025" y="144462"/>
                  </a:lnTo>
                  <a:cubicBezTo>
                    <a:pt x="200025" y="156737"/>
                    <a:pt x="190075" y="166688"/>
                    <a:pt x="177800" y="166688"/>
                  </a:cubicBezTo>
                  <a:lnTo>
                    <a:pt x="22225" y="166688"/>
                  </a:lnTo>
                  <a:cubicBezTo>
                    <a:pt x="9950" y="166688"/>
                    <a:pt x="0" y="156737"/>
                    <a:pt x="0" y="144462"/>
                  </a:cubicBezTo>
                  <a:lnTo>
                    <a:pt x="0" y="22225"/>
                  </a:lnTo>
                  <a:cubicBezTo>
                    <a:pt x="0" y="9950"/>
                    <a:pt x="9950" y="0"/>
                    <a:pt x="22225" y="0"/>
                  </a:cubicBezTo>
                </a:path>
              </a:pathLst>
            </a:custGeom>
            <a:noFill/>
            <a:ln w="19050">
              <a:solidFill>
                <a:srgbClr val="8B5CF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23950" y="2752725"/>
              <a:ext cx="202834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B5CF6"/>
                  </a:solidFill>
                  <a:latin typeface="Consolas"/>
                  <a:ea typeface="Microsoft YaHei"/>
                  <a:cs typeface="Consolas"/>
                </a:rPr>
                <a:t>src/client/storage/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85260" y="2785110"/>
              <a:ext cx="30868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SQLite Broker、Repository、数据库线程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71500" y="3238500"/>
              <a:ext cx="11049000" cy="5334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795338" y="3416300"/>
              <a:ext cx="200025" cy="166688"/>
            </a:xfrm>
            <a:custGeom>
              <a:avLst/>
              <a:gdLst/>
              <a:ahLst/>
              <a:cxnLst/>
              <a:rect l="l" t="t" r="r" b="b"/>
              <a:pathLst>
                <a:path w="200025" h="166688">
                  <a:moveTo>
                    <a:pt x="22225" y="0"/>
                  </a:moveTo>
                  <a:lnTo>
                    <a:pt x="66675" y="0"/>
                  </a:lnTo>
                  <a:lnTo>
                    <a:pt x="100012" y="33338"/>
                  </a:lnTo>
                  <a:lnTo>
                    <a:pt x="177800" y="33338"/>
                  </a:lnTo>
                  <a:cubicBezTo>
                    <a:pt x="190075" y="33338"/>
                    <a:pt x="200025" y="43288"/>
                    <a:pt x="200025" y="55562"/>
                  </a:cubicBezTo>
                  <a:lnTo>
                    <a:pt x="200025" y="144462"/>
                  </a:lnTo>
                  <a:cubicBezTo>
                    <a:pt x="200025" y="156737"/>
                    <a:pt x="190075" y="166688"/>
                    <a:pt x="177800" y="166688"/>
                  </a:cubicBezTo>
                  <a:lnTo>
                    <a:pt x="22225" y="166688"/>
                  </a:lnTo>
                  <a:cubicBezTo>
                    <a:pt x="9950" y="166688"/>
                    <a:pt x="0" y="156737"/>
                    <a:pt x="0" y="144462"/>
                  </a:cubicBezTo>
                  <a:lnTo>
                    <a:pt x="0" y="22225"/>
                  </a:lnTo>
                  <a:cubicBezTo>
                    <a:pt x="0" y="9950"/>
                    <a:pt x="9950" y="0"/>
                    <a:pt x="22225" y="0"/>
                  </a:cubicBezTo>
                </a:path>
              </a:pathLst>
            </a:custGeom>
            <a:noFill/>
            <a:ln w="19050">
              <a:solidFill>
                <a:srgbClr val="F59E0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23950" y="3419475"/>
              <a:ext cx="142827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59E0B"/>
                  </a:solidFill>
                  <a:latin typeface="Consolas"/>
                  <a:ea typeface="Microsoft YaHei"/>
                  <a:cs typeface="Consolas"/>
                </a:rPr>
                <a:t>src/client/ui/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23260" y="3451860"/>
              <a:ext cx="54871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QML 组件（DeviceCard、ChatView、TransferPanel、SettingsDialog 等）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71500" y="3905250"/>
              <a:ext cx="11049000" cy="5334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95338" y="4083050"/>
              <a:ext cx="200025" cy="166688"/>
            </a:xfrm>
            <a:custGeom>
              <a:avLst/>
              <a:gdLst/>
              <a:ahLst/>
              <a:cxnLst/>
              <a:rect l="l" t="t" r="r" b="b"/>
              <a:pathLst>
                <a:path w="200025" h="166688">
                  <a:moveTo>
                    <a:pt x="22225" y="0"/>
                  </a:moveTo>
                  <a:lnTo>
                    <a:pt x="66675" y="0"/>
                  </a:lnTo>
                  <a:lnTo>
                    <a:pt x="100012" y="33338"/>
                  </a:lnTo>
                  <a:lnTo>
                    <a:pt x="177800" y="33338"/>
                  </a:lnTo>
                  <a:cubicBezTo>
                    <a:pt x="190075" y="33338"/>
                    <a:pt x="200025" y="43288"/>
                    <a:pt x="200025" y="55562"/>
                  </a:cubicBezTo>
                  <a:lnTo>
                    <a:pt x="200025" y="144462"/>
                  </a:lnTo>
                  <a:cubicBezTo>
                    <a:pt x="200025" y="156737"/>
                    <a:pt x="190075" y="166688"/>
                    <a:pt x="177800" y="166688"/>
                  </a:cubicBezTo>
                  <a:lnTo>
                    <a:pt x="22225" y="166688"/>
                  </a:lnTo>
                  <a:cubicBezTo>
                    <a:pt x="9950" y="166688"/>
                    <a:pt x="0" y="156737"/>
                    <a:pt x="0" y="144462"/>
                  </a:cubicBezTo>
                  <a:lnTo>
                    <a:pt x="0" y="22225"/>
                  </a:lnTo>
                  <a:cubicBezTo>
                    <a:pt x="0" y="9950"/>
                    <a:pt x="9950" y="0"/>
                    <a:pt x="22225" y="0"/>
                  </a:cubicBezTo>
                </a:path>
              </a:pathLst>
            </a:custGeom>
            <a:noFill/>
            <a:ln w="19050">
              <a:solidFill>
                <a:srgbClr val="EF444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23950" y="4086225"/>
              <a:ext cx="124825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F4444"/>
                  </a:solidFill>
                  <a:latin typeface="Consolas"/>
                  <a:ea typeface="Microsoft YaHei"/>
                  <a:cs typeface="Consolas"/>
                </a:rPr>
                <a:t>src/shared/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32760" y="4118610"/>
              <a:ext cx="35429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TLV 协议、共享数据结构、FrameCodec 编解码器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71500" y="4572000"/>
              <a:ext cx="11049000" cy="5334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95338" y="4749800"/>
              <a:ext cx="200025" cy="166687"/>
            </a:xfrm>
            <a:custGeom>
              <a:avLst/>
              <a:gdLst/>
              <a:ahLst/>
              <a:cxnLst/>
              <a:rect l="l" t="t" r="r" b="b"/>
              <a:pathLst>
                <a:path w="200025" h="166687">
                  <a:moveTo>
                    <a:pt x="22225" y="0"/>
                  </a:moveTo>
                  <a:lnTo>
                    <a:pt x="66675" y="0"/>
                  </a:lnTo>
                  <a:lnTo>
                    <a:pt x="100012" y="33338"/>
                  </a:lnTo>
                  <a:lnTo>
                    <a:pt x="177800" y="33338"/>
                  </a:lnTo>
                  <a:cubicBezTo>
                    <a:pt x="190075" y="33338"/>
                    <a:pt x="200025" y="43288"/>
                    <a:pt x="200025" y="55562"/>
                  </a:cubicBezTo>
                  <a:lnTo>
                    <a:pt x="200025" y="144463"/>
                  </a:lnTo>
                  <a:cubicBezTo>
                    <a:pt x="200025" y="156737"/>
                    <a:pt x="190075" y="166687"/>
                    <a:pt x="177800" y="166687"/>
                  </a:cubicBezTo>
                  <a:lnTo>
                    <a:pt x="22225" y="166687"/>
                  </a:lnTo>
                  <a:cubicBezTo>
                    <a:pt x="9950" y="166687"/>
                    <a:pt x="0" y="156737"/>
                    <a:pt x="0" y="144463"/>
                  </a:cubicBezTo>
                  <a:lnTo>
                    <a:pt x="0" y="22225"/>
                  </a:lnTo>
                  <a:cubicBezTo>
                    <a:pt x="0" y="9950"/>
                    <a:pt x="9950" y="0"/>
                    <a:pt x="22225" y="0"/>
                  </a:cubicBezTo>
                </a:path>
              </a:pathLst>
            </a:custGeom>
            <a:noFill/>
            <a:ln w="19050">
              <a:solidFill>
                <a:srgbClr val="64748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23950" y="4752975"/>
              <a:ext cx="145827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doc/diagrams/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13760" y="4785360"/>
              <a:ext cx="41189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UML 类图、组件图、时序图、数据流图、状态图（36 张）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556260" y="5775960"/>
            <a:ext cx="3390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答辩时如追问代码组织，可切换到此页辅助说明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207020" y="65703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16 / 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2026-07-02T07:27:02Z</dcterms:created>
  <dcterms:modified xsi:type="dcterms:W3CDTF">2026-07-02T07:27:02Z</dcterms:modified>
  <cp:category/>
  <cp:contentStatus/>
</cp:coreProperties>
</file>