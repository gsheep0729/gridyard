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6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老师好，我们小组答辩的项目是 GridYard，中文名叫“鸽邮”。它面向同一局域网内的电脑，提供设备自动发现、点对点文件传输、在线聊天和本地历史记录功能。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项目使用 C++23 和 Qt6 QML 开发，构建工具是 CMake，本地数据使用 SQLite。最终版本是 v6.8.1，已经整理为可以运行、可以演示、也可以打包分发的桌面应用。接下来我会从选题原因、技术调研、开发过程、核心实现、测试发布和团队分工几个方面介绍。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GridYard 首先是课程学习大作业，不是要提出一个市场上从来没有的新需求，也不是要替代微信、QQ 或其他成熟工具。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我们选择“聊天会话 + 文件传输”这个方向，是因为这种交互已经被成熟产品验证过，用户很容易理解：选择一个联系人，进入会话，然后发送文字或文件。我们的重点是把这种熟悉的交互放到局域网 P2P 场景中，用 Qt/QML、C++ 网络编程、本地数据库和软件工程流程完整实现出来。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所以项目目标不是做一个概念界面，而是完成一个课程项目应有的工程闭环：能运行、能演示、能打包、能验证，也能解释清楚架构和实现过程。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开发前我们没有直接开始写一个“传文件工具”，而是先对同类工具和技术路线做了调研。调研的目的不是证明 GridYard 比成熟软件更强，而是确认哪些思想适合课程项目借鉴。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微信和 QQ 给我们的启发是，会话式交互非常成熟，聊天消息和文件记录放在同一个会话里是自然的。IPMSG 和飞鸽传书证明局域网 P2P 模型可行，设备可以不依赖账号系统和公网服务器，直接在同网段通信。LocalSend 给我们的启发是免配置发现、接收确认和跨平台分发体验。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最后 GridYard 的取舍是：借鉴 P2P 和会话式交互思想，但不照搬现成协议。我们用 Qt/QML 做桌面界面，用 UDP 发现设备，用 TCP 直连传输，用自研 TLV 协议组织业务消息，再用 SQLite 保存本地历史。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IPMSG 给我们的主要价值不是某一段代码，而是局域网通信项目的基本组织方式：UDP 负责上线、发现和通知，TCP 负责可靠的数据传输，每台设备既可以发起连接，也可以监听连接。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GridYard 保留了这个架构思想，但没有照搬它的文本命令格式和线程模型。节点双角色落到 P2pServer 的入站监听和主动 TCP 连接上；UDP 发现落到 DiscoveryService；业务命令分发改成了 Type 码、首帧分流和 TLV 帧。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这样设计既符合局域网 P2P 的成熟经验，又能和 Qt 的事件循环、信号槽、Worker-Object 多线程模式、QML 界面和本地 SQLite 数据层结合起来，形成适合课程答辩解释的四层架构。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项目从 2026 年 4 月初就开始规划和初始化。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4 月主要完成项目初始化、目录规划、Qt/QML 与 C++ 连通、CMake 拆分，以及协议层的基础设计。5 月进入核心功能阶段，完成设备发现、P2P 服务、文件发送和接收 Worker、多文件和文件夹传输，以及 SHA-256 校验。6 月主要扩展体验和能力，包括微信式三栏界面、统一会话、在线聊天、首帧分流和 SQLite 本地历史。到 6 月底和 7 月初，重点转向运行路径修复、AppImage、portable 包、README、PPT 和演示材料。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整个过程更接近软件工程中的迭代开发：先规划和验证，再开发和测试，发现问题后继续修正，最后收口成可交付版本。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项目过程不是只靠口头说明，而是有一条比较完整的软件工程螺旋模型。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Git 提交记录可以对应到从 4 月到 7 月的持续开发。阶段计划，比如 Stage 5 在线聊天、Stage 6 本地数据层，说明功能是按阶段拆分和验收的。UML 图、API 文档和开发心得可以对应到实际源码模块，说明设计不是事后随便补的。CTest 目标、双实例验证和日志文件说明我们关注了协议、传输、数据库和发布运行中的问题。最后，AppImage、portable 包和交付目录说明最终成果不是源码截图，而是可以运行和分发的应用。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这条证据链支撑的是完整的软件工程过程：有计划、有设计、有验证、有发布。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软件工程实践不是简单地“文档很多”，而是从选题到交付都有对应的流程。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前期我们先做可行性分析：局域网 P2P 适合课堂演示，Qt6 QML 符合课程方向，SQLite 可以支撑本地历史，AppImage 能作为最终交付形式。接着做需求分析，把范围收敛到设备发现、文件传输、在线聊天、本地历史和发布运行，没有把账号系统、服务端漫游、离线消息这些更大的功能混进当前版本。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设计阶段通过四层架构、UML、API 文档和阶段计划确定模块边界。编码阶段通过 CMake 分层、文件头版本记录、Change Log、命名规范和日志系统提高可维护性。收尾阶段再通过 CTest、双实例测试、日志和发布包验证，把课程项目从代码实现推进到可交付状态。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最终用户看到的核心功能，是围绕“设备会话”组织起来的。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左侧是在线设备列表，来自 UDP 广播发现和心跳维护。用户选择某个设备后，进入统一会话时间线。聊天消息和文件传输记录会按时间顺序展示，文件发送、接收状态和历史记录不会被拆成两个完全割裂的工具。底部提供消息输入和文件发送入口，设置和历史功能用于修改设备名、接收路径以及查看本地记录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统一会话是最终版本的重要变化。它借鉴了成熟聊天工具的交互方式，也把网络传输、在线聊天和 SQLite 本地历史整合成了一个完整的使用场景。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项目没有停留在“源码能在开发机上运行”，而是整理成了更接近真实桌面应用的交付方式。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主交付物是 AppImage。选择它的原因是 Linux 下可以免安装运行，并且能把运行依赖一起打进包里，适合课堂演示和分发。portable 压缩包作为备用形式，方便解压后运行。源码构建则保留给需要重新编译和检查代码的场景。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Qt 程序发布时不能只拷贝一个可执行文件，因为它还依赖 Qt 插件、QML 模块、SQLite 驱动和 Widgets 相关库。我们的打包流程是先整理 AppDir，再补齐这些运行时依赖，最后生成 AppImage。后续继续完善时，可以补充 Windows 和 macOS 平台包，提高跨平台交付能力。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总体架构分成四层，目的是把界面、业务逻辑、网络协议和本地数据分开。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最上面是 QML 表现层，负责设备列表、统一会话、聊天气泡、文件卡片和设置窗口。它只负责展示和交互，不直接处理 socket，也不直接写 SQL。第二层是应用逻辑层，负责业务状态和模块调度，包括 AppController、ChatManager、TransferSessionManager 和 HistoryController。第三层是网络与协议层，负责 UDP 发现、TCP 监听、首帧分流、文件收发和 TLV 编解码。最下面是本地数据层，负责 SQLite 数据库、设备目录、聊天历史、传输历史、迁移和仓储。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AppController 是应用组合根，负责在启动时把设备发现、P2P 服务、传输管理、聊天管理、历史控制器、配置和日志这些模块组装起来，再向 QML 提供统一入口。这样可以避免 UI、网络和数据库逻辑混写在一起。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进入具体技术实现后，首先是局域网设备发现。GridYard 启动后，会通过 UDP 广播向同网段发送 Hello 消息，相当于告诉其他客户端“我在线”。其他 GridYard 客户端收到广播后，就可以更新自己的设备列表。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这个功能看起来简单，但实际开发时要处理多网卡环境。比如一台电脑可能同时连接有线网和 WiFi，如果只向默认广播地址发送，某些网段上的设备可能收不到。所以我们遍历本机网卡，过滤回环地址和不支持广播的接口，再向每个可广播的 IPv4 地址发送 Hello。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UDP 在这里只负责发现和心跳，不承载大文件。真正的文件和聊天数据会通过 TCP 直连传输。设备是否在线，则通过心跳和 lastSeen 时间来维护。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文件传输采用 P2P TCP 直连，但不是一建立连接就直接发送文件内容。发送端会先整理元信息，包括文件名、文件数量、总大小、目录相对路径和 SHA-256 校验值，然后发送 TransferRequest。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接收端收到元信息后，先让用户确认是否接收。只有确认之后，发送端才开始正式传输文件数据。正式传输时不会一次性把大文件读进内存，而是按块发送，当前 chunk 大小调整为 8MB。接收端逐块写入本地文件，完成后再根据 SHA-256 校验文件完整性。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这样的流程可以让接收方在传输前知道自己要接收什么，也能让大文件、文件夹和多文件传输更稳定。传输状态最后会同步到统一会话时间线，并写入 SQLite 历史记录。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在线聊天加入以后，P2P 入站连接就不再只有文件传输一种用途。文件传输和聊天都基于 TCP，接收端收到一个连接时，必须先判断它到底是来发文件，还是来发聊天消息。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为了解决这个问题，我们约定 TCP 连接的第一帧必须携带 Type。P2pServer 收到连接后先读取首帧，根据 Type 做分流：如果是 TransferRequest，就交给文件接收 Worker；如果是 ChatText，就交给 ChatManager；如果是未知类型或无效帧，就关闭连接并写入日志。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这样设计的好处是，P2pServer 只负责连接入口和业务分流，不把文件接收、聊天处理和错误处理全部混在一个类里。后续如果增加新的业务类型，也可以继续通过 Type 扩展。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自研 TLV 协议主要是为了解决 TCP 字节流没有消息边界的问题。TCP 只能保证数据按顺序到达，但不保证发送端一次 write 的数据，接收端就会一次 readyRead 完整收到。接收端可能遇到半包，也可能遇到多个帧粘在一起到达。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所以我们把每条业务消息封装成 Type、Length、Value 三部分。Type 表示业务类型，比如文件请求、聊天文本或错误帧；Length 表示后面载荷的长度，帮助接收端判断什么时候凑齐一帧；Value 放具体内容。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Value 并不总是 JSON。对于设备信息、文件元信息、聊天文本这类结构化数据，使用 JSON 更方便阅读、调试和扩展；真正的文件内容则按二进制块传输，避免把大文件再编码成文本造成额外开销。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本地数据层让 GridYard 不只是当前窗口里能收发消息，而是能把设备目录、聊天记录和传输历史保存下来。用户重启应用后，仍然可以看到曾经连接过的设备、聊天内容和文件传输记录。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数据层没有直接让 QML 或业务控制器去写 SQL，而是通过 Repository 做隔离。上层只关心“保存消息”“查询历史”“记录传输结果”这些业务操作，具体 SQLite 读写由 Repository 和 DatabaseWorker 处理。DatabaseWorker 在后台线程执行数据库操作，避免阻塞界面和网络传输。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另外，MigrationRunner 负责数据库结构的创建和升级。这样后续如果需要增加字段或调整表结构，也有统一的迁移入口，而不是到处手写建表逻辑。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发布包能启动还不够，运行数据放在哪里也很重要。早期如果把数据库、配置或日志写在程序目录里，用户移动或删除发布包时，就可能把历史记录一起破坏掉。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最终版本把程序包和用户数据分开。AppImage 或 portable 包只负责放程序和依赖；配置文件进入 ~/.config/CQNU-SED/GridYard/，数据库和日志进入 ~/.local/share/CQNU-SED/GridYard/ 下的对应目录。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这样做更符合 Linux 桌面应用的习惯。用户删除或移动发布包，不会影响已有配置和历史数据；开发和验收时，也能通过日志目录快速定位设备发现、传输、数据库迁移和打包运行问题。</a:t>
            </a:r>
            <a:endParaRPr 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终版本主要完成了几个验收目标。第一，同网段设备可以被发现，在线状态可以通过心跳维护。第二，统一会话内可以发送聊天消息，也可以发送文件和文件夹。第三，文件传输支持多文件、目录结构、分块传输和 SHA-256 校验。第四，SQLite 可以保存设备目录、聊天历史和传输历史，并支持跨重启恢复。第五，AppImage 和 portable 包可以作为课程验收时的运行入口。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技术细节前面已经展开过，验证结果主要说明这些设计最后都落到了可运行功能上。除了界面演示，我们还保留了测试目标、日志和发布文档，方便复查问题和复现运行过程。</a:t>
            </a:r>
            <a:endParaRPr lang="zh-CN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AI 在项目中的作用主要是辅助自学和辅助检查，不是替代团队直接完成代码。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课程中已经学习过的部分包括 Qt/QML 基础、QObject 生命周期、信号槽、Worker-Object 多线程模式、四层架构和 C++/QML 集成。GridYard 中超出课堂示例比较多的部分，是 UDP/TCP 网络通信、TLV 协议、TCP 粘包和半包、SQLite migration、Qt Test、CTest 以及 AppImage 打包。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这些内容我们会先让 AI 解释概念、拆解状态机、列出异常场景和测试清单，然后再结合 Qt 文档和项目代码实现、运行、调试和修正。最终是否可用，还是以实际运行、测试结果和团队联调为准。也就是说，AI 帮助我们理解和拆问题，但项目实现和验收由团队自己完成。</a:t>
            </a:r>
            <a:endParaRPr lang="zh-CN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团队分工上，我们是主责明确，同时交叉协作。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冯春霖是组长，主要负责网络传输、设备发现、P2P 服务、文件发送和接收，以及开发过程中的问题修复和整体推进。杜若贤主要负责 QML 界面，包括设备列表、统一会话、聊天气泡、传输卡片、历史视图，以及测试材料和演示材料整理。高扬主要负责整体架构、TLV 协议、AppController、CMake、SQLite 数据层协同、打包发布和工程化收口。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实际开发中三个人不是完全按文件夹隔离的。比如在线聊天功能同时涉及协议、网络连接、消息模型和 QML 展示，需要多次联调；发布收口也需要同时检查路径、日志、数据库和界面。最终 GridYard 完成的是课程项目的核心闭环：从选题验证、技术调研、架构设计、分阶段开发，到关键技术实现、测试、打包和答辩材料。</a:t>
            </a:r>
            <a:endParaRPr lang="zh-CN" dirty="0"/>
          </a:p>
          <a:p>
            <a:endParaRPr lang="zh-CN" dirty="0"/>
          </a:p>
          <a:p>
            <a:r>
              <a:rPr lang="zh-CN" dirty="0"/>
              <a:t>以上就是我们小组对 GridYard v6.8.1 的整体介绍。我们的汇报到此结束，谢谢老师。</a:t>
            </a:r>
            <a:endParaRPr lang="zh-CN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这页是附录，补充协议 Type 码、CMake 模块依赖、错误码枚举和数据库 Schema 等技术细节。如果老师问到具体实现可以快速定位，不需要在主流程中展开讲。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76200"/>
            <a:ext cx="12192000" cy="6858000"/>
          </a:xfrm>
          <a:prstGeom prst="rect">
            <a:avLst/>
          </a:prstGeom>
          <a:solidFill>
            <a:srgbClr val="F8FA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D5F8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904875" y="580708"/>
            <a:ext cx="4817983" cy="1204912"/>
            <a:chOff x="904875" y="1500188"/>
            <a:chExt cx="4817983" cy="1204912"/>
          </a:xfrm>
        </p:grpSpPr>
        <p:sp>
          <p:nvSpPr>
            <p:cNvPr id="4" name="TextBox 4"/>
            <p:cNvSpPr txBox="1"/>
            <p:nvPr/>
          </p:nvSpPr>
          <p:spPr>
            <a:xfrm>
              <a:off x="904875" y="1500188"/>
              <a:ext cx="3481923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75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GridYard 鸽邮</a:t>
              </a:r>
              <a:endParaRPr lang="zh-CN" sz="375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27735" y="2170748"/>
              <a:ext cx="4795123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局域网 P2P 文件传输与即时通讯桌面应用</a:t>
              </a:r>
              <a:endParaRPr lang="zh-CN" sz="19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6" name="Rectangle 6"/>
            <p:cNvSpPr/>
            <p:nvPr/>
          </p:nvSpPr>
          <p:spPr>
            <a:xfrm>
              <a:off x="952500" y="266700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</p:grpSp>
      <p:grpSp>
        <p:nvGrpSpPr>
          <p:cNvPr id="20" name="Group 20"/>
          <p:cNvGrpSpPr/>
          <p:nvPr/>
        </p:nvGrpSpPr>
        <p:grpSpPr>
          <a:xfrm>
            <a:off x="8382000" y="3048000"/>
            <a:ext cx="2190750" cy="819150"/>
            <a:chOff x="8382000" y="3048000"/>
            <a:chExt cx="2190750" cy="819150"/>
          </a:xfrm>
        </p:grpSpPr>
        <p:sp>
          <p:nvSpPr>
            <p:cNvPr id="12" name="Rectangle 12"/>
            <p:cNvSpPr/>
            <p:nvPr/>
          </p:nvSpPr>
          <p:spPr>
            <a:xfrm>
              <a:off x="8382000" y="3048000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2D5F8A">
                <a:alpha val="10000"/>
              </a:srgbClr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46128" y="31632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Qt6 QML</a:t>
              </a:r>
              <a:endParaRPr lang="zh-CN" sz="1050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9620250" y="3048000"/>
              <a:ext cx="762000" cy="342900"/>
            </a:xfrm>
            <a:prstGeom prst="roundRect">
              <a:avLst>
                <a:gd name="adj" fmla="val 50000"/>
              </a:avLst>
            </a:prstGeom>
            <a:solidFill>
              <a:srgbClr val="F59E0B">
                <a:alpha val="10000"/>
              </a:srgbClr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872401" y="3163252"/>
              <a:ext cx="2576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59E0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P2P</a:t>
              </a:r>
              <a:endParaRPr lang="zh-CN" sz="1050" dirty="0">
                <a:solidFill>
                  <a:srgbClr val="F59E0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382000" y="3524250"/>
              <a:ext cx="952500" cy="342900"/>
            </a:xfrm>
            <a:prstGeom prst="roundRect">
              <a:avLst>
                <a:gd name="adj" fmla="val 50000"/>
              </a:avLst>
            </a:prstGeom>
            <a:solidFill>
              <a:srgbClr val="8B5CF6">
                <a:alpha val="10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17387" y="3639502"/>
              <a:ext cx="4817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5CF6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SQLite</a:t>
              </a:r>
              <a:endParaRPr lang="zh-CN" sz="1050" dirty="0">
                <a:solidFill>
                  <a:srgbClr val="8B5CF6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9429750" y="3524250"/>
              <a:ext cx="1143000" cy="342900"/>
            </a:xfrm>
            <a:prstGeom prst="roundRect">
              <a:avLst>
                <a:gd name="adj" fmla="val 50000"/>
              </a:avLst>
            </a:prstGeom>
            <a:solidFill>
              <a:srgbClr val="22C55E">
                <a:alpha val="10000"/>
              </a:srgbClr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683377" y="3639502"/>
              <a:ext cx="6357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2C55E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AppImage</a:t>
              </a:r>
              <a:endParaRPr lang="zh-CN" sz="1050" dirty="0">
                <a:solidFill>
                  <a:srgbClr val="22C55E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364855" y="4331018"/>
            <a:ext cx="2521743" cy="1157763"/>
            <a:chOff x="8364855" y="4331018"/>
            <a:chExt cx="2521743" cy="1157763"/>
          </a:xfrm>
        </p:grpSpPr>
        <p:sp>
          <p:nvSpPr>
            <p:cNvPr id="21" name="TextBox 21"/>
            <p:cNvSpPr txBox="1"/>
            <p:nvPr/>
          </p:nvSpPr>
          <p:spPr>
            <a:xfrm>
              <a:off x="8364855" y="4331018"/>
              <a:ext cx="62836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E293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v6.8.1</a:t>
              </a:r>
              <a:endParaRPr lang="zh-CN" sz="1350" dirty="0">
                <a:solidFill>
                  <a:srgbClr val="1E293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67712" y="4641056"/>
              <a:ext cx="25188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C++23 / Qt6 QML / CMake / SQLite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67712" y="4974431"/>
              <a:ext cx="15737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冯春霖 · 杜若贤 · 高扬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67712" y="5260181"/>
              <a:ext cx="8761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2026 年 7 月</a:t>
              </a:r>
              <a:endParaRPr lang="zh-CN" sz="1125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10774204" y="6570345"/>
            <a:ext cx="9529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rPr>
              <a:t>GridYard v6.8.1</a:t>
            </a:r>
            <a:endParaRPr lang="zh-CN" sz="900" dirty="0">
              <a:solidFill>
                <a:srgbClr val="94A3B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875" y="2190115"/>
            <a:ext cx="6915150" cy="432181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0" grpId="0"/>
      <p:bldP spid="2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D5F8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45770" y="217170"/>
            <a:ext cx="11283315" cy="487680"/>
            <a:chOff x="445770" y="217170"/>
            <a:chExt cx="11283315" cy="487680"/>
          </a:xfrm>
        </p:grpSpPr>
        <p:sp>
          <p:nvSpPr>
            <p:cNvPr id="4" name="TextBox 4"/>
            <p:cNvSpPr txBox="1"/>
            <p:nvPr/>
          </p:nvSpPr>
          <p:spPr>
            <a:xfrm>
              <a:off x="445770" y="217170"/>
              <a:ext cx="2900515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为什么做 GridYard</a:t>
              </a:r>
              <a:endParaRPr lang="zh-CN" sz="240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476250" y="59055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548396" y="36290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02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952500" y="1047750"/>
            <a:ext cx="3048000" cy="4953000"/>
            <a:chOff x="952500" y="1047750"/>
            <a:chExt cx="3048000" cy="4953000"/>
          </a:xfrm>
        </p:grpSpPr>
        <p:sp>
          <p:nvSpPr>
            <p:cNvPr id="8" name="Rectangle 8"/>
            <p:cNvSpPr/>
            <p:nvPr/>
          </p:nvSpPr>
          <p:spPr>
            <a:xfrm>
              <a:off x="952500" y="1047750"/>
              <a:ext cx="3048000" cy="1333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168400" y="1257961"/>
              <a:ext cx="267081" cy="267519"/>
            </a:xfrm>
            <a:custGeom>
              <a:avLst/>
              <a:gdLst/>
              <a:ahLst/>
              <a:cxnLst/>
              <a:rect l="l" t="t" r="r" b="b"/>
              <a:pathLst>
                <a:path w="267081" h="267519">
                  <a:moveTo>
                    <a:pt x="190500" y="22707"/>
                  </a:moveTo>
                  <a:cubicBezTo>
                    <a:pt x="243426" y="53266"/>
                    <a:pt x="267081" y="117187"/>
                    <a:pt x="246799" y="174838"/>
                  </a:cubicBezTo>
                  <a:cubicBezTo>
                    <a:pt x="226517" y="232489"/>
                    <a:pt x="168050" y="267519"/>
                    <a:pt x="107648" y="258208"/>
                  </a:cubicBezTo>
                  <a:cubicBezTo>
                    <a:pt x="47247" y="248897"/>
                    <a:pt x="2043" y="197886"/>
                    <a:pt x="63" y="136804"/>
                  </a:cubicBezTo>
                  <a:lnTo>
                    <a:pt x="0" y="132689"/>
                  </a:lnTo>
                  <a:lnTo>
                    <a:pt x="63" y="128574"/>
                  </a:lnTo>
                  <a:cubicBezTo>
                    <a:pt x="1510" y="83959"/>
                    <a:pt x="26274" y="43379"/>
                    <a:pt x="65289" y="21689"/>
                  </a:cubicBezTo>
                  <a:cubicBezTo>
                    <a:pt x="104305" y="0"/>
                    <a:pt x="151842" y="386"/>
                    <a:pt x="190500" y="22707"/>
                  </a:cubicBezTo>
                  <a:close/>
                  <a:moveTo>
                    <a:pt x="174079" y="98310"/>
                  </a:moveTo>
                  <a:cubicBezTo>
                    <a:pt x="169554" y="93786"/>
                    <a:pt x="162371" y="93334"/>
                    <a:pt x="157315" y="97256"/>
                  </a:cubicBezTo>
                  <a:lnTo>
                    <a:pt x="156121" y="98310"/>
                  </a:lnTo>
                  <a:lnTo>
                    <a:pt x="114300" y="140118"/>
                  </a:lnTo>
                  <a:lnTo>
                    <a:pt x="97879" y="123710"/>
                  </a:lnTo>
                  <a:lnTo>
                    <a:pt x="96685" y="122656"/>
                  </a:lnTo>
                  <a:cubicBezTo>
                    <a:pt x="91629" y="118737"/>
                    <a:pt x="84448" y="119190"/>
                    <a:pt x="79924" y="123713"/>
                  </a:cubicBezTo>
                  <a:cubicBezTo>
                    <a:pt x="75401" y="128237"/>
                    <a:pt x="74948" y="135418"/>
                    <a:pt x="78867" y="140474"/>
                  </a:cubicBezTo>
                  <a:lnTo>
                    <a:pt x="79921" y="141668"/>
                  </a:lnTo>
                  <a:lnTo>
                    <a:pt x="105321" y="167068"/>
                  </a:lnTo>
                  <a:lnTo>
                    <a:pt x="106515" y="168122"/>
                  </a:lnTo>
                  <a:cubicBezTo>
                    <a:pt x="111096" y="171676"/>
                    <a:pt x="117504" y="171676"/>
                    <a:pt x="122085" y="168122"/>
                  </a:cubicBezTo>
                  <a:lnTo>
                    <a:pt x="123279" y="167068"/>
                  </a:lnTo>
                  <a:lnTo>
                    <a:pt x="174079" y="116268"/>
                  </a:lnTo>
                  <a:lnTo>
                    <a:pt x="175133" y="115074"/>
                  </a:lnTo>
                  <a:cubicBezTo>
                    <a:pt x="179055" y="110018"/>
                    <a:pt x="178603" y="102835"/>
                    <a:pt x="174079" y="98310"/>
                  </a:cubicBezTo>
                  <a:close/>
                </a:path>
              </a:pathLst>
            </a:custGeom>
            <a:solidFill>
              <a:srgbClr val="2D5F8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54480" y="1330642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课程学习目标</a:t>
              </a:r>
              <a:endParaRPr lang="zh-CN" sz="135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8712" y="1688306"/>
              <a:ext cx="21063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Qt/QML + C++ + 软件工程流程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28712" y="1926431"/>
              <a:ext cx="21738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四层架构 + 网络编程 + 本地存储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3" name="Line 13"/>
            <p:cNvSpPr/>
            <p:nvPr/>
          </p:nvSpPr>
          <p:spPr>
            <a:xfrm>
              <a:off x="2476500" y="2381250"/>
              <a:ext cx="1" cy="381000"/>
            </a:xfrm>
            <a:prstGeom prst="line">
              <a:avLst/>
            </a:prstGeom>
            <a:noFill/>
            <a:ln w="19050">
              <a:solidFill>
                <a:srgbClr val="3B82F6"/>
              </a:solidFill>
              <a:tailEnd type="triangle" w="lg" len="lg"/>
            </a:ln>
          </p:spPr>
        </p:sp>
        <p:sp>
          <p:nvSpPr>
            <p:cNvPr id="14" name="Rectangle 14"/>
            <p:cNvSpPr/>
            <p:nvPr/>
          </p:nvSpPr>
          <p:spPr>
            <a:xfrm>
              <a:off x="952500" y="2857500"/>
              <a:ext cx="3048000" cy="1333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1168400" y="3086100"/>
              <a:ext cx="254000" cy="241894"/>
            </a:xfrm>
            <a:custGeom>
              <a:avLst/>
              <a:gdLst/>
              <a:ahLst/>
              <a:cxnLst/>
              <a:rect l="l" t="t" r="r" b="b"/>
              <a:pathLst>
                <a:path w="254000" h="241894">
                  <a:moveTo>
                    <a:pt x="203200" y="0"/>
                  </a:moveTo>
                  <a:cubicBezTo>
                    <a:pt x="231256" y="0"/>
                    <a:pt x="254000" y="22744"/>
                    <a:pt x="254000" y="50800"/>
                  </a:cubicBezTo>
                  <a:lnTo>
                    <a:pt x="254000" y="152400"/>
                  </a:lnTo>
                  <a:cubicBezTo>
                    <a:pt x="254000" y="180456"/>
                    <a:pt x="231256" y="203200"/>
                    <a:pt x="203200" y="203200"/>
                  </a:cubicBezTo>
                  <a:lnTo>
                    <a:pt x="143205" y="203200"/>
                  </a:lnTo>
                  <a:lnTo>
                    <a:pt x="82728" y="239484"/>
                  </a:lnTo>
                  <a:cubicBezTo>
                    <a:pt x="79027" y="241705"/>
                    <a:pt x="74451" y="241894"/>
                    <a:pt x="70580" y="239987"/>
                  </a:cubicBezTo>
                  <a:cubicBezTo>
                    <a:pt x="66708" y="238079"/>
                    <a:pt x="64070" y="234336"/>
                    <a:pt x="63576" y="230048"/>
                  </a:cubicBezTo>
                  <a:lnTo>
                    <a:pt x="63500" y="228600"/>
                  </a:lnTo>
                  <a:lnTo>
                    <a:pt x="63500" y="203200"/>
                  </a:lnTo>
                  <a:lnTo>
                    <a:pt x="50800" y="203200"/>
                  </a:lnTo>
                  <a:cubicBezTo>
                    <a:pt x="23731" y="203200"/>
                    <a:pt x="1417" y="181975"/>
                    <a:pt x="63" y="154940"/>
                  </a:cubicBezTo>
                  <a:lnTo>
                    <a:pt x="0" y="152400"/>
                  </a:ln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  <a:moveTo>
                    <a:pt x="152400" y="114300"/>
                  </a:moveTo>
                  <a:lnTo>
                    <a:pt x="76200" y="114300"/>
                  </a:lnTo>
                  <a:cubicBezTo>
                    <a:pt x="69186" y="114300"/>
                    <a:pt x="63500" y="119986"/>
                    <a:pt x="63500" y="127000"/>
                  </a:cubicBezTo>
                  <a:cubicBezTo>
                    <a:pt x="63500" y="134014"/>
                    <a:pt x="69186" y="139700"/>
                    <a:pt x="76200" y="139700"/>
                  </a:cubicBezTo>
                  <a:lnTo>
                    <a:pt x="152400" y="139700"/>
                  </a:lnTo>
                  <a:cubicBezTo>
                    <a:pt x="159414" y="139700"/>
                    <a:pt x="165100" y="134014"/>
                    <a:pt x="165100" y="127000"/>
                  </a:cubicBezTo>
                  <a:cubicBezTo>
                    <a:pt x="165100" y="119986"/>
                    <a:pt x="159414" y="114300"/>
                    <a:pt x="152400" y="114300"/>
                  </a:cubicBezTo>
                  <a:moveTo>
                    <a:pt x="177800" y="63500"/>
                  </a:moveTo>
                  <a:lnTo>
                    <a:pt x="76200" y="63500"/>
                  </a:lnTo>
                  <a:cubicBezTo>
                    <a:pt x="69186" y="63500"/>
                    <a:pt x="63500" y="69186"/>
                    <a:pt x="63500" y="76200"/>
                  </a:cubicBezTo>
                  <a:cubicBezTo>
                    <a:pt x="63500" y="83214"/>
                    <a:pt x="69186" y="88900"/>
                    <a:pt x="76200" y="88900"/>
                  </a:cubicBezTo>
                  <a:lnTo>
                    <a:pt x="177800" y="88900"/>
                  </a:lnTo>
                  <a:cubicBezTo>
                    <a:pt x="184814" y="88900"/>
                    <a:pt x="190500" y="83214"/>
                    <a:pt x="190500" y="76200"/>
                  </a:cubicBezTo>
                  <a:cubicBezTo>
                    <a:pt x="190500" y="69186"/>
                    <a:pt x="184814" y="63500"/>
                    <a:pt x="177800" y="63500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554480" y="3140392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C55E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成熟交互验证</a:t>
              </a:r>
              <a:endParaRPr lang="zh-CN" sz="1350" b="1" dirty="0">
                <a:solidFill>
                  <a:srgbClr val="22C55E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28712" y="3498056"/>
              <a:ext cx="140124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会话聊天 + 文件发送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28712" y="3736181"/>
              <a:ext cx="194881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微信、QQ 已验证的交互形态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2476500" y="4191000"/>
              <a:ext cx="1" cy="381000"/>
            </a:xfrm>
            <a:prstGeom prst="line">
              <a:avLst/>
            </a:prstGeom>
            <a:noFill/>
            <a:ln w="19050">
              <a:solidFill>
                <a:srgbClr val="3B82F6"/>
              </a:solidFill>
              <a:tailEnd type="triangle" w="lg" len="lg"/>
            </a:ln>
          </p:spPr>
        </p:sp>
        <p:sp>
          <p:nvSpPr>
            <p:cNvPr id="20" name="Rectangle 20"/>
            <p:cNvSpPr/>
            <p:nvPr/>
          </p:nvSpPr>
          <p:spPr>
            <a:xfrm>
              <a:off x="952500" y="4667250"/>
              <a:ext cx="3048000" cy="1333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193225" y="4883150"/>
              <a:ext cx="204350" cy="258712"/>
            </a:xfrm>
            <a:custGeom>
              <a:avLst/>
              <a:gdLst/>
              <a:ahLst/>
              <a:cxnLst/>
              <a:rect l="l" t="t" r="r" b="b"/>
              <a:pathLst>
                <a:path w="204350" h="258712">
                  <a:moveTo>
                    <a:pt x="114875" y="0"/>
                  </a:moveTo>
                  <a:lnTo>
                    <a:pt x="115104" y="13"/>
                  </a:lnTo>
                  <a:lnTo>
                    <a:pt x="115307" y="25"/>
                  </a:lnTo>
                  <a:lnTo>
                    <a:pt x="116361" y="89"/>
                  </a:lnTo>
                  <a:lnTo>
                    <a:pt x="116501" y="114"/>
                  </a:lnTo>
                  <a:lnTo>
                    <a:pt x="116640" y="114"/>
                  </a:lnTo>
                  <a:lnTo>
                    <a:pt x="117123" y="229"/>
                  </a:lnTo>
                  <a:lnTo>
                    <a:pt x="117783" y="330"/>
                  </a:lnTo>
                  <a:lnTo>
                    <a:pt x="117987" y="406"/>
                  </a:lnTo>
                  <a:lnTo>
                    <a:pt x="118126" y="419"/>
                  </a:lnTo>
                  <a:lnTo>
                    <a:pt x="118495" y="559"/>
                  </a:lnTo>
                  <a:lnTo>
                    <a:pt x="119155" y="737"/>
                  </a:lnTo>
                  <a:lnTo>
                    <a:pt x="119396" y="851"/>
                  </a:lnTo>
                  <a:lnTo>
                    <a:pt x="119587" y="902"/>
                  </a:lnTo>
                  <a:lnTo>
                    <a:pt x="119942" y="1080"/>
                  </a:lnTo>
                  <a:lnTo>
                    <a:pt x="120450" y="1295"/>
                  </a:lnTo>
                  <a:lnTo>
                    <a:pt x="120717" y="1448"/>
                  </a:lnTo>
                  <a:lnTo>
                    <a:pt x="120996" y="1575"/>
                  </a:lnTo>
                  <a:lnTo>
                    <a:pt x="121289" y="1765"/>
                  </a:lnTo>
                  <a:lnTo>
                    <a:pt x="121682" y="1981"/>
                  </a:lnTo>
                  <a:lnTo>
                    <a:pt x="122114" y="2286"/>
                  </a:lnTo>
                  <a:lnTo>
                    <a:pt x="122343" y="2426"/>
                  </a:lnTo>
                  <a:lnTo>
                    <a:pt x="122508" y="2578"/>
                  </a:lnTo>
                  <a:lnTo>
                    <a:pt x="122813" y="2794"/>
                  </a:lnTo>
                  <a:lnTo>
                    <a:pt x="123295" y="3226"/>
                  </a:lnTo>
                  <a:lnTo>
                    <a:pt x="123575" y="3442"/>
                  </a:lnTo>
                  <a:lnTo>
                    <a:pt x="123676" y="3569"/>
                  </a:lnTo>
                  <a:lnTo>
                    <a:pt x="123854" y="3721"/>
                  </a:lnTo>
                  <a:lnTo>
                    <a:pt x="124311" y="4242"/>
                  </a:lnTo>
                  <a:lnTo>
                    <a:pt x="124641" y="4585"/>
                  </a:lnTo>
                  <a:lnTo>
                    <a:pt x="124718" y="4699"/>
                  </a:lnTo>
                  <a:cubicBezTo>
                    <a:pt x="126242" y="6566"/>
                    <a:pt x="127207" y="8788"/>
                    <a:pt x="127486" y="11214"/>
                  </a:cubicBezTo>
                  <a:lnTo>
                    <a:pt x="127499" y="11367"/>
                  </a:lnTo>
                  <a:lnTo>
                    <a:pt x="127524" y="11887"/>
                  </a:lnTo>
                  <a:lnTo>
                    <a:pt x="127575" y="12700"/>
                  </a:lnTo>
                  <a:lnTo>
                    <a:pt x="127575" y="88900"/>
                  </a:lnTo>
                  <a:lnTo>
                    <a:pt x="191075" y="88900"/>
                  </a:lnTo>
                  <a:cubicBezTo>
                    <a:pt x="195605" y="88899"/>
                    <a:pt x="199793" y="91311"/>
                    <a:pt x="202065" y="95230"/>
                  </a:cubicBezTo>
                  <a:cubicBezTo>
                    <a:pt x="204337" y="99148"/>
                    <a:pt x="204350" y="103981"/>
                    <a:pt x="202099" y="107912"/>
                  </a:cubicBezTo>
                  <a:lnTo>
                    <a:pt x="201337" y="109068"/>
                  </a:lnTo>
                  <a:lnTo>
                    <a:pt x="99737" y="248768"/>
                  </a:lnTo>
                  <a:cubicBezTo>
                    <a:pt x="92523" y="258712"/>
                    <a:pt x="76775" y="253594"/>
                    <a:pt x="76775" y="241300"/>
                  </a:cubicBezTo>
                  <a:lnTo>
                    <a:pt x="76775" y="165100"/>
                  </a:lnTo>
                  <a:lnTo>
                    <a:pt x="13275" y="165100"/>
                  </a:lnTo>
                  <a:cubicBezTo>
                    <a:pt x="8745" y="165101"/>
                    <a:pt x="4557" y="162689"/>
                    <a:pt x="2285" y="158770"/>
                  </a:cubicBezTo>
                  <a:cubicBezTo>
                    <a:pt x="13" y="154852"/>
                    <a:pt x="0" y="150019"/>
                    <a:pt x="2251" y="146088"/>
                  </a:cubicBezTo>
                  <a:lnTo>
                    <a:pt x="3013" y="144932"/>
                  </a:lnTo>
                  <a:lnTo>
                    <a:pt x="104613" y="5232"/>
                  </a:lnTo>
                  <a:lnTo>
                    <a:pt x="104740" y="5067"/>
                  </a:lnTo>
                  <a:lnTo>
                    <a:pt x="104969" y="4762"/>
                  </a:lnTo>
                  <a:lnTo>
                    <a:pt x="105388" y="4280"/>
                  </a:lnTo>
                  <a:lnTo>
                    <a:pt x="105617" y="4001"/>
                  </a:lnTo>
                  <a:lnTo>
                    <a:pt x="105731" y="3899"/>
                  </a:lnTo>
                  <a:lnTo>
                    <a:pt x="105896" y="3721"/>
                  </a:lnTo>
                  <a:lnTo>
                    <a:pt x="106404" y="3264"/>
                  </a:lnTo>
                  <a:lnTo>
                    <a:pt x="106760" y="2934"/>
                  </a:lnTo>
                  <a:lnTo>
                    <a:pt x="106861" y="2858"/>
                  </a:lnTo>
                  <a:cubicBezTo>
                    <a:pt x="108350" y="1639"/>
                    <a:pt x="110095" y="775"/>
                    <a:pt x="111967" y="330"/>
                  </a:cubicBezTo>
                  <a:lnTo>
                    <a:pt x="112106" y="318"/>
                  </a:lnTo>
                  <a:lnTo>
                    <a:pt x="112449" y="254"/>
                  </a:lnTo>
                  <a:lnTo>
                    <a:pt x="113389" y="89"/>
                  </a:lnTo>
                  <a:lnTo>
                    <a:pt x="113529" y="76"/>
                  </a:lnTo>
                  <a:lnTo>
                    <a:pt x="114050" y="51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554480" y="4950142"/>
              <a:ext cx="1253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59E0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GridYard 落地</a:t>
              </a:r>
              <a:endParaRPr lang="zh-CN" sz="1350" b="1" dirty="0">
                <a:solidFill>
                  <a:srgbClr val="F59E0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28712" y="5307806"/>
              <a:ext cx="15437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局域网发现 + P2P 传输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28712" y="5545931"/>
              <a:ext cx="12512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本地历史 + 发布包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762500" y="1047750"/>
            <a:ext cx="6858000" cy="4953000"/>
            <a:chOff x="4762500" y="1047750"/>
            <a:chExt cx="6858000" cy="4953000"/>
          </a:xfrm>
        </p:grpSpPr>
        <p:sp>
          <p:nvSpPr>
            <p:cNvPr id="26" name="Rectangle 26"/>
            <p:cNvSpPr/>
            <p:nvPr/>
          </p:nvSpPr>
          <p:spPr>
            <a:xfrm>
              <a:off x="4762500" y="1047750"/>
              <a:ext cx="6858000" cy="4953000"/>
            </a:xfrm>
            <a:prstGeom prst="roundRect">
              <a:avLst>
                <a:gd name="adj" fmla="val 2308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124450" y="13620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293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项目定位</a:t>
              </a:r>
              <a:endParaRPr lang="zh-CN" sz="1500" b="1" dirty="0">
                <a:solidFill>
                  <a:srgbClr val="1E293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128260" y="1775460"/>
              <a:ext cx="37589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• GridYard 是课程学习大作业，不是凭空创造新需求</a:t>
              </a:r>
              <a:endPara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128260" y="2108835"/>
              <a:ext cx="400697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• 聊天会话和文件发送已被成熟产品验证为可理解的交互</a:t>
              </a:r>
              <a:endPara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128260" y="2442210"/>
              <a:ext cx="324688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• 重点：局域网 P2P 场景下的完整工程化实现</a:t>
              </a:r>
              <a:endPara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128260" y="2775585"/>
              <a:ext cx="336689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• 最终成果：可运行、可演示、可打包、可验证</a:t>
              </a:r>
              <a:endPara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143500" y="3238500"/>
              <a:ext cx="6096000" cy="9525"/>
            </a:xfrm>
            <a:prstGeom prst="rect">
              <a:avLst/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5124450" y="34575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293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技术选型</a:t>
              </a:r>
              <a:endParaRPr lang="zh-CN" sz="1500" b="1" dirty="0">
                <a:solidFill>
                  <a:srgbClr val="1E293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129212" y="3879056"/>
              <a:ext cx="249638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D5F8A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UDP 发现 + TCP 直连 + 自研 TLV 协议</a:t>
              </a:r>
              <a:endParaRPr lang="zh-CN" sz="1125" dirty="0">
                <a:solidFill>
                  <a:srgbClr val="2D5F8A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129212" y="4212431"/>
              <a:ext cx="23313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22C55E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SQLite 本地历史 + AppImage 发布</a:t>
              </a:r>
              <a:endParaRPr lang="zh-CN" sz="1125" dirty="0">
                <a:solidFill>
                  <a:srgbClr val="22C55E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128260" y="4585335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借鉴架构思想，不照搬协议实现</a:t>
              </a:r>
              <a:endPara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128260" y="5013960"/>
              <a:ext cx="35749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用 Qt/QML、C++ 网络编程、本地数据库完整落地</a:t>
              </a:r>
              <a:endPara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0774204" y="6570345"/>
            <a:ext cx="9529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rPr>
              <a:t>GridYard v6.8.1</a:t>
            </a:r>
            <a:endParaRPr lang="zh-CN" sz="900" dirty="0">
              <a:solidFill>
                <a:srgbClr val="94A3B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3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D5F8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45770" y="217170"/>
            <a:ext cx="11283315" cy="487680"/>
            <a:chOff x="445770" y="217170"/>
            <a:chExt cx="11283315" cy="487680"/>
          </a:xfrm>
        </p:grpSpPr>
        <p:sp>
          <p:nvSpPr>
            <p:cNvPr id="4" name="TextBox 4"/>
            <p:cNvSpPr txBox="1"/>
            <p:nvPr/>
          </p:nvSpPr>
          <p:spPr>
            <a:xfrm>
              <a:off x="445770" y="217170"/>
              <a:ext cx="3421380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同类工具调研后的取舍</a:t>
              </a:r>
              <a:endParaRPr lang="zh-CN" sz="240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476250" y="59055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548396" y="36290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03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905828" y="1051878"/>
            <a:ext cx="10373344" cy="4715510"/>
            <a:chOff x="905828" y="1051878"/>
            <a:chExt cx="10373344" cy="4715510"/>
          </a:xfrm>
        </p:grpSpPr>
        <p:sp>
          <p:nvSpPr>
            <p:cNvPr id="8" name="Line 8"/>
            <p:cNvSpPr/>
            <p:nvPr/>
          </p:nvSpPr>
          <p:spPr>
            <a:xfrm>
              <a:off x="6096000" y="1143000"/>
              <a:ext cx="9525" cy="4381500"/>
            </a:xfrm>
            <a:custGeom>
              <a:avLst/>
              <a:gdLst/>
              <a:ahLst/>
              <a:cxnLst/>
              <a:rect l="l" t="t" r="r" b="b"/>
              <a:pathLst>
                <a:path w="9525" h="4381500">
                  <a:moveTo>
                    <a:pt x="0" y="0"/>
                  </a:moveTo>
                  <a:lnTo>
                    <a:pt x="0" y="438150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1714500" y="3333750"/>
              <a:ext cx="8763000" cy="9525"/>
            </a:xfrm>
            <a:custGeom>
              <a:avLst/>
              <a:gdLst/>
              <a:ahLst/>
              <a:cxnLst/>
              <a:rect l="l" t="t" r="r" b="b"/>
              <a:pathLst>
                <a:path w="8763000" h="9525">
                  <a:moveTo>
                    <a:pt x="0" y="0"/>
                  </a:moveTo>
                  <a:lnTo>
                    <a:pt x="87630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5802630" y="10518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单一功能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361305" y="5554028"/>
              <a:ext cx="14688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文件 + 聊天 + 历史闭环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05828" y="3226753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公网中心化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559415" y="3271203"/>
              <a:ext cx="7197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局域网 P2P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4" name="Ellipse 14"/>
            <p:cNvSpPr/>
            <p:nvPr/>
          </p:nvSpPr>
          <p:spPr>
            <a:xfrm>
              <a:off x="2952750" y="1524000"/>
              <a:ext cx="762000" cy="762000"/>
            </a:xfrm>
            <a:prstGeom prst="ellipse">
              <a:avLst/>
            </a:prstGeom>
            <a:solidFill>
              <a:srgbClr val="3B82F6">
                <a:alpha val="15000"/>
              </a:srgbClr>
            </a:solidFill>
            <a:ln w="19050">
              <a:solidFill>
                <a:srgbClr val="3B82F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036880" y="1744028"/>
              <a:ext cx="59374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B82F6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微信/QQ</a:t>
              </a:r>
              <a:endParaRPr lang="zh-CN" sz="1050" dirty="0">
                <a:solidFill>
                  <a:srgbClr val="3B82F6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022282" y="1950720"/>
              <a:ext cx="6229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3B82F6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会话闭环强</a:t>
              </a:r>
              <a:endParaRPr lang="zh-CN" sz="900" dirty="0">
                <a:solidFill>
                  <a:srgbClr val="3B82F6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7" name="Ellipse 17"/>
            <p:cNvSpPr/>
            <p:nvPr/>
          </p:nvSpPr>
          <p:spPr>
            <a:xfrm>
              <a:off x="7715250" y="1524000"/>
              <a:ext cx="762000" cy="762000"/>
            </a:xfrm>
            <a:prstGeom prst="ellipse">
              <a:avLst/>
            </a:prstGeom>
            <a:solidFill>
              <a:srgbClr val="F59E0B">
                <a:alpha val="15000"/>
              </a:srgbClr>
            </a:solidFill>
            <a:ln w="19050">
              <a:solidFill>
                <a:srgbClr val="F59E0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893891" y="1744028"/>
              <a:ext cx="40471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59E0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IPMSG</a:t>
              </a:r>
              <a:endParaRPr lang="zh-CN" sz="1050" dirty="0">
                <a:solidFill>
                  <a:srgbClr val="F59E0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847790" y="1950720"/>
              <a:ext cx="49691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59E0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轻量 P2P</a:t>
              </a:r>
              <a:endParaRPr lang="zh-CN" sz="900" dirty="0">
                <a:solidFill>
                  <a:srgbClr val="F59E0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0" name="Ellipse 20"/>
            <p:cNvSpPr/>
            <p:nvPr/>
          </p:nvSpPr>
          <p:spPr>
            <a:xfrm>
              <a:off x="8191500" y="2286000"/>
              <a:ext cx="762000" cy="762000"/>
            </a:xfrm>
            <a:prstGeom prst="ellipse">
              <a:avLst/>
            </a:prstGeom>
            <a:solidFill>
              <a:srgbClr val="22C55E">
                <a:alpha val="15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230124" y="2506028"/>
              <a:ext cx="6847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2C55E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LocalSend</a:t>
              </a:r>
              <a:endParaRPr lang="zh-CN" sz="1050" dirty="0">
                <a:solidFill>
                  <a:srgbClr val="22C55E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61032" y="2712720"/>
              <a:ext cx="6229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2C55E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免配置发现</a:t>
              </a:r>
              <a:endParaRPr lang="zh-CN" sz="900" dirty="0">
                <a:solidFill>
                  <a:srgbClr val="22C55E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3" name="Ellipse 23"/>
            <p:cNvSpPr/>
            <p:nvPr/>
          </p:nvSpPr>
          <p:spPr>
            <a:xfrm>
              <a:off x="8048625" y="4048125"/>
              <a:ext cx="1047750" cy="1047750"/>
            </a:xfrm>
            <a:prstGeom prst="ellipse">
              <a:avLst/>
            </a:prstGeom>
            <a:solidFill>
              <a:srgbClr val="2D5F8A">
                <a:alpha val="20000"/>
              </a:srgbClr>
            </a:solidFill>
            <a:ln w="28575">
              <a:solidFill>
                <a:srgbClr val="2D5F8A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163131" y="4331018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GridYard</a:t>
              </a:r>
              <a:endParaRPr lang="zh-CN" sz="135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238327" y="4609624"/>
              <a:ext cx="6683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局域网 P2P</a:t>
              </a:r>
              <a:endParaRPr lang="zh-CN" sz="975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00085" y="4800124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完整闭环</a:t>
              </a:r>
              <a:endParaRPr lang="zh-CN" sz="975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76250" y="4095750"/>
            <a:ext cx="2476500" cy="2190750"/>
            <a:chOff x="476250" y="4095750"/>
            <a:chExt cx="2476500" cy="2190750"/>
          </a:xfrm>
        </p:grpSpPr>
        <p:sp>
          <p:nvSpPr>
            <p:cNvPr id="28" name="Rectangle 28"/>
            <p:cNvSpPr/>
            <p:nvPr/>
          </p:nvSpPr>
          <p:spPr>
            <a:xfrm>
              <a:off x="476250" y="4095750"/>
              <a:ext cx="2476500" cy="2190750"/>
            </a:xfrm>
            <a:prstGeom prst="roundRect">
              <a:avLst>
                <a:gd name="adj" fmla="val 5217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44855" y="43310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293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设计取舍</a:t>
              </a:r>
              <a:endParaRPr lang="zh-CN" sz="1350" b="1" dirty="0">
                <a:solidFill>
                  <a:srgbClr val="1E293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2000" y="4667250"/>
              <a:ext cx="1905000" cy="304800"/>
            </a:xfrm>
            <a:prstGeom prst="roundRect">
              <a:avLst>
                <a:gd name="adj" fmla="val 50000"/>
              </a:avLst>
            </a:prstGeom>
            <a:solidFill>
              <a:srgbClr val="2D5F8A">
                <a:alpha val="10000"/>
              </a:srgbClr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263610" y="4763452"/>
              <a:ext cx="9017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借鉴 P2P 思想</a:t>
              </a:r>
              <a:endParaRPr lang="zh-CN" sz="1050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62000" y="5067300"/>
              <a:ext cx="1905000" cy="304800"/>
            </a:xfrm>
            <a:prstGeom prst="roundRect">
              <a:avLst>
                <a:gd name="adj" fmla="val 50000"/>
              </a:avLst>
            </a:prstGeom>
            <a:solidFill>
              <a:srgbClr val="22C55E">
                <a:alpha val="10000"/>
              </a:srgb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351121" y="516350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2C55E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不照搬协议</a:t>
              </a:r>
              <a:endParaRPr lang="zh-CN" sz="1050" dirty="0">
                <a:solidFill>
                  <a:srgbClr val="22C55E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762000" y="5467350"/>
              <a:ext cx="1905000" cy="304800"/>
            </a:xfrm>
            <a:prstGeom prst="roundRect">
              <a:avLst>
                <a:gd name="adj" fmla="val 50000"/>
              </a:avLst>
            </a:prstGeom>
            <a:solidFill>
              <a:srgbClr val="F59E0B">
                <a:alpha val="10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1281112" y="556355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59E0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统一会话体验</a:t>
              </a:r>
              <a:endParaRPr lang="zh-CN" sz="1050" dirty="0">
                <a:solidFill>
                  <a:srgbClr val="F59E0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62000" y="5867400"/>
              <a:ext cx="1905000" cy="304800"/>
            </a:xfrm>
            <a:prstGeom prst="roundRect">
              <a:avLst>
                <a:gd name="adj" fmla="val 50000"/>
              </a:avLst>
            </a:prstGeom>
            <a:solidFill>
              <a:srgbClr val="8B5CF6">
                <a:alpha val="10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211104" y="596360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5CF6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课程工程化交付</a:t>
              </a:r>
              <a:endParaRPr lang="zh-CN" sz="1050" dirty="0">
                <a:solidFill>
                  <a:srgbClr val="8B5CF6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10774204" y="6570345"/>
            <a:ext cx="9529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rPr>
              <a:t>GridYard v6.8.1</a:t>
            </a:r>
            <a:endParaRPr lang="zh-CN" sz="900" dirty="0">
              <a:solidFill>
                <a:srgbClr val="94A3B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3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D5F8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45770" y="217170"/>
            <a:ext cx="11283315" cy="487680"/>
            <a:chOff x="445770" y="217170"/>
            <a:chExt cx="11283315" cy="487680"/>
          </a:xfrm>
        </p:grpSpPr>
        <p:sp>
          <p:nvSpPr>
            <p:cNvPr id="4" name="TextBox 4"/>
            <p:cNvSpPr txBox="1"/>
            <p:nvPr/>
          </p:nvSpPr>
          <p:spPr>
            <a:xfrm>
              <a:off x="445770" y="217170"/>
              <a:ext cx="409346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IPMSG 架构思想的落地方式</a:t>
              </a:r>
              <a:endParaRPr lang="zh-CN" sz="240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476250" y="59055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548396" y="36290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04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476250" y="952500"/>
            <a:ext cx="11239500" cy="5238750"/>
            <a:chOff x="476250" y="952500"/>
            <a:chExt cx="11239500" cy="5238750"/>
          </a:xfrm>
        </p:grpSpPr>
        <p:sp>
          <p:nvSpPr>
            <p:cNvPr id="8" name="Rectangle 8"/>
            <p:cNvSpPr/>
            <p:nvPr/>
          </p:nvSpPr>
          <p:spPr>
            <a:xfrm>
              <a:off x="476250" y="952500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F59E0B">
                <a:alpha val="15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463046" y="11115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59E0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IPMSG 思想</a:t>
              </a:r>
              <a:endParaRPr lang="zh-CN" sz="1350" b="1" dirty="0">
                <a:solidFill>
                  <a:srgbClr val="F59E0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762750" y="952500"/>
              <a:ext cx="4953000" cy="476250"/>
            </a:xfrm>
            <a:prstGeom prst="roundRect">
              <a:avLst>
                <a:gd name="adj" fmla="val 16000"/>
              </a:avLst>
            </a:prstGeom>
            <a:solidFill>
              <a:srgbClr val="2D5F8A">
                <a:alpha val="15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612504" y="1111568"/>
              <a:ext cx="1253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GridYard 落地</a:t>
              </a:r>
              <a:endParaRPr lang="zh-CN" sz="135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2" name="Line 12"/>
            <p:cNvSpPr/>
            <p:nvPr/>
          </p:nvSpPr>
          <p:spPr>
            <a:xfrm>
              <a:off x="5429250" y="1190625"/>
              <a:ext cx="1333500" cy="1"/>
            </a:xfrm>
            <a:prstGeom prst="line">
              <a:avLst/>
            </a:prstGeom>
            <a:noFill/>
            <a:ln w="19050">
              <a:solidFill>
                <a:srgbClr val="CBD5E1"/>
              </a:solidFill>
              <a:tailEnd type="triangle" w="lg" len="lg"/>
            </a:ln>
          </p:spPr>
        </p:sp>
        <p:sp>
          <p:nvSpPr>
            <p:cNvPr id="13" name="Rectangle 13"/>
            <p:cNvSpPr/>
            <p:nvPr/>
          </p:nvSpPr>
          <p:spPr>
            <a:xfrm>
              <a:off x="476250" y="1619250"/>
              <a:ext cx="49530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51510" y="1775460"/>
              <a:ext cx="23827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9E0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每个节点既是客户端也是服务端</a:t>
              </a:r>
              <a:endParaRPr lang="zh-CN" sz="1200" b="1" dirty="0">
                <a:solidFill>
                  <a:srgbClr val="F59E0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53415" y="2058352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双角色模型，同时监听和发起连接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762750" y="1619250"/>
              <a:ext cx="49530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938010" y="1775460"/>
              <a:ext cx="15678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入站监听 + 主动连接</a:t>
              </a:r>
              <a:endParaRPr lang="zh-CN" sz="120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939915" y="2058352"/>
              <a:ext cx="24769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P2pServer 监听，发送端主动 TCP 连接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476250" y="2571750"/>
              <a:ext cx="49530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51510" y="2727960"/>
              <a:ext cx="11982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9E0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UDP 上线与发现</a:t>
              </a:r>
              <a:endParaRPr lang="zh-CN" sz="1200" b="1" dirty="0">
                <a:solidFill>
                  <a:srgbClr val="F59E0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53415" y="3010852"/>
              <a:ext cx="184689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广播通知上线，维护在线状态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762750" y="2571750"/>
              <a:ext cx="49530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938010" y="272796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设备发现与心跳</a:t>
              </a:r>
              <a:endParaRPr lang="zh-CN" sz="120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939915" y="3010852"/>
              <a:ext cx="21409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DiscoveryService UDP 广播 Hello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76250" y="3524250"/>
              <a:ext cx="49530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51510" y="3680460"/>
              <a:ext cx="10302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9E0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TCP 文件传输</a:t>
              </a:r>
              <a:endParaRPr lang="zh-CN" sz="1200" b="1" dirty="0">
                <a:solidFill>
                  <a:srgbClr val="F59E0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3415" y="3963352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可靠有序的字节流传输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762750" y="3524250"/>
              <a:ext cx="49530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938010" y="3680460"/>
              <a:ext cx="176949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文件发送/接收 Worker</a:t>
              </a:r>
              <a:endParaRPr lang="zh-CN" sz="120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39915" y="3963352"/>
              <a:ext cx="268700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FileSenderWorker / FileReceiverWorker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76250" y="4476750"/>
              <a:ext cx="49530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651510" y="4632960"/>
              <a:ext cx="18031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9E0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命令字/选项位分发业务</a:t>
              </a:r>
              <a:endParaRPr lang="zh-CN" sz="1200" b="1" dirty="0">
                <a:solidFill>
                  <a:srgbClr val="F59E0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53415" y="491585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文本命令字区分不同业务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762750" y="4476750"/>
              <a:ext cx="49530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938010" y="4632960"/>
              <a:ext cx="217274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Type 码 + 首帧分流 + TLV 帧</a:t>
              </a:r>
              <a:endParaRPr lang="zh-CN" sz="120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939915" y="4915852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FrameCodec 统一编解码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76250" y="5429250"/>
              <a:ext cx="49530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51510" y="5585460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9E0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多线程处理收发</a:t>
              </a:r>
              <a:endParaRPr lang="zh-CN" sz="1200" b="1" dirty="0">
                <a:solidFill>
                  <a:srgbClr val="F59E0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3415" y="586835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pthread + 共享队列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762750" y="5429250"/>
              <a:ext cx="4953000" cy="7620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38010" y="5585460"/>
              <a:ext cx="222315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Qt Worker-Object + 信号槽</a:t>
              </a:r>
              <a:endParaRPr lang="zh-CN" sz="120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939915" y="5868352"/>
              <a:ext cx="183289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避免手写锁，符合 Qt 技术栈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3714750" y="6286500"/>
            <a:ext cx="4762500" cy="381000"/>
            <a:chOff x="3714750" y="6286500"/>
            <a:chExt cx="4762500" cy="381000"/>
          </a:xfrm>
        </p:grpSpPr>
        <p:sp>
          <p:nvSpPr>
            <p:cNvPr id="44" name="Rectangle 44"/>
            <p:cNvSpPr/>
            <p:nvPr/>
          </p:nvSpPr>
          <p:spPr>
            <a:xfrm>
              <a:off x="3714750" y="6286500"/>
              <a:ext cx="4762500" cy="381000"/>
            </a:xfrm>
            <a:prstGeom prst="roundRect">
              <a:avLst>
                <a:gd name="adj" fmla="val 50000"/>
              </a:avLst>
            </a:prstGeom>
            <a:solidFill>
              <a:srgbClr val="2D5F8A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4904613" y="6404610"/>
              <a:ext cx="238277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借鉴架构思想，不照搬协议实现</a:t>
              </a:r>
              <a:endParaRPr lang="zh-CN" sz="1200" b="1" dirty="0">
                <a:solidFill>
                  <a:srgbClr val="FFFFFF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0774204" y="6570345"/>
            <a:ext cx="9529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rPr>
              <a:t>GridYard v6.8.1</a:t>
            </a:r>
            <a:endParaRPr lang="zh-CN" sz="900" dirty="0">
              <a:solidFill>
                <a:srgbClr val="94A3B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  <p:bldP spid="4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D5F8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45770" y="217170"/>
            <a:ext cx="11283315" cy="487680"/>
            <a:chOff x="445770" y="217170"/>
            <a:chExt cx="11283315" cy="487680"/>
          </a:xfrm>
        </p:grpSpPr>
        <p:sp>
          <p:nvSpPr>
            <p:cNvPr id="4" name="TextBox 4"/>
            <p:cNvSpPr txBox="1"/>
            <p:nvPr/>
          </p:nvSpPr>
          <p:spPr>
            <a:xfrm>
              <a:off x="445770" y="217170"/>
              <a:ext cx="411026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从 0 到 v6.8.1 的持续迭代</a:t>
              </a:r>
              <a:endParaRPr lang="zh-CN" sz="240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476250" y="59055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548396" y="36290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05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62000" y="2393632"/>
            <a:ext cx="10477500" cy="3416618"/>
            <a:chOff x="762000" y="2393632"/>
            <a:chExt cx="10477500" cy="3416618"/>
          </a:xfrm>
        </p:grpSpPr>
        <p:sp>
          <p:nvSpPr>
            <p:cNvPr id="8" name="Line 8"/>
            <p:cNvSpPr/>
            <p:nvPr/>
          </p:nvSpPr>
          <p:spPr>
            <a:xfrm>
              <a:off x="952500" y="28575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28575">
              <a:solidFill>
                <a:srgbClr val="CBD5E1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447800" y="2781300"/>
              <a:ext cx="152400" cy="152400"/>
            </a:xfrm>
            <a:prstGeom prst="ellipse">
              <a:avLst/>
            </a:prstGeom>
            <a:solidFill>
              <a:srgbClr val="2D5F8A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3924300" y="2781300"/>
              <a:ext cx="152400" cy="1524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6400800" y="2781300"/>
              <a:ext cx="152400" cy="1524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8877300" y="2781300"/>
              <a:ext cx="152400" cy="152400"/>
            </a:xfrm>
            <a:prstGeom prst="ellipse">
              <a:avLst/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058314" y="2393632"/>
              <a:ext cx="93137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2026-04</a:t>
              </a:r>
              <a:endParaRPr lang="zh-CN" sz="165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534814" y="2393632"/>
              <a:ext cx="93137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2C55E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2026-05</a:t>
              </a:r>
              <a:endParaRPr lang="zh-CN" sz="1650" b="1" dirty="0">
                <a:solidFill>
                  <a:srgbClr val="22C55E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011314" y="2393632"/>
              <a:ext cx="93137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2026-06</a:t>
              </a:r>
              <a:endParaRPr lang="zh-CN" sz="1650" b="1" dirty="0">
                <a:solidFill>
                  <a:srgbClr val="F59E0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487814" y="2393632"/>
              <a:ext cx="93137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8B5CF6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2026-07</a:t>
              </a:r>
              <a:endParaRPr lang="zh-CN" sz="1650" b="1" dirty="0">
                <a:solidFill>
                  <a:srgbClr val="8B5CF6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3143250"/>
              <a:ext cx="1905000" cy="2667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20686" y="3347085"/>
              <a:ext cx="120662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立项与工程骨架</a:t>
              </a:r>
              <a:endParaRPr lang="zh-CN" sz="120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39165" y="369665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项目初始化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39165" y="39347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目录规划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39165" y="4172902"/>
              <a:ext cx="89477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Qt-QML 连通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9165" y="4411028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CMake 拆分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39165" y="4649152"/>
              <a:ext cx="8247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FrameCodec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238500" y="3143250"/>
              <a:ext cx="1905000" cy="2667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485398" y="3347085"/>
              <a:ext cx="10302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2C55E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P2P 文件传输</a:t>
              </a:r>
              <a:endParaRPr lang="zh-CN" sz="1200" b="1" dirty="0">
                <a:solidFill>
                  <a:srgbClr val="22C55E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415665" y="369665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设备发现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415665" y="3934778"/>
              <a:ext cx="7197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P2pServer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415665" y="4172902"/>
              <a:ext cx="11188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文件收发 Worker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415665" y="4411028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多文件目录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415665" y="4649152"/>
              <a:ext cx="8877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SHA-256 校验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715000" y="3143250"/>
              <a:ext cx="1905000" cy="2667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957697" y="3347085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59E0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体验与数据层</a:t>
              </a:r>
              <a:endParaRPr lang="zh-CN" sz="1200" b="1" dirty="0">
                <a:solidFill>
                  <a:srgbClr val="F59E0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892165" y="3696652"/>
              <a:ext cx="8877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微信式三栏 UI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892165" y="39347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首帧分流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892165" y="4172902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在线聊天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892165" y="4411028"/>
              <a:ext cx="9437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SQLite 持久化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892165" y="464915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统一时间线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191500" y="3143250"/>
              <a:ext cx="1905000" cy="26670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518208" y="3347085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5CF6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发布与答辩</a:t>
              </a:r>
              <a:endParaRPr lang="zh-CN" sz="1200" b="1" dirty="0">
                <a:solidFill>
                  <a:srgbClr val="8B5CF6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368665" y="3696652"/>
              <a:ext cx="95778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AppImage 打包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368665" y="3934778"/>
              <a:ext cx="7897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portable 包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68665" y="4172902"/>
              <a:ext cx="5167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README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68665" y="4411028"/>
              <a:ext cx="999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PPT 与演示材料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368665" y="464915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运行路径修复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0774204" y="6570345"/>
            <a:ext cx="9529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rPr>
              <a:t>GridYard v6.8.1</a:t>
            </a:r>
            <a:endParaRPr lang="zh-CN" sz="900" dirty="0">
              <a:solidFill>
                <a:srgbClr val="94A3B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D5F8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45770" y="217170"/>
            <a:ext cx="11283315" cy="411480"/>
            <a:chOff x="445770" y="217170"/>
            <a:chExt cx="11283315" cy="411480"/>
          </a:xfrm>
        </p:grpSpPr>
        <p:sp>
          <p:nvSpPr>
            <p:cNvPr id="4" name="TextBox 4"/>
            <p:cNvSpPr txBox="1"/>
            <p:nvPr/>
          </p:nvSpPr>
          <p:spPr>
            <a:xfrm>
              <a:off x="445770" y="217170"/>
              <a:ext cx="5626100" cy="3689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Git、文档、测试、发布遵守标准软件工程</a:t>
              </a:r>
              <a:endParaRPr lang="en-US" altLang="zh-CN" sz="240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476250" y="59055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548396" y="36290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06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476250" y="1905000"/>
            <a:ext cx="11239500" cy="2476500"/>
            <a:chOff x="476250" y="1905000"/>
            <a:chExt cx="11239500" cy="2476500"/>
          </a:xfrm>
        </p:grpSpPr>
        <p:sp>
          <p:nvSpPr>
            <p:cNvPr id="8" name="Rectangle 8"/>
            <p:cNvSpPr/>
            <p:nvPr/>
          </p:nvSpPr>
          <p:spPr>
            <a:xfrm>
              <a:off x="476250" y="1905000"/>
              <a:ext cx="1905000" cy="2476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301747" y="2127250"/>
              <a:ext cx="254007" cy="317500"/>
            </a:xfrm>
            <a:custGeom>
              <a:avLst/>
              <a:gdLst/>
              <a:ahLst/>
              <a:cxnLst/>
              <a:rect l="l" t="t" r="r" b="b"/>
              <a:pathLst>
                <a:path w="254007" h="317500">
                  <a:moveTo>
                    <a:pt x="222206" y="34449"/>
                  </a:moveTo>
                  <a:cubicBezTo>
                    <a:pt x="241262" y="41163"/>
                    <a:pt x="254007" y="59171"/>
                    <a:pt x="254003" y="79375"/>
                  </a:cubicBezTo>
                  <a:lnTo>
                    <a:pt x="254003" y="269875"/>
                  </a:lnTo>
                  <a:cubicBezTo>
                    <a:pt x="254003" y="296178"/>
                    <a:pt x="232681" y="317500"/>
                    <a:pt x="206378" y="317500"/>
                  </a:cubicBezTo>
                  <a:lnTo>
                    <a:pt x="47628" y="317500"/>
                  </a:lnTo>
                  <a:cubicBezTo>
                    <a:pt x="21326" y="317500"/>
                    <a:pt x="3" y="296178"/>
                    <a:pt x="3" y="269875"/>
                  </a:cubicBezTo>
                  <a:lnTo>
                    <a:pt x="3" y="79375"/>
                  </a:lnTo>
                  <a:cubicBezTo>
                    <a:pt x="0" y="59171"/>
                    <a:pt x="12745" y="41163"/>
                    <a:pt x="31801" y="34449"/>
                  </a:cubicBezTo>
                  <a:cubicBezTo>
                    <a:pt x="33247" y="68442"/>
                    <a:pt x="61229" y="95255"/>
                    <a:pt x="95253" y="95250"/>
                  </a:cubicBezTo>
                  <a:lnTo>
                    <a:pt x="158753" y="95250"/>
                  </a:lnTo>
                  <a:cubicBezTo>
                    <a:pt x="191348" y="95253"/>
                    <a:pt x="218652" y="70577"/>
                    <a:pt x="221936" y="38148"/>
                  </a:cubicBezTo>
                  <a:close/>
                  <a:moveTo>
                    <a:pt x="79537" y="206375"/>
                  </a:moveTo>
                  <a:lnTo>
                    <a:pt x="79378" y="206375"/>
                  </a:lnTo>
                  <a:cubicBezTo>
                    <a:pt x="70979" y="206384"/>
                    <a:pt x="64041" y="212935"/>
                    <a:pt x="63548" y="221320"/>
                  </a:cubicBezTo>
                  <a:cubicBezTo>
                    <a:pt x="63056" y="229705"/>
                    <a:pt x="69181" y="237022"/>
                    <a:pt x="77521" y="238014"/>
                  </a:cubicBezTo>
                  <a:lnTo>
                    <a:pt x="79537" y="238125"/>
                  </a:lnTo>
                  <a:cubicBezTo>
                    <a:pt x="88305" y="238125"/>
                    <a:pt x="95412" y="231018"/>
                    <a:pt x="95412" y="222250"/>
                  </a:cubicBezTo>
                  <a:cubicBezTo>
                    <a:pt x="95412" y="213482"/>
                    <a:pt x="88305" y="206375"/>
                    <a:pt x="79537" y="206375"/>
                  </a:cubicBezTo>
                  <a:moveTo>
                    <a:pt x="174628" y="206375"/>
                  </a:moveTo>
                  <a:lnTo>
                    <a:pt x="142878" y="206375"/>
                  </a:lnTo>
                  <a:cubicBezTo>
                    <a:pt x="134111" y="206375"/>
                    <a:pt x="127003" y="213482"/>
                    <a:pt x="127003" y="222250"/>
                  </a:cubicBezTo>
                  <a:cubicBezTo>
                    <a:pt x="127003" y="231018"/>
                    <a:pt x="134111" y="238125"/>
                    <a:pt x="142878" y="238125"/>
                  </a:cubicBezTo>
                  <a:lnTo>
                    <a:pt x="174628" y="238125"/>
                  </a:lnTo>
                  <a:cubicBezTo>
                    <a:pt x="183396" y="238125"/>
                    <a:pt x="190503" y="231018"/>
                    <a:pt x="190503" y="222250"/>
                  </a:cubicBezTo>
                  <a:cubicBezTo>
                    <a:pt x="190503" y="213482"/>
                    <a:pt x="183396" y="206375"/>
                    <a:pt x="174628" y="206375"/>
                  </a:cubicBezTo>
                  <a:moveTo>
                    <a:pt x="79537" y="142875"/>
                  </a:moveTo>
                  <a:lnTo>
                    <a:pt x="79378" y="142875"/>
                  </a:lnTo>
                  <a:cubicBezTo>
                    <a:pt x="70979" y="142884"/>
                    <a:pt x="64041" y="149435"/>
                    <a:pt x="63548" y="157820"/>
                  </a:cubicBezTo>
                  <a:cubicBezTo>
                    <a:pt x="63056" y="166205"/>
                    <a:pt x="69181" y="173522"/>
                    <a:pt x="77521" y="174514"/>
                  </a:cubicBezTo>
                  <a:lnTo>
                    <a:pt x="79537" y="174625"/>
                  </a:lnTo>
                  <a:cubicBezTo>
                    <a:pt x="88305" y="174625"/>
                    <a:pt x="95412" y="167518"/>
                    <a:pt x="95412" y="158750"/>
                  </a:cubicBezTo>
                  <a:cubicBezTo>
                    <a:pt x="95412" y="149982"/>
                    <a:pt x="88305" y="142875"/>
                    <a:pt x="79537" y="142875"/>
                  </a:cubicBezTo>
                  <a:moveTo>
                    <a:pt x="174628" y="142875"/>
                  </a:moveTo>
                  <a:lnTo>
                    <a:pt x="142878" y="142875"/>
                  </a:lnTo>
                  <a:cubicBezTo>
                    <a:pt x="134111" y="142875"/>
                    <a:pt x="127003" y="149982"/>
                    <a:pt x="127003" y="158750"/>
                  </a:cubicBezTo>
                  <a:cubicBezTo>
                    <a:pt x="127003" y="167518"/>
                    <a:pt x="134111" y="174625"/>
                    <a:pt x="142878" y="174625"/>
                  </a:cubicBezTo>
                  <a:lnTo>
                    <a:pt x="174628" y="174625"/>
                  </a:lnTo>
                  <a:cubicBezTo>
                    <a:pt x="183396" y="174625"/>
                    <a:pt x="190503" y="167518"/>
                    <a:pt x="190503" y="158750"/>
                  </a:cubicBezTo>
                  <a:cubicBezTo>
                    <a:pt x="190503" y="149982"/>
                    <a:pt x="183396" y="142875"/>
                    <a:pt x="174628" y="142875"/>
                  </a:cubicBezTo>
                  <a:moveTo>
                    <a:pt x="158753" y="0"/>
                  </a:moveTo>
                  <a:cubicBezTo>
                    <a:pt x="176289" y="0"/>
                    <a:pt x="190503" y="14215"/>
                    <a:pt x="190503" y="31750"/>
                  </a:cubicBezTo>
                  <a:cubicBezTo>
                    <a:pt x="190503" y="49285"/>
                    <a:pt x="176289" y="63500"/>
                    <a:pt x="158753" y="63500"/>
                  </a:cubicBezTo>
                  <a:lnTo>
                    <a:pt x="95253" y="63500"/>
                  </a:lnTo>
                  <a:cubicBezTo>
                    <a:pt x="77718" y="63500"/>
                    <a:pt x="63503" y="49285"/>
                    <a:pt x="63503" y="31750"/>
                  </a:cubicBezTo>
                  <a:cubicBezTo>
                    <a:pt x="63503" y="14215"/>
                    <a:pt x="77718" y="0"/>
                    <a:pt x="95253" y="0"/>
                  </a:cubicBezTo>
                  <a:close/>
                </a:path>
              </a:pathLst>
            </a:custGeom>
            <a:solidFill>
              <a:srgbClr val="2D5F8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02671" y="2537460"/>
              <a:ext cx="6521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Git 提交</a:t>
              </a:r>
              <a:endParaRPr lang="zh-CN" sz="120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74312" y="2847499"/>
              <a:ext cx="90887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2026-04-03 到</a:t>
              </a:r>
              <a:endParaRPr lang="zh-CN" sz="97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58823" y="3037999"/>
              <a:ext cx="7398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2026-07-03</a:t>
              </a:r>
              <a:endParaRPr lang="zh-CN" sz="97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56335" y="3323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持续迭代</a:t>
              </a:r>
              <a:endParaRPr lang="zh-CN" sz="97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952500" y="3714750"/>
              <a:ext cx="1333500" cy="476250"/>
            </a:xfrm>
            <a:prstGeom prst="roundRect">
              <a:avLst>
                <a:gd name="adj" fmla="val 12000"/>
              </a:avLst>
            </a:prstGeom>
            <a:solidFill>
              <a:srgbClr val="F8FAFB"/>
            </a:solidFill>
            <a:ln w="9525">
              <a:solidFill>
                <a:srgbClr val="E2E8F0"/>
              </a:solidFill>
              <a:prstDash val="dash"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163764" y="3903345"/>
              <a:ext cx="91097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Git log 截图占位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6" name="Polygon 16"/>
            <p:cNvSpPr/>
            <p:nvPr/>
          </p:nvSpPr>
          <p:spPr>
            <a:xfrm rot="10800000">
              <a:off x="2381250" y="29527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190500"/>
                  </a:moveTo>
                  <a:lnTo>
                    <a:pt x="381000" y="0"/>
                  </a:lnTo>
                  <a:lnTo>
                    <a:pt x="381000" y="38100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2762250" y="1905000"/>
              <a:ext cx="1905000" cy="2476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3587747" y="2127250"/>
              <a:ext cx="254007" cy="317500"/>
            </a:xfrm>
            <a:custGeom>
              <a:avLst/>
              <a:gdLst/>
              <a:ahLst/>
              <a:cxnLst/>
              <a:rect l="l" t="t" r="r" b="b"/>
              <a:pathLst>
                <a:path w="254007" h="317500">
                  <a:moveTo>
                    <a:pt x="222206" y="34449"/>
                  </a:moveTo>
                  <a:cubicBezTo>
                    <a:pt x="241262" y="41163"/>
                    <a:pt x="254007" y="59171"/>
                    <a:pt x="254003" y="79375"/>
                  </a:cubicBezTo>
                  <a:lnTo>
                    <a:pt x="254003" y="269875"/>
                  </a:lnTo>
                  <a:cubicBezTo>
                    <a:pt x="254003" y="296178"/>
                    <a:pt x="232681" y="317500"/>
                    <a:pt x="206378" y="317500"/>
                  </a:cubicBezTo>
                  <a:lnTo>
                    <a:pt x="47628" y="317500"/>
                  </a:lnTo>
                  <a:cubicBezTo>
                    <a:pt x="21326" y="317500"/>
                    <a:pt x="3" y="296178"/>
                    <a:pt x="3" y="269875"/>
                  </a:cubicBezTo>
                  <a:lnTo>
                    <a:pt x="3" y="79375"/>
                  </a:lnTo>
                  <a:cubicBezTo>
                    <a:pt x="0" y="59171"/>
                    <a:pt x="12745" y="41163"/>
                    <a:pt x="31801" y="34449"/>
                  </a:cubicBezTo>
                  <a:cubicBezTo>
                    <a:pt x="33247" y="68442"/>
                    <a:pt x="61229" y="95255"/>
                    <a:pt x="95253" y="95250"/>
                  </a:cubicBezTo>
                  <a:lnTo>
                    <a:pt x="158753" y="95250"/>
                  </a:lnTo>
                  <a:cubicBezTo>
                    <a:pt x="191348" y="95253"/>
                    <a:pt x="218652" y="70577"/>
                    <a:pt x="221936" y="38148"/>
                  </a:cubicBezTo>
                  <a:close/>
                  <a:moveTo>
                    <a:pt x="79537" y="206375"/>
                  </a:moveTo>
                  <a:lnTo>
                    <a:pt x="79378" y="206375"/>
                  </a:lnTo>
                  <a:cubicBezTo>
                    <a:pt x="70979" y="206384"/>
                    <a:pt x="64041" y="212935"/>
                    <a:pt x="63548" y="221320"/>
                  </a:cubicBezTo>
                  <a:cubicBezTo>
                    <a:pt x="63056" y="229705"/>
                    <a:pt x="69181" y="237022"/>
                    <a:pt x="77521" y="238014"/>
                  </a:cubicBezTo>
                  <a:lnTo>
                    <a:pt x="79537" y="238125"/>
                  </a:lnTo>
                  <a:cubicBezTo>
                    <a:pt x="88305" y="238125"/>
                    <a:pt x="95412" y="231018"/>
                    <a:pt x="95412" y="222250"/>
                  </a:cubicBezTo>
                  <a:cubicBezTo>
                    <a:pt x="95412" y="213482"/>
                    <a:pt x="88305" y="206375"/>
                    <a:pt x="79537" y="206375"/>
                  </a:cubicBezTo>
                  <a:moveTo>
                    <a:pt x="174628" y="206375"/>
                  </a:moveTo>
                  <a:lnTo>
                    <a:pt x="142878" y="206375"/>
                  </a:lnTo>
                  <a:cubicBezTo>
                    <a:pt x="134111" y="206375"/>
                    <a:pt x="127003" y="213482"/>
                    <a:pt x="127003" y="222250"/>
                  </a:cubicBezTo>
                  <a:cubicBezTo>
                    <a:pt x="127003" y="231018"/>
                    <a:pt x="134111" y="238125"/>
                    <a:pt x="142878" y="238125"/>
                  </a:cubicBezTo>
                  <a:lnTo>
                    <a:pt x="174628" y="238125"/>
                  </a:lnTo>
                  <a:cubicBezTo>
                    <a:pt x="183396" y="238125"/>
                    <a:pt x="190503" y="231018"/>
                    <a:pt x="190503" y="222250"/>
                  </a:cubicBezTo>
                  <a:cubicBezTo>
                    <a:pt x="190503" y="213482"/>
                    <a:pt x="183396" y="206375"/>
                    <a:pt x="174628" y="206375"/>
                  </a:cubicBezTo>
                  <a:moveTo>
                    <a:pt x="79537" y="142875"/>
                  </a:moveTo>
                  <a:lnTo>
                    <a:pt x="79378" y="142875"/>
                  </a:lnTo>
                  <a:cubicBezTo>
                    <a:pt x="70979" y="142884"/>
                    <a:pt x="64041" y="149435"/>
                    <a:pt x="63548" y="157820"/>
                  </a:cubicBezTo>
                  <a:cubicBezTo>
                    <a:pt x="63056" y="166205"/>
                    <a:pt x="69181" y="173522"/>
                    <a:pt x="77521" y="174514"/>
                  </a:cubicBezTo>
                  <a:lnTo>
                    <a:pt x="79537" y="174625"/>
                  </a:lnTo>
                  <a:cubicBezTo>
                    <a:pt x="88305" y="174625"/>
                    <a:pt x="95412" y="167518"/>
                    <a:pt x="95412" y="158750"/>
                  </a:cubicBezTo>
                  <a:cubicBezTo>
                    <a:pt x="95412" y="149982"/>
                    <a:pt x="88305" y="142875"/>
                    <a:pt x="79537" y="142875"/>
                  </a:cubicBezTo>
                  <a:moveTo>
                    <a:pt x="174628" y="142875"/>
                  </a:moveTo>
                  <a:lnTo>
                    <a:pt x="142878" y="142875"/>
                  </a:lnTo>
                  <a:cubicBezTo>
                    <a:pt x="134111" y="142875"/>
                    <a:pt x="127003" y="149982"/>
                    <a:pt x="127003" y="158750"/>
                  </a:cubicBezTo>
                  <a:cubicBezTo>
                    <a:pt x="127003" y="167518"/>
                    <a:pt x="134111" y="174625"/>
                    <a:pt x="142878" y="174625"/>
                  </a:cubicBezTo>
                  <a:lnTo>
                    <a:pt x="174628" y="174625"/>
                  </a:lnTo>
                  <a:cubicBezTo>
                    <a:pt x="183396" y="174625"/>
                    <a:pt x="190503" y="167518"/>
                    <a:pt x="190503" y="158750"/>
                  </a:cubicBezTo>
                  <a:cubicBezTo>
                    <a:pt x="190503" y="149982"/>
                    <a:pt x="183396" y="142875"/>
                    <a:pt x="174628" y="142875"/>
                  </a:cubicBezTo>
                  <a:moveTo>
                    <a:pt x="158753" y="0"/>
                  </a:moveTo>
                  <a:cubicBezTo>
                    <a:pt x="176289" y="0"/>
                    <a:pt x="190503" y="14215"/>
                    <a:pt x="190503" y="31750"/>
                  </a:cubicBezTo>
                  <a:cubicBezTo>
                    <a:pt x="190503" y="49285"/>
                    <a:pt x="176289" y="63500"/>
                    <a:pt x="158753" y="63500"/>
                  </a:cubicBezTo>
                  <a:lnTo>
                    <a:pt x="95253" y="63500"/>
                  </a:lnTo>
                  <a:cubicBezTo>
                    <a:pt x="77718" y="63500"/>
                    <a:pt x="63503" y="49285"/>
                    <a:pt x="63503" y="31750"/>
                  </a:cubicBezTo>
                  <a:cubicBezTo>
                    <a:pt x="63503" y="14215"/>
                    <a:pt x="77718" y="0"/>
                    <a:pt x="95253" y="0"/>
                  </a:cubicBez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363468" y="25374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2C55E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阶段计划</a:t>
              </a:r>
              <a:endParaRPr lang="zh-CN" sz="1200" b="1" dirty="0">
                <a:solidFill>
                  <a:srgbClr val="22C55E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396829" y="2847499"/>
              <a:ext cx="6358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Stage 0-6</a:t>
              </a:r>
              <a:endParaRPr lang="zh-CN" sz="97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42335" y="303799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任务拆解</a:t>
              </a:r>
              <a:endParaRPr lang="zh-CN" sz="97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442335" y="3323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边界明确</a:t>
              </a:r>
              <a:endParaRPr lang="zh-CN" sz="97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238500" y="3714750"/>
              <a:ext cx="1333500" cy="476250"/>
            </a:xfrm>
            <a:prstGeom prst="roundRect">
              <a:avLst>
                <a:gd name="adj" fmla="val 12000"/>
              </a:avLst>
            </a:prstGeom>
            <a:solidFill>
              <a:srgbClr val="F8FAFB"/>
            </a:solidFill>
            <a:ln w="9525">
              <a:solidFill>
                <a:srgbClr val="E2E8F0"/>
              </a:solidFill>
              <a:prstDash val="dash"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413760" y="3903345"/>
              <a:ext cx="98298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计划文档截图占位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5" name="Polygon 25"/>
            <p:cNvSpPr/>
            <p:nvPr/>
          </p:nvSpPr>
          <p:spPr>
            <a:xfrm rot="10800000">
              <a:off x="4667250" y="29527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190500"/>
                  </a:moveTo>
                  <a:lnTo>
                    <a:pt x="381000" y="0"/>
                  </a:lnTo>
                  <a:lnTo>
                    <a:pt x="381000" y="38100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048250" y="1905000"/>
              <a:ext cx="1905000" cy="2476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5857875" y="2143125"/>
              <a:ext cx="285750" cy="285750"/>
              <a:chOff x="5857875" y="2143125"/>
              <a:chExt cx="285750" cy="28575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5857875" y="2143125"/>
                <a:ext cx="127000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11125">
                    <a:moveTo>
                      <a:pt x="79375" y="0"/>
                    </a:moveTo>
                    <a:cubicBezTo>
                      <a:pt x="105678" y="0"/>
                      <a:pt x="127000" y="21322"/>
                      <a:pt x="127000" y="47625"/>
                    </a:cubicBezTo>
                    <a:lnTo>
                      <a:pt x="127000" y="63500"/>
                    </a:lnTo>
                    <a:cubicBezTo>
                      <a:pt x="127000" y="89803"/>
                      <a:pt x="105678" y="111125"/>
                      <a:pt x="79375" y="111125"/>
                    </a:cubicBezTo>
                    <a:lnTo>
                      <a:pt x="47625" y="111125"/>
                    </a:lnTo>
                    <a:cubicBezTo>
                      <a:pt x="21322" y="111125"/>
                      <a:pt x="0" y="89803"/>
                      <a:pt x="0" y="63500"/>
                    </a:cubicBez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5857875" y="2286000"/>
                <a:ext cx="127000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142875">
                    <a:moveTo>
                      <a:pt x="79375" y="0"/>
                    </a:moveTo>
                    <a:cubicBezTo>
                      <a:pt x="105678" y="0"/>
                      <a:pt x="127000" y="21322"/>
                      <a:pt x="127000" y="47625"/>
                    </a:cubicBezTo>
                    <a:lnTo>
                      <a:pt x="127000" y="95250"/>
                    </a:lnTo>
                    <a:cubicBezTo>
                      <a:pt x="127000" y="121553"/>
                      <a:pt x="105678" y="142875"/>
                      <a:pt x="79375" y="142875"/>
                    </a:cubicBezTo>
                    <a:lnTo>
                      <a:pt x="47625" y="142875"/>
                    </a:lnTo>
                    <a:cubicBezTo>
                      <a:pt x="21322" y="142875"/>
                      <a:pt x="0" y="121553"/>
                      <a:pt x="0" y="95250"/>
                    </a:cubicBez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016625" y="2143125"/>
                <a:ext cx="1270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285750">
                    <a:moveTo>
                      <a:pt x="79375" y="0"/>
                    </a:moveTo>
                    <a:cubicBezTo>
                      <a:pt x="105678" y="0"/>
                      <a:pt x="127000" y="21322"/>
                      <a:pt x="127000" y="47625"/>
                    </a:cubicBezTo>
                    <a:lnTo>
                      <a:pt x="127000" y="238125"/>
                    </a:lnTo>
                    <a:cubicBezTo>
                      <a:pt x="127000" y="264428"/>
                      <a:pt x="105678" y="285750"/>
                      <a:pt x="79375" y="285750"/>
                    </a:cubicBezTo>
                    <a:lnTo>
                      <a:pt x="47625" y="285750"/>
                    </a:lnTo>
                    <a:cubicBezTo>
                      <a:pt x="21322" y="285750"/>
                      <a:pt x="0" y="264428"/>
                      <a:pt x="0" y="238125"/>
                    </a:cubicBezTo>
                    <a:lnTo>
                      <a:pt x="0" y="47625"/>
                    </a:lnTo>
                    <a:cubicBezTo>
                      <a:pt x="0" y="21322"/>
                      <a:pt x="21322" y="0"/>
                      <a:pt x="47625" y="0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5666270" y="2537460"/>
              <a:ext cx="6689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59E0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UML/API</a:t>
              </a:r>
              <a:endParaRPr lang="zh-CN" sz="1200" b="1" dirty="0">
                <a:solidFill>
                  <a:srgbClr val="F59E0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663327" y="284749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架构与设计</a:t>
              </a:r>
              <a:endParaRPr lang="zh-CN" sz="97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598319" y="303799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文档互相对应</a:t>
              </a:r>
              <a:endParaRPr lang="zh-CN" sz="97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598319" y="332374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模块职责清晰</a:t>
              </a:r>
              <a:endParaRPr lang="zh-CN" sz="97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524500" y="3714750"/>
              <a:ext cx="1333500" cy="476250"/>
            </a:xfrm>
            <a:prstGeom prst="roundRect">
              <a:avLst>
                <a:gd name="adj" fmla="val 12000"/>
              </a:avLst>
            </a:prstGeom>
            <a:solidFill>
              <a:srgbClr val="F8FAFB"/>
            </a:solidFill>
            <a:ln w="9525">
              <a:solidFill>
                <a:srgbClr val="E2E8F0"/>
              </a:solidFill>
              <a:prstDash val="dash"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810774" y="3903345"/>
              <a:ext cx="76095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UML 截图占位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7" name="Polygon 37"/>
            <p:cNvSpPr/>
            <p:nvPr/>
          </p:nvSpPr>
          <p:spPr>
            <a:xfrm rot="10800000">
              <a:off x="6953250" y="29527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190500"/>
                  </a:moveTo>
                  <a:lnTo>
                    <a:pt x="381000" y="0"/>
                  </a:lnTo>
                  <a:lnTo>
                    <a:pt x="381000" y="38100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334250" y="1905000"/>
              <a:ext cx="1905000" cy="2476500"/>
            </a:xfrm>
            <a:prstGeom prst="roundRect">
              <a:avLst>
                <a:gd name="adj" fmla="val 6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9" name="Freeform 39"/>
            <p:cNvSpPr/>
            <p:nvPr/>
          </p:nvSpPr>
          <p:spPr>
            <a:xfrm>
              <a:off x="8159747" y="2127250"/>
              <a:ext cx="254007" cy="317500"/>
            </a:xfrm>
            <a:custGeom>
              <a:avLst/>
              <a:gdLst/>
              <a:ahLst/>
              <a:cxnLst/>
              <a:rect l="l" t="t" r="r" b="b"/>
              <a:pathLst>
                <a:path w="254007" h="317500">
                  <a:moveTo>
                    <a:pt x="222206" y="34449"/>
                  </a:moveTo>
                  <a:cubicBezTo>
                    <a:pt x="241262" y="41163"/>
                    <a:pt x="254007" y="59171"/>
                    <a:pt x="254003" y="79375"/>
                  </a:cubicBezTo>
                  <a:lnTo>
                    <a:pt x="254003" y="269875"/>
                  </a:lnTo>
                  <a:cubicBezTo>
                    <a:pt x="254003" y="296178"/>
                    <a:pt x="232681" y="317500"/>
                    <a:pt x="206378" y="317500"/>
                  </a:cubicBezTo>
                  <a:lnTo>
                    <a:pt x="47628" y="317500"/>
                  </a:lnTo>
                  <a:cubicBezTo>
                    <a:pt x="21326" y="317500"/>
                    <a:pt x="3" y="296178"/>
                    <a:pt x="3" y="269875"/>
                  </a:cubicBezTo>
                  <a:lnTo>
                    <a:pt x="3" y="79375"/>
                  </a:lnTo>
                  <a:cubicBezTo>
                    <a:pt x="0" y="59171"/>
                    <a:pt x="12745" y="41163"/>
                    <a:pt x="31801" y="34449"/>
                  </a:cubicBezTo>
                  <a:cubicBezTo>
                    <a:pt x="33247" y="68442"/>
                    <a:pt x="61229" y="95255"/>
                    <a:pt x="95253" y="95250"/>
                  </a:cubicBezTo>
                  <a:lnTo>
                    <a:pt x="158753" y="95250"/>
                  </a:lnTo>
                  <a:cubicBezTo>
                    <a:pt x="191348" y="95253"/>
                    <a:pt x="218652" y="70577"/>
                    <a:pt x="221936" y="38148"/>
                  </a:cubicBezTo>
                  <a:close/>
                  <a:moveTo>
                    <a:pt x="163405" y="147526"/>
                  </a:moveTo>
                  <a:lnTo>
                    <a:pt x="111128" y="199787"/>
                  </a:lnTo>
                  <a:lnTo>
                    <a:pt x="90602" y="179276"/>
                  </a:lnTo>
                  <a:cubicBezTo>
                    <a:pt x="86616" y="175150"/>
                    <a:pt x="80714" y="173495"/>
                    <a:pt x="75164" y="174947"/>
                  </a:cubicBezTo>
                  <a:cubicBezTo>
                    <a:pt x="69613" y="176400"/>
                    <a:pt x="65279" y="180735"/>
                    <a:pt x="63826" y="186285"/>
                  </a:cubicBezTo>
                  <a:cubicBezTo>
                    <a:pt x="62373" y="191835"/>
                    <a:pt x="64028" y="197738"/>
                    <a:pt x="68155" y="201724"/>
                  </a:cubicBezTo>
                  <a:lnTo>
                    <a:pt x="99905" y="233474"/>
                  </a:lnTo>
                  <a:cubicBezTo>
                    <a:pt x="106104" y="239671"/>
                    <a:pt x="116153" y="239671"/>
                    <a:pt x="122352" y="233474"/>
                  </a:cubicBezTo>
                  <a:lnTo>
                    <a:pt x="185852" y="169974"/>
                  </a:lnTo>
                  <a:cubicBezTo>
                    <a:pt x="191868" y="163745"/>
                    <a:pt x="191782" y="153843"/>
                    <a:pt x="185659" y="147720"/>
                  </a:cubicBezTo>
                  <a:cubicBezTo>
                    <a:pt x="179535" y="141596"/>
                    <a:pt x="169634" y="141510"/>
                    <a:pt x="163405" y="147526"/>
                  </a:cubicBezTo>
                  <a:moveTo>
                    <a:pt x="158753" y="0"/>
                  </a:moveTo>
                  <a:cubicBezTo>
                    <a:pt x="176289" y="0"/>
                    <a:pt x="190503" y="14215"/>
                    <a:pt x="190503" y="31750"/>
                  </a:cubicBezTo>
                  <a:cubicBezTo>
                    <a:pt x="190503" y="49285"/>
                    <a:pt x="176289" y="63500"/>
                    <a:pt x="158753" y="63500"/>
                  </a:cubicBezTo>
                  <a:lnTo>
                    <a:pt x="95253" y="63500"/>
                  </a:lnTo>
                  <a:cubicBezTo>
                    <a:pt x="77718" y="63500"/>
                    <a:pt x="63503" y="49285"/>
                    <a:pt x="63503" y="31750"/>
                  </a:cubicBezTo>
                  <a:cubicBezTo>
                    <a:pt x="63503" y="14215"/>
                    <a:pt x="77718" y="0"/>
                    <a:pt x="95253" y="0"/>
                  </a:cubicBezTo>
                  <a:close/>
                </a:path>
              </a:pathLst>
            </a:custGeom>
            <a:solidFill>
              <a:srgbClr val="8B5CF6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851458" y="253746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5CF6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测试与日志</a:t>
              </a:r>
              <a:endParaRPr lang="zh-CN" sz="1200" b="1" dirty="0">
                <a:solidFill>
                  <a:srgbClr val="8B5CF6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7946076" y="2847499"/>
              <a:ext cx="68134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CTest 目标</a:t>
              </a:r>
              <a:endParaRPr lang="zh-CN" sz="97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49327" y="303799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双实例验证</a:t>
              </a:r>
              <a:endParaRPr lang="zh-CN" sz="97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014335" y="3323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日志留痕</a:t>
              </a:r>
              <a:endParaRPr lang="zh-CN" sz="97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810500" y="3714750"/>
              <a:ext cx="1333500" cy="476250"/>
            </a:xfrm>
            <a:prstGeom prst="roundRect">
              <a:avLst>
                <a:gd name="adj" fmla="val 12000"/>
              </a:avLst>
            </a:prstGeom>
            <a:solidFill>
              <a:srgbClr val="F8FAFB"/>
            </a:solidFill>
            <a:ln w="9525">
              <a:solidFill>
                <a:srgbClr val="E2E8F0"/>
              </a:solidFill>
              <a:prstDash val="dash"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042767" y="3903345"/>
              <a:ext cx="86896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CTest 截图占位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6" name="Polygon 46"/>
            <p:cNvSpPr/>
            <p:nvPr/>
          </p:nvSpPr>
          <p:spPr>
            <a:xfrm rot="10800000">
              <a:off x="9239250" y="29527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190500"/>
                  </a:moveTo>
                  <a:lnTo>
                    <a:pt x="381000" y="0"/>
                  </a:lnTo>
                  <a:lnTo>
                    <a:pt x="381000" y="38100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9620250" y="1905000"/>
              <a:ext cx="2095500" cy="247650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10525125" y="2143125"/>
              <a:ext cx="285750" cy="301625"/>
            </a:xfrm>
            <a:custGeom>
              <a:avLst/>
              <a:gdLst/>
              <a:ahLst/>
              <a:cxnLst/>
              <a:rect l="l" t="t" r="r" b="b"/>
              <a:pathLst>
                <a:path w="285750" h="301625">
                  <a:moveTo>
                    <a:pt x="269875" y="206375"/>
                  </a:moveTo>
                  <a:cubicBezTo>
                    <a:pt x="278643" y="206375"/>
                    <a:pt x="285750" y="213482"/>
                    <a:pt x="285750" y="222250"/>
                  </a:cubicBezTo>
                  <a:lnTo>
                    <a:pt x="285750" y="254000"/>
                  </a:lnTo>
                  <a:cubicBezTo>
                    <a:pt x="285750" y="280303"/>
                    <a:pt x="264428" y="301625"/>
                    <a:pt x="238125" y="301625"/>
                  </a:cubicBezTo>
                  <a:lnTo>
                    <a:pt x="47625" y="301625"/>
                  </a:lnTo>
                  <a:cubicBezTo>
                    <a:pt x="21322" y="301625"/>
                    <a:pt x="0" y="280303"/>
                    <a:pt x="0" y="254000"/>
                  </a:cubicBezTo>
                  <a:lnTo>
                    <a:pt x="0" y="222250"/>
                  </a:lnTo>
                  <a:cubicBezTo>
                    <a:pt x="0" y="213482"/>
                    <a:pt x="7107" y="206375"/>
                    <a:pt x="15875" y="206375"/>
                  </a:cubicBezTo>
                  <a:cubicBezTo>
                    <a:pt x="24643" y="206375"/>
                    <a:pt x="31750" y="213482"/>
                    <a:pt x="31750" y="222250"/>
                  </a:cubicBezTo>
                  <a:lnTo>
                    <a:pt x="31750" y="254000"/>
                  </a:lnTo>
                  <a:cubicBezTo>
                    <a:pt x="31750" y="262768"/>
                    <a:pt x="38857" y="269875"/>
                    <a:pt x="47625" y="269875"/>
                  </a:cubicBezTo>
                  <a:lnTo>
                    <a:pt x="238125" y="269875"/>
                  </a:lnTo>
                  <a:cubicBezTo>
                    <a:pt x="246893" y="269875"/>
                    <a:pt x="254000" y="262768"/>
                    <a:pt x="254000" y="254000"/>
                  </a:cubicBezTo>
                  <a:lnTo>
                    <a:pt x="254000" y="222250"/>
                  </a:lnTo>
                  <a:cubicBezTo>
                    <a:pt x="254000" y="213482"/>
                    <a:pt x="261107" y="206375"/>
                    <a:pt x="269875" y="206375"/>
                  </a:cubicBezTo>
                  <a:moveTo>
                    <a:pt x="142875" y="0"/>
                  </a:moveTo>
                  <a:cubicBezTo>
                    <a:pt x="151643" y="0"/>
                    <a:pt x="158750" y="7107"/>
                    <a:pt x="158750" y="15875"/>
                  </a:cubicBezTo>
                  <a:lnTo>
                    <a:pt x="158750" y="168037"/>
                  </a:lnTo>
                  <a:lnTo>
                    <a:pt x="211026" y="115776"/>
                  </a:lnTo>
                  <a:cubicBezTo>
                    <a:pt x="217255" y="109760"/>
                    <a:pt x="227157" y="109846"/>
                    <a:pt x="233280" y="115970"/>
                  </a:cubicBezTo>
                  <a:cubicBezTo>
                    <a:pt x="239404" y="122093"/>
                    <a:pt x="239490" y="131995"/>
                    <a:pt x="233474" y="138224"/>
                  </a:cubicBezTo>
                  <a:lnTo>
                    <a:pt x="154099" y="217599"/>
                  </a:lnTo>
                  <a:cubicBezTo>
                    <a:pt x="153648" y="218050"/>
                    <a:pt x="153171" y="218474"/>
                    <a:pt x="152670" y="218869"/>
                  </a:cubicBezTo>
                  <a:lnTo>
                    <a:pt x="154099" y="217599"/>
                  </a:lnTo>
                  <a:cubicBezTo>
                    <a:pt x="151249" y="220445"/>
                    <a:pt x="147424" y="222102"/>
                    <a:pt x="143399" y="222234"/>
                  </a:cubicBezTo>
                  <a:lnTo>
                    <a:pt x="142875" y="222250"/>
                  </a:lnTo>
                  <a:lnTo>
                    <a:pt x="142367" y="222250"/>
                  </a:lnTo>
                  <a:lnTo>
                    <a:pt x="141510" y="222187"/>
                  </a:lnTo>
                  <a:lnTo>
                    <a:pt x="142875" y="222250"/>
                  </a:lnTo>
                  <a:cubicBezTo>
                    <a:pt x="139324" y="222250"/>
                    <a:pt x="135875" y="221060"/>
                    <a:pt x="133080" y="218869"/>
                  </a:cubicBezTo>
                  <a:cubicBezTo>
                    <a:pt x="132579" y="218474"/>
                    <a:pt x="132102" y="218050"/>
                    <a:pt x="131651" y="217599"/>
                  </a:cubicBezTo>
                  <a:lnTo>
                    <a:pt x="52276" y="138224"/>
                  </a:lnTo>
                  <a:cubicBezTo>
                    <a:pt x="46260" y="131995"/>
                    <a:pt x="46346" y="122093"/>
                    <a:pt x="52470" y="115970"/>
                  </a:cubicBezTo>
                  <a:cubicBezTo>
                    <a:pt x="58593" y="109846"/>
                    <a:pt x="68495" y="109760"/>
                    <a:pt x="74724" y="115776"/>
                  </a:cubicBezTo>
                  <a:lnTo>
                    <a:pt x="127000" y="168037"/>
                  </a:lnTo>
                  <a:lnTo>
                    <a:pt x="127000" y="15875"/>
                  </a:lnTo>
                  <a:cubicBezTo>
                    <a:pt x="127000" y="7107"/>
                    <a:pt x="134107" y="0"/>
                    <a:pt x="142875" y="0"/>
                  </a:cubicBezTo>
                </a:path>
              </a:pathLst>
            </a:custGeom>
            <a:solidFill>
              <a:srgbClr val="EF4444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073088" y="2537460"/>
              <a:ext cx="118982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EF4444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Release 发布包</a:t>
              </a:r>
              <a:endParaRPr lang="zh-CN" sz="1200" b="1" dirty="0">
                <a:solidFill>
                  <a:srgbClr val="EF4444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372832" y="2847499"/>
              <a:ext cx="59033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AppImage</a:t>
              </a:r>
              <a:endParaRPr lang="zh-CN" sz="97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301323" y="3037999"/>
              <a:ext cx="733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portable 包</a:t>
              </a:r>
              <a:endParaRPr lang="zh-CN" sz="97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0395585" y="33237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安装脚本</a:t>
              </a:r>
              <a:endParaRPr lang="zh-CN" sz="97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10096500" y="3714750"/>
              <a:ext cx="1333500" cy="476250"/>
            </a:xfrm>
            <a:prstGeom prst="roundRect">
              <a:avLst>
                <a:gd name="adj" fmla="val 12000"/>
              </a:avLst>
            </a:prstGeom>
            <a:solidFill>
              <a:srgbClr val="F8FAFB"/>
            </a:solidFill>
            <a:ln w="9525">
              <a:solidFill>
                <a:srgbClr val="E2E8F0"/>
              </a:solidFill>
              <a:prstDash val="dash"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10391775" y="390334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发布截图占位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sp>
        <p:nvSpPr>
          <p:cNvPr id="56" name="TextBox 56"/>
          <p:cNvSpPr txBox="1"/>
          <p:nvPr/>
        </p:nvSpPr>
        <p:spPr>
          <a:xfrm>
            <a:off x="10774204" y="6570345"/>
            <a:ext cx="9529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rPr>
              <a:t>GridYard v6.8.1</a:t>
            </a:r>
            <a:endParaRPr lang="zh-CN" sz="900" dirty="0">
              <a:solidFill>
                <a:srgbClr val="94A3B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D5F8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45770" y="217170"/>
            <a:ext cx="11283315" cy="487680"/>
            <a:chOff x="445770" y="217170"/>
            <a:chExt cx="11283315" cy="487680"/>
          </a:xfrm>
        </p:grpSpPr>
        <p:sp>
          <p:nvSpPr>
            <p:cNvPr id="4" name="TextBox 4"/>
            <p:cNvSpPr txBox="1"/>
            <p:nvPr/>
          </p:nvSpPr>
          <p:spPr>
            <a:xfrm>
              <a:off x="445770" y="217170"/>
              <a:ext cx="308533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按软件工程流程推进</a:t>
              </a:r>
              <a:endParaRPr lang="zh-CN" sz="240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476250" y="59055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548396" y="36290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07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3714750" y="952500"/>
            <a:ext cx="4762500" cy="5334000"/>
            <a:chOff x="3714750" y="1809750"/>
            <a:chExt cx="4762500" cy="5334000"/>
          </a:xfrm>
        </p:grpSpPr>
        <p:sp>
          <p:nvSpPr>
            <p:cNvPr id="8" name="Ellipse 8"/>
            <p:cNvSpPr/>
            <p:nvPr/>
          </p:nvSpPr>
          <p:spPr>
            <a:xfrm>
              <a:off x="5029835" y="3389630"/>
              <a:ext cx="2132965" cy="2132965"/>
            </a:xfrm>
            <a:prstGeom prst="ellipse">
              <a:avLst/>
            </a:prstGeom>
            <a:noFill/>
            <a:ln w="9525">
              <a:solidFill>
                <a:srgbClr val="E2E8F0"/>
              </a:solidFill>
              <a:prstDash val="dash"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5686631" y="4148773"/>
              <a:ext cx="81873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GridYard</a:t>
              </a:r>
              <a:endParaRPr lang="zh-CN" sz="135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592604" y="4419283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工程化交付闭环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grpSp>
          <p:nvGrpSpPr>
            <p:cNvPr id="14" name="Group 14"/>
            <p:cNvGrpSpPr/>
            <p:nvPr/>
          </p:nvGrpSpPr>
          <p:grpSpPr>
            <a:xfrm>
              <a:off x="5334000" y="1809750"/>
              <a:ext cx="1524000" cy="1524000"/>
              <a:chOff x="5334000" y="1809750"/>
              <a:chExt cx="1524000" cy="1524000"/>
            </a:xfrm>
          </p:grpSpPr>
          <p:sp>
            <p:nvSpPr>
              <p:cNvPr id="11" name="Polygon 11"/>
              <p:cNvSpPr/>
              <p:nvPr/>
            </p:nvSpPr>
            <p:spPr>
              <a:xfrm>
                <a:off x="5334000" y="1809750"/>
                <a:ext cx="1524000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1524000">
                    <a:moveTo>
                      <a:pt x="762000" y="0"/>
                    </a:moveTo>
                    <a:lnTo>
                      <a:pt x="1524000" y="381000"/>
                    </a:lnTo>
                    <a:lnTo>
                      <a:pt x="1524000" y="1143000"/>
                    </a:lnTo>
                    <a:lnTo>
                      <a:pt x="762000" y="1524000"/>
                    </a:lnTo>
                    <a:lnTo>
                      <a:pt x="0" y="1143000"/>
                    </a:lnTo>
                    <a:lnTo>
                      <a:pt x="0" y="381000"/>
                    </a:lnTo>
                    <a:close/>
                  </a:path>
                </a:pathLst>
              </a:custGeom>
              <a:solidFill>
                <a:srgbClr val="2D5F8A">
                  <a:alpha val="10000"/>
                </a:srgbClr>
              </a:solidFill>
              <a:ln w="19050">
                <a:solidFill>
                  <a:srgbClr val="2D5F8A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5862137" y="2315528"/>
                <a:ext cx="4677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2D5F8A"/>
                    </a:solidFill>
                    <a:latin typeface="Arial" panose="020B0604020202020204"/>
                    <a:ea typeface="微软雅黑"/>
                    <a:cs typeface="Arial" panose="020B0604020202020204"/>
                  </a:rPr>
                  <a:t>可行性</a:t>
                </a:r>
                <a:endParaRPr lang="zh-CN" sz="105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5964555" y="2569845"/>
                <a:ext cx="26289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64748B"/>
                    </a:solidFill>
                    <a:latin typeface="Arial" panose="020B0604020202020204"/>
                    <a:ea typeface="微软雅黑"/>
                    <a:cs typeface="Arial" panose="020B0604020202020204"/>
                  </a:rPr>
                  <a:t>分析</a:t>
                </a:r>
                <a:endParaRPr lang="zh-CN" sz="90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endParaRPr>
              </a:p>
            </p:txBody>
          </p:sp>
        </p:grpSp>
        <p:grpSp>
          <p:nvGrpSpPr>
            <p:cNvPr id="18" name="Group 18"/>
            <p:cNvGrpSpPr/>
            <p:nvPr/>
          </p:nvGrpSpPr>
          <p:grpSpPr>
            <a:xfrm>
              <a:off x="6953250" y="2762250"/>
              <a:ext cx="1524000" cy="1524000"/>
              <a:chOff x="6953250" y="2762250"/>
              <a:chExt cx="1524000" cy="1524000"/>
            </a:xfrm>
          </p:grpSpPr>
          <p:sp>
            <p:nvSpPr>
              <p:cNvPr id="15" name="Polygon 15"/>
              <p:cNvSpPr/>
              <p:nvPr/>
            </p:nvSpPr>
            <p:spPr>
              <a:xfrm>
                <a:off x="6953250" y="2762250"/>
                <a:ext cx="1524000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1524000">
                    <a:moveTo>
                      <a:pt x="762000" y="0"/>
                    </a:moveTo>
                    <a:lnTo>
                      <a:pt x="1524000" y="381000"/>
                    </a:lnTo>
                    <a:lnTo>
                      <a:pt x="1524000" y="1143000"/>
                    </a:lnTo>
                    <a:lnTo>
                      <a:pt x="762000" y="1524000"/>
                    </a:lnTo>
                    <a:lnTo>
                      <a:pt x="0" y="1143000"/>
                    </a:lnTo>
                    <a:lnTo>
                      <a:pt x="0" y="381000"/>
                    </a:lnTo>
                    <a:close/>
                  </a:path>
                </a:pathLst>
              </a:custGeom>
              <a:solidFill>
                <a:srgbClr val="22C55E">
                  <a:alpha val="10000"/>
                </a:srgbClr>
              </a:solidFill>
              <a:ln w="19050">
                <a:solidFill>
                  <a:srgbClr val="22C55E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7554897" y="3363278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22C55E"/>
                    </a:solidFill>
                    <a:latin typeface="Arial" panose="020B0604020202020204"/>
                    <a:ea typeface="微软雅黑"/>
                    <a:cs typeface="Arial" panose="020B0604020202020204"/>
                  </a:rPr>
                  <a:t>需求</a:t>
                </a:r>
                <a:endParaRPr lang="zh-CN" sz="1050" b="1" dirty="0">
                  <a:solidFill>
                    <a:srgbClr val="22C55E"/>
                  </a:solidFill>
                  <a:latin typeface="Arial" panose="020B0604020202020204"/>
                  <a:ea typeface="微软雅黑"/>
                  <a:cs typeface="Arial" panose="020B060402020202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7583805" y="3617595"/>
                <a:ext cx="26289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64748B"/>
                    </a:solidFill>
                    <a:latin typeface="Arial" panose="020B0604020202020204"/>
                    <a:ea typeface="微软雅黑"/>
                    <a:cs typeface="Arial" panose="020B0604020202020204"/>
                  </a:rPr>
                  <a:t>分析</a:t>
                </a:r>
                <a:endParaRPr lang="zh-CN" sz="90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endParaRP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6953250" y="4667250"/>
              <a:ext cx="1524000" cy="1524000"/>
              <a:chOff x="6953250" y="4667250"/>
              <a:chExt cx="1524000" cy="1524000"/>
            </a:xfrm>
          </p:grpSpPr>
          <p:sp>
            <p:nvSpPr>
              <p:cNvPr id="19" name="Polygon 19"/>
              <p:cNvSpPr/>
              <p:nvPr/>
            </p:nvSpPr>
            <p:spPr>
              <a:xfrm>
                <a:off x="6953250" y="4667250"/>
                <a:ext cx="1524000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1524000">
                    <a:moveTo>
                      <a:pt x="762000" y="0"/>
                    </a:moveTo>
                    <a:lnTo>
                      <a:pt x="1524000" y="381000"/>
                    </a:lnTo>
                    <a:lnTo>
                      <a:pt x="1524000" y="1143000"/>
                    </a:lnTo>
                    <a:lnTo>
                      <a:pt x="762000" y="1524000"/>
                    </a:lnTo>
                    <a:lnTo>
                      <a:pt x="0" y="1143000"/>
                    </a:lnTo>
                    <a:lnTo>
                      <a:pt x="0" y="381000"/>
                    </a:lnTo>
                    <a:close/>
                  </a:path>
                </a:pathLst>
              </a:custGeom>
              <a:solidFill>
                <a:srgbClr val="F59E0B">
                  <a:alpha val="10000"/>
                </a:srgbClr>
              </a:solidFill>
              <a:ln w="19050">
                <a:solidFill>
                  <a:srgbClr val="F59E0B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7554897" y="5268278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59E0B"/>
                    </a:solidFill>
                    <a:latin typeface="Arial" panose="020B0604020202020204"/>
                    <a:ea typeface="微软雅黑"/>
                    <a:cs typeface="Arial" panose="020B0604020202020204"/>
                  </a:rPr>
                  <a:t>架构</a:t>
                </a:r>
                <a:endParaRPr lang="zh-CN" sz="1050" b="1" dirty="0">
                  <a:solidFill>
                    <a:srgbClr val="F59E0B"/>
                  </a:solidFill>
                  <a:latin typeface="Arial" panose="020B0604020202020204"/>
                  <a:ea typeface="微软雅黑"/>
                  <a:cs typeface="Arial" panose="020B0604020202020204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583805" y="5522595"/>
                <a:ext cx="26289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64748B"/>
                    </a:solidFill>
                    <a:latin typeface="Arial" panose="020B0604020202020204"/>
                    <a:ea typeface="微软雅黑"/>
                    <a:cs typeface="Arial" panose="020B0604020202020204"/>
                  </a:rPr>
                  <a:t>设计</a:t>
                </a:r>
                <a:endParaRPr lang="zh-CN" sz="90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endParaR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5334000" y="5619750"/>
              <a:ext cx="1524000" cy="1524000"/>
              <a:chOff x="5334000" y="5619750"/>
              <a:chExt cx="1524000" cy="1524000"/>
            </a:xfrm>
          </p:grpSpPr>
          <p:sp>
            <p:nvSpPr>
              <p:cNvPr id="23" name="Polygon 23"/>
              <p:cNvSpPr/>
              <p:nvPr/>
            </p:nvSpPr>
            <p:spPr>
              <a:xfrm>
                <a:off x="5334000" y="5619750"/>
                <a:ext cx="1524000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1524000">
                    <a:moveTo>
                      <a:pt x="762000" y="0"/>
                    </a:moveTo>
                    <a:lnTo>
                      <a:pt x="1524000" y="381000"/>
                    </a:lnTo>
                    <a:lnTo>
                      <a:pt x="1524000" y="1143000"/>
                    </a:lnTo>
                    <a:lnTo>
                      <a:pt x="762000" y="1524000"/>
                    </a:lnTo>
                    <a:lnTo>
                      <a:pt x="0" y="1143000"/>
                    </a:lnTo>
                    <a:lnTo>
                      <a:pt x="0" y="381000"/>
                    </a:lnTo>
                    <a:close/>
                  </a:path>
                </a:pathLst>
              </a:custGeom>
              <a:solidFill>
                <a:srgbClr val="8B5CF6">
                  <a:alpha val="10000"/>
                </a:srgbClr>
              </a:solidFill>
              <a:ln w="19050">
                <a:solidFill>
                  <a:srgbClr val="8B5CF6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5935647" y="6125528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8B5CF6"/>
                    </a:solidFill>
                    <a:latin typeface="Arial" panose="020B0604020202020204"/>
                    <a:ea typeface="微软雅黑"/>
                    <a:cs typeface="Arial" panose="020B0604020202020204"/>
                  </a:rPr>
                  <a:t>编码</a:t>
                </a:r>
                <a:endParaRPr lang="zh-CN" sz="1050" b="1" dirty="0">
                  <a:solidFill>
                    <a:srgbClr val="8B5CF6"/>
                  </a:solidFill>
                  <a:latin typeface="Arial" panose="020B0604020202020204"/>
                  <a:ea typeface="微软雅黑"/>
                  <a:cs typeface="Arial" panose="020B0604020202020204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5964555" y="6379845"/>
                <a:ext cx="26289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64748B"/>
                    </a:solidFill>
                    <a:latin typeface="Arial" panose="020B0604020202020204"/>
                    <a:ea typeface="微软雅黑"/>
                    <a:cs typeface="Arial" panose="020B0604020202020204"/>
                  </a:rPr>
                  <a:t>规范</a:t>
                </a:r>
                <a:endParaRPr lang="zh-CN" sz="90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endParaRP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3714750" y="4667250"/>
              <a:ext cx="1524000" cy="1524000"/>
              <a:chOff x="3714750" y="4667250"/>
              <a:chExt cx="1524000" cy="1524000"/>
            </a:xfrm>
          </p:grpSpPr>
          <p:sp>
            <p:nvSpPr>
              <p:cNvPr id="27" name="Polygon 27"/>
              <p:cNvSpPr/>
              <p:nvPr/>
            </p:nvSpPr>
            <p:spPr>
              <a:xfrm>
                <a:off x="3714750" y="4667250"/>
                <a:ext cx="1524000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1524000">
                    <a:moveTo>
                      <a:pt x="762000" y="0"/>
                    </a:moveTo>
                    <a:lnTo>
                      <a:pt x="1524000" y="381000"/>
                    </a:lnTo>
                    <a:lnTo>
                      <a:pt x="1524000" y="1143000"/>
                    </a:lnTo>
                    <a:lnTo>
                      <a:pt x="762000" y="1524000"/>
                    </a:lnTo>
                    <a:lnTo>
                      <a:pt x="0" y="1143000"/>
                    </a:lnTo>
                    <a:lnTo>
                      <a:pt x="0" y="381000"/>
                    </a:lnTo>
                    <a:close/>
                  </a:path>
                </a:pathLst>
              </a:custGeom>
              <a:solidFill>
                <a:srgbClr val="3B82F6">
                  <a:alpha val="10000"/>
                </a:srgbClr>
              </a:solidFill>
              <a:ln w="19050">
                <a:solidFill>
                  <a:srgbClr val="3B82F6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4316397" y="5268278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3B82F6"/>
                    </a:solidFill>
                    <a:latin typeface="Arial" panose="020B0604020202020204"/>
                    <a:ea typeface="微软雅黑"/>
                    <a:cs typeface="Arial" panose="020B0604020202020204"/>
                  </a:rPr>
                  <a:t>测试</a:t>
                </a:r>
                <a:endParaRPr lang="zh-CN" sz="1050" b="1" dirty="0">
                  <a:solidFill>
                    <a:srgbClr val="3B82F6"/>
                  </a:solidFill>
                  <a:latin typeface="Arial" panose="020B0604020202020204"/>
                  <a:ea typeface="微软雅黑"/>
                  <a:cs typeface="Arial" panose="020B0604020202020204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345305" y="5522595"/>
                <a:ext cx="26289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64748B"/>
                    </a:solidFill>
                    <a:latin typeface="Arial" panose="020B0604020202020204"/>
                    <a:ea typeface="微软雅黑"/>
                    <a:cs typeface="Arial" panose="020B0604020202020204"/>
                  </a:rPr>
                  <a:t>验收</a:t>
                </a:r>
                <a:endParaRPr lang="zh-CN" sz="90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endParaRP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3714750" y="2762250"/>
              <a:ext cx="1524000" cy="1524000"/>
              <a:chOff x="3714750" y="2762250"/>
              <a:chExt cx="1524000" cy="1524000"/>
            </a:xfrm>
          </p:grpSpPr>
          <p:sp>
            <p:nvSpPr>
              <p:cNvPr id="31" name="Polygon 31"/>
              <p:cNvSpPr/>
              <p:nvPr/>
            </p:nvSpPr>
            <p:spPr>
              <a:xfrm>
                <a:off x="3714750" y="2762250"/>
                <a:ext cx="1524000" cy="1524000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1524000">
                    <a:moveTo>
                      <a:pt x="762000" y="0"/>
                    </a:moveTo>
                    <a:lnTo>
                      <a:pt x="1524000" y="381000"/>
                    </a:lnTo>
                    <a:lnTo>
                      <a:pt x="1524000" y="1143000"/>
                    </a:lnTo>
                    <a:lnTo>
                      <a:pt x="762000" y="1524000"/>
                    </a:lnTo>
                    <a:lnTo>
                      <a:pt x="0" y="1143000"/>
                    </a:lnTo>
                    <a:lnTo>
                      <a:pt x="0" y="381000"/>
                    </a:lnTo>
                    <a:close/>
                  </a:path>
                </a:pathLst>
              </a:custGeom>
              <a:solidFill>
                <a:srgbClr val="EF4444">
                  <a:alpha val="10000"/>
                </a:srgbClr>
              </a:solidFill>
              <a:ln w="19050">
                <a:solidFill>
                  <a:srgbClr val="EF4444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4316397" y="3363278"/>
                <a:ext cx="32070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EF4444"/>
                    </a:solidFill>
                    <a:latin typeface="Arial" panose="020B0604020202020204"/>
                    <a:ea typeface="微软雅黑"/>
                    <a:cs typeface="Arial" panose="020B0604020202020204"/>
                  </a:rPr>
                  <a:t>发布</a:t>
                </a:r>
                <a:endParaRPr lang="zh-CN" sz="1050" b="1" dirty="0">
                  <a:solidFill>
                    <a:srgbClr val="EF4444"/>
                  </a:solidFill>
                  <a:latin typeface="Arial" panose="020B0604020202020204"/>
                  <a:ea typeface="微软雅黑"/>
                  <a:cs typeface="Arial" panose="020B0604020202020204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4345305" y="3617595"/>
                <a:ext cx="26289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64748B"/>
                    </a:solidFill>
                    <a:latin typeface="Arial" panose="020B0604020202020204"/>
                    <a:ea typeface="微软雅黑"/>
                    <a:cs typeface="Arial" panose="020B0604020202020204"/>
                  </a:rPr>
                  <a:t>维护</a:t>
                </a:r>
                <a:endParaRPr lang="zh-CN" sz="90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endParaRPr>
              </a:p>
            </p:txBody>
          </p:sp>
        </p:grpSp>
        <p:sp>
          <p:nvSpPr>
            <p:cNvPr id="35" name="Line 35"/>
            <p:cNvSpPr/>
            <p:nvPr/>
          </p:nvSpPr>
          <p:spPr>
            <a:xfrm rot="2940000" flipV="1">
              <a:off x="6953250" y="2278380"/>
              <a:ext cx="857250" cy="190500"/>
            </a:xfrm>
            <a:prstGeom prst="line">
              <a:avLst/>
            </a:prstGeom>
            <a:noFill/>
            <a:ln w="14288">
              <a:solidFill>
                <a:srgbClr val="CBD5E1"/>
              </a:solidFill>
              <a:tailEnd type="triangle" w="lg" len="lg"/>
            </a:ln>
          </p:spPr>
        </p:sp>
        <p:sp>
          <p:nvSpPr>
            <p:cNvPr id="37" name="Line 37"/>
            <p:cNvSpPr/>
            <p:nvPr/>
          </p:nvSpPr>
          <p:spPr>
            <a:xfrm flipH="1" flipV="1">
              <a:off x="4637405" y="6252845"/>
              <a:ext cx="592455" cy="394970"/>
            </a:xfrm>
            <a:prstGeom prst="line">
              <a:avLst/>
            </a:prstGeom>
            <a:noFill/>
            <a:ln w="14288">
              <a:solidFill>
                <a:srgbClr val="CBD5E1"/>
              </a:solidFill>
              <a:tailEnd type="triangle" w="lg" len="lg"/>
            </a:ln>
          </p:spPr>
        </p:sp>
        <p:sp>
          <p:nvSpPr>
            <p:cNvPr id="38" name="Line 38"/>
            <p:cNvSpPr/>
            <p:nvPr/>
          </p:nvSpPr>
          <p:spPr>
            <a:xfrm rot="14280000" flipH="1" flipV="1">
              <a:off x="7113905" y="6045200"/>
              <a:ext cx="95250" cy="762000"/>
            </a:xfrm>
            <a:prstGeom prst="line">
              <a:avLst/>
            </a:prstGeom>
            <a:noFill/>
            <a:ln w="14288">
              <a:solidFill>
                <a:srgbClr val="CBD5E1"/>
              </a:solidFill>
              <a:tailEnd type="triangle" w="lg" len="lg"/>
            </a:ln>
          </p:spPr>
        </p:sp>
        <p:sp>
          <p:nvSpPr>
            <p:cNvPr id="39" name="Line 39"/>
            <p:cNvSpPr/>
            <p:nvPr/>
          </p:nvSpPr>
          <p:spPr>
            <a:xfrm flipV="1">
              <a:off x="3946525" y="4095750"/>
              <a:ext cx="1" cy="762000"/>
            </a:xfrm>
            <a:prstGeom prst="line">
              <a:avLst/>
            </a:prstGeom>
            <a:noFill/>
            <a:ln w="14288">
              <a:solidFill>
                <a:srgbClr val="CBD5E1"/>
              </a:solidFill>
              <a:tailEnd type="triangle" w="lg" len="lg"/>
            </a:ln>
          </p:spPr>
        </p:sp>
        <p:sp>
          <p:nvSpPr>
            <p:cNvPr id="40" name="Line 40"/>
            <p:cNvSpPr/>
            <p:nvPr/>
          </p:nvSpPr>
          <p:spPr>
            <a:xfrm rot="18300000">
              <a:off x="4316095" y="2315845"/>
              <a:ext cx="762000" cy="190500"/>
            </a:xfrm>
            <a:prstGeom prst="line">
              <a:avLst/>
            </a:prstGeom>
            <a:noFill/>
            <a:ln w="14288">
              <a:solidFill>
                <a:srgbClr val="CBD5E1"/>
              </a:solidFill>
              <a:tailEnd type="triangle" w="lg" len="lg"/>
            </a:ln>
          </p:spPr>
        </p:sp>
      </p:grpSp>
      <p:grpSp>
        <p:nvGrpSpPr>
          <p:cNvPr id="50" name="Group 50"/>
          <p:cNvGrpSpPr/>
          <p:nvPr/>
        </p:nvGrpSpPr>
        <p:grpSpPr>
          <a:xfrm>
            <a:off x="476250" y="952500"/>
            <a:ext cx="11541681" cy="1143000"/>
            <a:chOff x="476250" y="952500"/>
            <a:chExt cx="11541681" cy="1143000"/>
          </a:xfrm>
        </p:grpSpPr>
        <p:sp>
          <p:nvSpPr>
            <p:cNvPr id="42" name="Rectangle 42"/>
            <p:cNvSpPr/>
            <p:nvPr/>
          </p:nvSpPr>
          <p:spPr>
            <a:xfrm>
              <a:off x="476250" y="952500"/>
              <a:ext cx="2667000" cy="476250"/>
            </a:xfrm>
            <a:prstGeom prst="roundRect">
              <a:avLst>
                <a:gd name="adj" fmla="val 16000"/>
              </a:avLst>
            </a:prstGeom>
            <a:solidFill>
              <a:srgbClr val="2D5F8A">
                <a:alpha val="8000"/>
              </a:srgbClr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3415" y="1124902"/>
              <a:ext cx="27360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局域网 P2P / Qt6/QML / AppImage 可交付</a:t>
              </a:r>
              <a:endParaRPr lang="zh-CN" sz="1050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048750" y="952500"/>
              <a:ext cx="2667000" cy="476250"/>
            </a:xfrm>
            <a:prstGeom prst="roundRect">
              <a:avLst>
                <a:gd name="adj" fmla="val 16000"/>
              </a:avLst>
            </a:prstGeom>
            <a:solidFill>
              <a:srgbClr val="22C55E">
                <a:alpha val="8000"/>
              </a:srgbClr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225915" y="1124902"/>
              <a:ext cx="26309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C55E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设备发现 / 文件传输 / 聊天 / 历史 / 发布</a:t>
              </a:r>
              <a:endParaRPr lang="zh-CN" sz="1050" dirty="0">
                <a:solidFill>
                  <a:srgbClr val="22C55E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048750" y="1619250"/>
              <a:ext cx="2667000" cy="476250"/>
            </a:xfrm>
            <a:prstGeom prst="roundRect">
              <a:avLst>
                <a:gd name="adj" fmla="val 16000"/>
              </a:avLst>
            </a:prstGeom>
            <a:solidFill>
              <a:srgbClr val="F59E0B">
                <a:alpha val="8000"/>
              </a:srgbClr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225915" y="1791652"/>
              <a:ext cx="27920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59E0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四层架构 / UML / gy_shared / gy_storage</a:t>
              </a:r>
              <a:endParaRPr lang="zh-CN" sz="1050" dirty="0">
                <a:solidFill>
                  <a:srgbClr val="F59E0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476250" y="1619250"/>
              <a:ext cx="2667000" cy="476250"/>
            </a:xfrm>
            <a:prstGeom prst="roundRect">
              <a:avLst>
                <a:gd name="adj" fmla="val 16000"/>
              </a:avLst>
            </a:prstGeom>
            <a:solidFill>
              <a:srgbClr val="EF4444">
                <a:alpha val="8000"/>
              </a:srgbClr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653415" y="1791652"/>
              <a:ext cx="25819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F4444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v6.8.1 / README / 部署文档 / 日志体系</a:t>
              </a:r>
              <a:endParaRPr lang="zh-CN" sz="1050" dirty="0">
                <a:solidFill>
                  <a:srgbClr val="EF4444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0774204" y="6570345"/>
            <a:ext cx="9529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rPr>
              <a:t>GridYard v6.8.1</a:t>
            </a:r>
            <a:endParaRPr lang="zh-CN" sz="900" dirty="0">
              <a:solidFill>
                <a:srgbClr val="94A3B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2" name="Line 39"/>
          <p:cNvSpPr/>
          <p:nvPr/>
        </p:nvSpPr>
        <p:spPr>
          <a:xfrm rot="10800000" flipV="1">
            <a:off x="8293100" y="3288030"/>
            <a:ext cx="1" cy="762000"/>
          </a:xfrm>
          <a:prstGeom prst="line">
            <a:avLst/>
          </a:prstGeom>
          <a:noFill/>
          <a:ln w="14288">
            <a:solidFill>
              <a:srgbClr val="CBD5E1"/>
            </a:solidFill>
            <a:tailEnd type="triangle" w="lg" len="lg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/>
      <p:bldP spid="5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B"/>
          </a:solidFill>
          <a:ln>
            <a:noFill/>
          </a:ln>
        </p:spPr>
      </p:sp>
      <p:pic>
        <p:nvPicPr>
          <p:cNvPr id="42" name="图片 4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0360" y="1657985"/>
            <a:ext cx="5669280" cy="3542665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D5F8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45770" y="217170"/>
            <a:ext cx="11283315" cy="487680"/>
            <a:chOff x="445770" y="217170"/>
            <a:chExt cx="11283315" cy="487680"/>
          </a:xfrm>
        </p:grpSpPr>
        <p:sp>
          <p:nvSpPr>
            <p:cNvPr id="4" name="TextBox 4"/>
            <p:cNvSpPr txBox="1"/>
            <p:nvPr/>
          </p:nvSpPr>
          <p:spPr>
            <a:xfrm>
              <a:off x="445770" y="217170"/>
              <a:ext cx="375742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核心功能：统一设备会话</a:t>
              </a:r>
              <a:endParaRPr lang="zh-CN" sz="240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476250" y="59055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548396" y="36290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08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 rot="0">
            <a:off x="678180" y="1506220"/>
            <a:ext cx="2667000" cy="666750"/>
            <a:chOff x="1143000" y="1238250"/>
            <a:chExt cx="2667000" cy="666750"/>
          </a:xfrm>
        </p:grpSpPr>
        <p:sp>
          <p:nvSpPr>
            <p:cNvPr id="12" name="Rectangle 12"/>
            <p:cNvSpPr/>
            <p:nvPr/>
          </p:nvSpPr>
          <p:spPr>
            <a:xfrm>
              <a:off x="1143000" y="1238250"/>
              <a:ext cx="1905000" cy="342900"/>
            </a:xfrm>
            <a:prstGeom prst="roundRect">
              <a:avLst>
                <a:gd name="adj" fmla="val 50000"/>
              </a:avLst>
            </a:prstGeom>
            <a:solidFill>
              <a:srgbClr val="2D5F8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641110" y="135350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在线设备列表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3048000" y="1409700"/>
              <a:ext cx="762000" cy="495300"/>
            </a:xfrm>
            <a:custGeom>
              <a:avLst/>
              <a:gdLst/>
              <a:ahLst/>
              <a:cxnLst/>
              <a:rect l="l" t="t" r="r" b="b"/>
              <a:pathLst>
                <a:path w="762000" h="495300">
                  <a:moveTo>
                    <a:pt x="0" y="0"/>
                  </a:moveTo>
                  <a:lnTo>
                    <a:pt x="762000" y="495300"/>
                  </a:lnTo>
                </a:path>
              </a:pathLst>
            </a:custGeom>
            <a:noFill/>
            <a:ln w="19050">
              <a:solidFill>
                <a:srgbClr val="2D5F8A"/>
              </a:solidFill>
            </a:ln>
          </p:spPr>
        </p:sp>
      </p:grpSp>
      <p:grpSp>
        <p:nvGrpSpPr>
          <p:cNvPr id="19" name="Group 19"/>
          <p:cNvGrpSpPr/>
          <p:nvPr/>
        </p:nvGrpSpPr>
        <p:grpSpPr>
          <a:xfrm rot="0">
            <a:off x="5715000" y="1238250"/>
            <a:ext cx="2857500" cy="666750"/>
            <a:chOff x="5715000" y="1238250"/>
            <a:chExt cx="2857500" cy="666750"/>
          </a:xfrm>
        </p:grpSpPr>
        <p:sp>
          <p:nvSpPr>
            <p:cNvPr id="16" name="Rectangle 16"/>
            <p:cNvSpPr/>
            <p:nvPr/>
          </p:nvSpPr>
          <p:spPr>
            <a:xfrm>
              <a:off x="6667500" y="1238250"/>
              <a:ext cx="1905000" cy="3429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092101" y="1353502"/>
              <a:ext cx="105579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统一会话时间线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8" name="Line 18"/>
            <p:cNvSpPr/>
            <p:nvPr/>
          </p:nvSpPr>
          <p:spPr>
            <a:xfrm>
              <a:off x="5715000" y="1409700"/>
              <a:ext cx="952500" cy="495300"/>
            </a:xfrm>
            <a:custGeom>
              <a:avLst/>
              <a:gdLst/>
              <a:ahLst/>
              <a:cxnLst/>
              <a:rect l="l" t="t" r="r" b="b"/>
              <a:pathLst>
                <a:path w="952500" h="495300">
                  <a:moveTo>
                    <a:pt x="952500" y="0"/>
                  </a:moveTo>
                  <a:lnTo>
                    <a:pt x="0" y="495300"/>
                  </a:lnTo>
                </a:path>
              </a:pathLst>
            </a:custGeom>
            <a:noFill/>
            <a:ln w="19050">
              <a:solidFill>
                <a:srgbClr val="3B82F6"/>
              </a:solidFill>
            </a:ln>
          </p:spPr>
        </p:sp>
      </p:grpSp>
      <p:grpSp>
        <p:nvGrpSpPr>
          <p:cNvPr id="23" name="Group 23"/>
          <p:cNvGrpSpPr/>
          <p:nvPr/>
        </p:nvGrpSpPr>
        <p:grpSpPr>
          <a:xfrm rot="0">
            <a:off x="1238250" y="5044440"/>
            <a:ext cx="2667000" cy="628650"/>
            <a:chOff x="1143000" y="4286250"/>
            <a:chExt cx="2667000" cy="628650"/>
          </a:xfrm>
        </p:grpSpPr>
        <p:sp>
          <p:nvSpPr>
            <p:cNvPr id="20" name="Rectangle 20"/>
            <p:cNvSpPr/>
            <p:nvPr/>
          </p:nvSpPr>
          <p:spPr>
            <a:xfrm>
              <a:off x="1143000" y="4572000"/>
              <a:ext cx="1524000" cy="342900"/>
            </a:xfrm>
            <a:prstGeom prst="roundRect">
              <a:avLst>
                <a:gd name="adj" fmla="val 50000"/>
              </a:avLst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447800" y="4687252"/>
              <a:ext cx="91440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文件发送 / 接收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2" name="Line 22"/>
            <p:cNvSpPr/>
            <p:nvPr/>
          </p:nvSpPr>
          <p:spPr>
            <a:xfrm>
              <a:off x="2667000" y="4286250"/>
              <a:ext cx="1143000" cy="457200"/>
            </a:xfrm>
            <a:custGeom>
              <a:avLst/>
              <a:gdLst/>
              <a:ahLst/>
              <a:cxnLst/>
              <a:rect l="l" t="t" r="r" b="b"/>
              <a:pathLst>
                <a:path w="1143000" h="457200">
                  <a:moveTo>
                    <a:pt x="0" y="457200"/>
                  </a:moveTo>
                  <a:lnTo>
                    <a:pt x="1143000" y="0"/>
                  </a:lnTo>
                </a:path>
              </a:pathLst>
            </a:custGeom>
            <a:noFill/>
            <a:ln w="19050">
              <a:solidFill>
                <a:srgbClr val="22C55E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 rot="0">
            <a:off x="5715000" y="5044440"/>
            <a:ext cx="2857500" cy="628650"/>
            <a:chOff x="5715000" y="4286250"/>
            <a:chExt cx="2857500" cy="628650"/>
          </a:xfrm>
        </p:grpSpPr>
        <p:sp>
          <p:nvSpPr>
            <p:cNvPr id="24" name="Rectangle 24"/>
            <p:cNvSpPr/>
            <p:nvPr/>
          </p:nvSpPr>
          <p:spPr>
            <a:xfrm>
              <a:off x="6667500" y="4572000"/>
              <a:ext cx="1905000" cy="3429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352029" y="4687252"/>
              <a:ext cx="535940" cy="161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聊天输入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6" name="Line 26"/>
            <p:cNvSpPr/>
            <p:nvPr/>
          </p:nvSpPr>
          <p:spPr>
            <a:xfrm>
              <a:off x="5715000" y="4286250"/>
              <a:ext cx="952500" cy="457200"/>
            </a:xfrm>
            <a:custGeom>
              <a:avLst/>
              <a:gdLst/>
              <a:ahLst/>
              <a:cxnLst/>
              <a:rect l="l" t="t" r="r" b="b"/>
              <a:pathLst>
                <a:path w="952500" h="457200">
                  <a:moveTo>
                    <a:pt x="952500" y="45720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F59E0B"/>
              </a:solidFill>
            </a:ln>
          </p:spPr>
        </p:sp>
      </p:grpSp>
      <p:grpSp>
        <p:nvGrpSpPr>
          <p:cNvPr id="31" name="Group 31"/>
          <p:cNvGrpSpPr/>
          <p:nvPr/>
        </p:nvGrpSpPr>
        <p:grpSpPr>
          <a:xfrm rot="0">
            <a:off x="8096250" y="2857500"/>
            <a:ext cx="2571750" cy="476250"/>
            <a:chOff x="8096250" y="2857500"/>
            <a:chExt cx="2571750" cy="476250"/>
          </a:xfrm>
        </p:grpSpPr>
        <p:sp>
          <p:nvSpPr>
            <p:cNvPr id="28" name="Rectangle 28"/>
            <p:cNvSpPr/>
            <p:nvPr/>
          </p:nvSpPr>
          <p:spPr>
            <a:xfrm>
              <a:off x="9144000" y="2857500"/>
              <a:ext cx="1524000" cy="342900"/>
            </a:xfrm>
            <a:prstGeom prst="roundRect">
              <a:avLst>
                <a:gd name="adj" fmla="val 50000"/>
              </a:avLst>
            </a:prstGeom>
            <a:solidFill>
              <a:srgbClr val="8B5CF6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598628" y="29727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本地历史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0" name="Line 30"/>
            <p:cNvSpPr/>
            <p:nvPr/>
          </p:nvSpPr>
          <p:spPr>
            <a:xfrm>
              <a:off x="8096250" y="3028950"/>
              <a:ext cx="1047750" cy="304800"/>
            </a:xfrm>
            <a:custGeom>
              <a:avLst/>
              <a:gdLst/>
              <a:ahLst/>
              <a:cxnLst/>
              <a:rect l="l" t="t" r="r" b="b"/>
              <a:pathLst>
                <a:path w="1047750" h="304800">
                  <a:moveTo>
                    <a:pt x="1047750" y="0"/>
                  </a:moveTo>
                  <a:lnTo>
                    <a:pt x="0" y="304800"/>
                  </a:lnTo>
                </a:path>
              </a:pathLst>
            </a:custGeom>
            <a:noFill/>
            <a:ln w="19050">
              <a:solidFill>
                <a:srgbClr val="8B5CF6"/>
              </a:solidFill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952500" y="5905500"/>
            <a:ext cx="10287000" cy="571500"/>
            <a:chOff x="952500" y="5905500"/>
            <a:chExt cx="10287000" cy="571500"/>
          </a:xfrm>
        </p:grpSpPr>
        <p:sp>
          <p:nvSpPr>
            <p:cNvPr id="33" name="Rectangle 33"/>
            <p:cNvSpPr/>
            <p:nvPr/>
          </p:nvSpPr>
          <p:spPr>
            <a:xfrm>
              <a:off x="952500" y="5905500"/>
              <a:ext cx="10287000" cy="5715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590675" y="614600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设备发现</a:t>
              </a:r>
              <a:endParaRPr lang="zh-CN" sz="1125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495675" y="614600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3B82F6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统一会话</a:t>
              </a:r>
              <a:endParaRPr lang="zh-CN" sz="1125" dirty="0">
                <a:solidFill>
                  <a:srgbClr val="3B82F6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54407" y="6146006"/>
              <a:ext cx="92118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59E0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P2P 文件传输</a:t>
              </a:r>
              <a:endParaRPr lang="zh-CN" sz="1125" dirty="0">
                <a:solidFill>
                  <a:srgbClr val="F59E0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496175" y="614600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2C55E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在线聊天</a:t>
              </a:r>
              <a:endParaRPr lang="zh-CN" sz="1125" dirty="0">
                <a:solidFill>
                  <a:srgbClr val="22C55E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401175" y="614600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8B5CF6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本地历史</a:t>
              </a:r>
              <a:endParaRPr lang="zh-CN" sz="1125" dirty="0">
                <a:solidFill>
                  <a:srgbClr val="8B5CF6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sp>
        <p:nvSpPr>
          <p:cNvPr id="40" name="TextBox 40"/>
          <p:cNvSpPr txBox="1"/>
          <p:nvPr/>
        </p:nvSpPr>
        <p:spPr>
          <a:xfrm>
            <a:off x="10774204" y="6570345"/>
            <a:ext cx="9529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rPr>
              <a:t>GridYard v6.8.1</a:t>
            </a:r>
            <a:endParaRPr lang="zh-CN" sz="900" dirty="0">
              <a:solidFill>
                <a:srgbClr val="94A3B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D5F8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45770" y="217170"/>
            <a:ext cx="11283315" cy="487680"/>
            <a:chOff x="445770" y="217170"/>
            <a:chExt cx="11283315" cy="487680"/>
          </a:xfrm>
        </p:grpSpPr>
        <p:sp>
          <p:nvSpPr>
            <p:cNvPr id="4" name="TextBox 4"/>
            <p:cNvSpPr txBox="1"/>
            <p:nvPr/>
          </p:nvSpPr>
          <p:spPr>
            <a:xfrm>
              <a:off x="445770" y="217170"/>
              <a:ext cx="2413254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发布与运行方式</a:t>
              </a:r>
              <a:endParaRPr lang="zh-CN" sz="240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476250" y="59055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548396" y="36290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09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2000" y="1047750"/>
            <a:ext cx="10668000" cy="1524000"/>
            <a:chOff x="762000" y="1047750"/>
            <a:chExt cx="10668000" cy="1524000"/>
          </a:xfrm>
        </p:grpSpPr>
        <p:sp>
          <p:nvSpPr>
            <p:cNvPr id="8" name="Rectangle 8"/>
            <p:cNvSpPr/>
            <p:nvPr/>
          </p:nvSpPr>
          <p:spPr>
            <a:xfrm>
              <a:off x="762000" y="1047750"/>
              <a:ext cx="3333750" cy="1524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090612" y="1376362"/>
              <a:ext cx="257175" cy="271462"/>
            </a:xfrm>
            <a:custGeom>
              <a:avLst/>
              <a:gdLst/>
              <a:ahLst/>
              <a:cxnLst/>
              <a:rect l="l" t="t" r="r" b="b"/>
              <a:pathLst>
                <a:path w="257175" h="271462">
                  <a:moveTo>
                    <a:pt x="242888" y="185738"/>
                  </a:moveTo>
                  <a:cubicBezTo>
                    <a:pt x="250778" y="185738"/>
                    <a:pt x="257175" y="192134"/>
                    <a:pt x="257175" y="200025"/>
                  </a:cubicBezTo>
                  <a:lnTo>
                    <a:pt x="257175" y="228600"/>
                  </a:lnTo>
                  <a:cubicBezTo>
                    <a:pt x="257175" y="252272"/>
                    <a:pt x="237985" y="271462"/>
                    <a:pt x="214312" y="271462"/>
                  </a:cubicBezTo>
                  <a:lnTo>
                    <a:pt x="42862" y="271462"/>
                  </a:lnTo>
                  <a:cubicBezTo>
                    <a:pt x="19190" y="271462"/>
                    <a:pt x="0" y="252272"/>
                    <a:pt x="0" y="228600"/>
                  </a:cubicBezTo>
                  <a:lnTo>
                    <a:pt x="0" y="200025"/>
                  </a:lnTo>
                  <a:cubicBezTo>
                    <a:pt x="0" y="192134"/>
                    <a:pt x="6397" y="185738"/>
                    <a:pt x="14288" y="185738"/>
                  </a:cubicBezTo>
                  <a:cubicBezTo>
                    <a:pt x="22178" y="185738"/>
                    <a:pt x="28575" y="192134"/>
                    <a:pt x="28575" y="200025"/>
                  </a:cubicBezTo>
                  <a:lnTo>
                    <a:pt x="28575" y="228600"/>
                  </a:lnTo>
                  <a:cubicBezTo>
                    <a:pt x="28575" y="236491"/>
                    <a:pt x="34972" y="242888"/>
                    <a:pt x="42862" y="242888"/>
                  </a:cubicBezTo>
                  <a:lnTo>
                    <a:pt x="214312" y="242888"/>
                  </a:lnTo>
                  <a:cubicBezTo>
                    <a:pt x="222203" y="242888"/>
                    <a:pt x="228600" y="236491"/>
                    <a:pt x="228600" y="228600"/>
                  </a:cubicBezTo>
                  <a:lnTo>
                    <a:pt x="228600" y="200025"/>
                  </a:lnTo>
                  <a:cubicBezTo>
                    <a:pt x="228600" y="192134"/>
                    <a:pt x="234997" y="185738"/>
                    <a:pt x="242888" y="185738"/>
                  </a:cubicBezTo>
                  <a:moveTo>
                    <a:pt x="128588" y="0"/>
                  </a:moveTo>
                  <a:cubicBezTo>
                    <a:pt x="136478" y="0"/>
                    <a:pt x="142875" y="6397"/>
                    <a:pt x="142875" y="14288"/>
                  </a:cubicBezTo>
                  <a:lnTo>
                    <a:pt x="142875" y="151233"/>
                  </a:lnTo>
                  <a:lnTo>
                    <a:pt x="189924" y="104199"/>
                  </a:lnTo>
                  <a:cubicBezTo>
                    <a:pt x="195530" y="98784"/>
                    <a:pt x="204441" y="98862"/>
                    <a:pt x="209952" y="104373"/>
                  </a:cubicBezTo>
                  <a:cubicBezTo>
                    <a:pt x="215463" y="109884"/>
                    <a:pt x="215541" y="118795"/>
                    <a:pt x="210126" y="124401"/>
                  </a:cubicBezTo>
                  <a:lnTo>
                    <a:pt x="138689" y="195839"/>
                  </a:lnTo>
                  <a:cubicBezTo>
                    <a:pt x="138283" y="196245"/>
                    <a:pt x="137854" y="196627"/>
                    <a:pt x="137403" y="196982"/>
                  </a:cubicBezTo>
                  <a:lnTo>
                    <a:pt x="138689" y="195839"/>
                  </a:lnTo>
                  <a:cubicBezTo>
                    <a:pt x="136124" y="198401"/>
                    <a:pt x="132682" y="199892"/>
                    <a:pt x="129059" y="200011"/>
                  </a:cubicBezTo>
                  <a:lnTo>
                    <a:pt x="128588" y="200025"/>
                  </a:lnTo>
                  <a:lnTo>
                    <a:pt x="128130" y="200025"/>
                  </a:lnTo>
                  <a:lnTo>
                    <a:pt x="127359" y="199968"/>
                  </a:lnTo>
                  <a:lnTo>
                    <a:pt x="128588" y="200025"/>
                  </a:lnTo>
                  <a:cubicBezTo>
                    <a:pt x="125391" y="200025"/>
                    <a:pt x="122287" y="198954"/>
                    <a:pt x="119772" y="196982"/>
                  </a:cubicBezTo>
                  <a:cubicBezTo>
                    <a:pt x="119321" y="196627"/>
                    <a:pt x="118892" y="196245"/>
                    <a:pt x="118486" y="195839"/>
                  </a:cubicBezTo>
                  <a:lnTo>
                    <a:pt x="47049" y="124401"/>
                  </a:lnTo>
                  <a:cubicBezTo>
                    <a:pt x="41634" y="118795"/>
                    <a:pt x="41712" y="109884"/>
                    <a:pt x="47223" y="104373"/>
                  </a:cubicBezTo>
                  <a:cubicBezTo>
                    <a:pt x="52734" y="98862"/>
                    <a:pt x="61645" y="98784"/>
                    <a:pt x="67251" y="104199"/>
                  </a:cubicBezTo>
                  <a:lnTo>
                    <a:pt x="114300" y="151233"/>
                  </a:lnTo>
                  <a:lnTo>
                    <a:pt x="114300" y="14288"/>
                  </a:lnTo>
                  <a:cubicBezTo>
                    <a:pt x="114300" y="6397"/>
                    <a:pt x="120697" y="0"/>
                    <a:pt x="128588" y="0"/>
                  </a:cubicBezTo>
                </a:path>
              </a:pathLst>
            </a:custGeom>
            <a:solidFill>
              <a:srgbClr val="2D5F8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04950" y="1438275"/>
              <a:ext cx="95171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AppImage</a:t>
              </a:r>
              <a:endParaRPr lang="zh-CN" sz="150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33462" y="1831181"/>
              <a:ext cx="14762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chmod +x 后直接运行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34415" y="207740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依赖随包，免安装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4429125" y="1047750"/>
              <a:ext cx="3333750" cy="1524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4" name="Freeform 14"/>
            <p:cNvSpPr/>
            <p:nvPr/>
          </p:nvSpPr>
          <p:spPr>
            <a:xfrm>
              <a:off x="4743449" y="1376362"/>
              <a:ext cx="285753" cy="242889"/>
            </a:xfrm>
            <a:custGeom>
              <a:avLst/>
              <a:gdLst/>
              <a:ahLst/>
              <a:cxnLst/>
              <a:rect l="l" t="t" r="r" b="b"/>
              <a:pathLst>
                <a:path w="285753" h="242889">
                  <a:moveTo>
                    <a:pt x="100014" y="0"/>
                  </a:moveTo>
                  <a:cubicBezTo>
                    <a:pt x="103154" y="0"/>
                    <a:pt x="106207" y="1034"/>
                    <a:pt x="108701" y="2943"/>
                  </a:cubicBezTo>
                  <a:lnTo>
                    <a:pt x="110129" y="4186"/>
                  </a:lnTo>
                  <a:lnTo>
                    <a:pt x="148791" y="42863"/>
                  </a:lnTo>
                  <a:lnTo>
                    <a:pt x="242889" y="42863"/>
                  </a:lnTo>
                  <a:cubicBezTo>
                    <a:pt x="265585" y="42861"/>
                    <a:pt x="284348" y="60553"/>
                    <a:pt x="285680" y="83211"/>
                  </a:cubicBezTo>
                  <a:lnTo>
                    <a:pt x="285751" y="85725"/>
                  </a:lnTo>
                  <a:lnTo>
                    <a:pt x="285751" y="200025"/>
                  </a:lnTo>
                  <a:cubicBezTo>
                    <a:pt x="285753" y="222722"/>
                    <a:pt x="268061" y="241485"/>
                    <a:pt x="245403" y="242816"/>
                  </a:cubicBezTo>
                  <a:lnTo>
                    <a:pt x="242889" y="242888"/>
                  </a:lnTo>
                  <a:lnTo>
                    <a:pt x="42864" y="242888"/>
                  </a:lnTo>
                  <a:cubicBezTo>
                    <a:pt x="20167" y="242889"/>
                    <a:pt x="1404" y="225197"/>
                    <a:pt x="73" y="202540"/>
                  </a:cubicBezTo>
                  <a:lnTo>
                    <a:pt x="1" y="200025"/>
                  </a:lnTo>
                  <a:lnTo>
                    <a:pt x="1" y="42863"/>
                  </a:lnTo>
                  <a:cubicBezTo>
                    <a:pt x="0" y="20166"/>
                    <a:pt x="17692" y="1403"/>
                    <a:pt x="40349" y="72"/>
                  </a:cubicBezTo>
                  <a:lnTo>
                    <a:pt x="42864" y="0"/>
                  </a:lnTo>
                  <a:lnTo>
                    <a:pt x="100014" y="0"/>
                  </a:ln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172075" y="1438275"/>
              <a:ext cx="166580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portable tar.gz</a:t>
              </a:r>
              <a:endParaRPr lang="zh-CN" sz="1500" b="1" dirty="0">
                <a:solidFill>
                  <a:srgbClr val="22C55E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700588" y="1831181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解压即用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701540" y="207740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备用交付形式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8096250" y="1047750"/>
              <a:ext cx="3333750" cy="1524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8410573" y="1355675"/>
              <a:ext cx="300850" cy="302024"/>
            </a:xfrm>
            <a:custGeom>
              <a:avLst/>
              <a:gdLst/>
              <a:ahLst/>
              <a:cxnLst/>
              <a:rect l="l" t="t" r="r" b="b"/>
              <a:pathLst>
                <a:path w="300850" h="302024">
                  <a:moveTo>
                    <a:pt x="214314" y="25545"/>
                  </a:moveTo>
                  <a:cubicBezTo>
                    <a:pt x="274362" y="60214"/>
                    <a:pt x="300850" y="132991"/>
                    <a:pt x="277135" y="198146"/>
                  </a:cubicBezTo>
                  <a:cubicBezTo>
                    <a:pt x="253420" y="263301"/>
                    <a:pt x="186348" y="302024"/>
                    <a:pt x="118064" y="289983"/>
                  </a:cubicBezTo>
                  <a:cubicBezTo>
                    <a:pt x="49781" y="277941"/>
                    <a:pt x="0" y="218612"/>
                    <a:pt x="2" y="149275"/>
                  </a:cubicBezTo>
                  <a:lnTo>
                    <a:pt x="73" y="144646"/>
                  </a:lnTo>
                  <a:cubicBezTo>
                    <a:pt x="1701" y="94454"/>
                    <a:pt x="29560" y="48801"/>
                    <a:pt x="73452" y="24400"/>
                  </a:cubicBezTo>
                  <a:cubicBezTo>
                    <a:pt x="117344" y="0"/>
                    <a:pt x="170824" y="435"/>
                    <a:pt x="214314" y="25545"/>
                  </a:cubicBezTo>
                  <a:moveTo>
                    <a:pt x="124403" y="110599"/>
                  </a:moveTo>
                  <a:cubicBezTo>
                    <a:pt x="118824" y="105021"/>
                    <a:pt x="109780" y="105021"/>
                    <a:pt x="104200" y="110599"/>
                  </a:cubicBezTo>
                  <a:lnTo>
                    <a:pt x="75625" y="139174"/>
                  </a:lnTo>
                  <a:cubicBezTo>
                    <a:pt x="70048" y="144753"/>
                    <a:pt x="70048" y="153797"/>
                    <a:pt x="75625" y="159376"/>
                  </a:cubicBezTo>
                  <a:lnTo>
                    <a:pt x="104200" y="187951"/>
                  </a:lnTo>
                  <a:cubicBezTo>
                    <a:pt x="109780" y="193529"/>
                    <a:pt x="118824" y="193529"/>
                    <a:pt x="124403" y="187951"/>
                  </a:cubicBezTo>
                  <a:lnTo>
                    <a:pt x="125589" y="186608"/>
                  </a:lnTo>
                  <a:cubicBezTo>
                    <a:pt x="130001" y="180921"/>
                    <a:pt x="129493" y="172839"/>
                    <a:pt x="124403" y="167749"/>
                  </a:cubicBezTo>
                  <a:lnTo>
                    <a:pt x="105944" y="149275"/>
                  </a:lnTo>
                  <a:lnTo>
                    <a:pt x="124403" y="130801"/>
                  </a:lnTo>
                  <a:cubicBezTo>
                    <a:pt x="129981" y="125222"/>
                    <a:pt x="129981" y="116178"/>
                    <a:pt x="124403" y="110599"/>
                  </a:cubicBezTo>
                  <a:moveTo>
                    <a:pt x="181553" y="110599"/>
                  </a:moveTo>
                  <a:cubicBezTo>
                    <a:pt x="175974" y="105021"/>
                    <a:pt x="166930" y="105021"/>
                    <a:pt x="161350" y="110599"/>
                  </a:cubicBezTo>
                  <a:lnTo>
                    <a:pt x="160165" y="111942"/>
                  </a:lnTo>
                  <a:cubicBezTo>
                    <a:pt x="155753" y="117629"/>
                    <a:pt x="156261" y="125711"/>
                    <a:pt x="161350" y="130801"/>
                  </a:cubicBezTo>
                  <a:lnTo>
                    <a:pt x="179810" y="149275"/>
                  </a:lnTo>
                  <a:lnTo>
                    <a:pt x="161350" y="167749"/>
                  </a:lnTo>
                  <a:cubicBezTo>
                    <a:pt x="155936" y="173355"/>
                    <a:pt x="156013" y="182266"/>
                    <a:pt x="161525" y="187777"/>
                  </a:cubicBezTo>
                  <a:cubicBezTo>
                    <a:pt x="167036" y="193288"/>
                    <a:pt x="175947" y="193366"/>
                    <a:pt x="181553" y="187951"/>
                  </a:cubicBezTo>
                  <a:lnTo>
                    <a:pt x="210128" y="159376"/>
                  </a:lnTo>
                  <a:cubicBezTo>
                    <a:pt x="215706" y="153797"/>
                    <a:pt x="215706" y="144753"/>
                    <a:pt x="210128" y="139174"/>
                  </a:cubicBez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839200" y="14382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59E0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源码构建</a:t>
              </a:r>
              <a:endParaRPr lang="zh-CN" sz="1500" b="1" dirty="0">
                <a:solidFill>
                  <a:srgbClr val="F59E0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67712" y="1831181"/>
              <a:ext cx="9811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cmake + ninja</a:t>
              </a:r>
              <a:endParaRPr lang="zh-CN" sz="1125" dirty="0">
                <a:solidFill>
                  <a:srgbClr val="64748B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68665" y="207740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开发者模式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42950" y="2886075"/>
            <a:ext cx="10687050" cy="1209675"/>
            <a:chOff x="742950" y="2886075"/>
            <a:chExt cx="10687050" cy="1209675"/>
          </a:xfrm>
        </p:grpSpPr>
        <p:sp>
          <p:nvSpPr>
            <p:cNvPr id="24" name="TextBox 24"/>
            <p:cNvSpPr txBox="1"/>
            <p:nvPr/>
          </p:nvSpPr>
          <p:spPr>
            <a:xfrm>
              <a:off x="742950" y="2886075"/>
              <a:ext cx="206485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293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AppImage 打包流水线</a:t>
              </a:r>
              <a:endParaRPr lang="zh-CN" sz="1500" b="1" dirty="0">
                <a:solidFill>
                  <a:srgbClr val="1E293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3333750"/>
              <a:ext cx="1905000" cy="762000"/>
            </a:xfrm>
            <a:prstGeom prst="roundRect">
              <a:avLst>
                <a:gd name="adj" fmla="val 12500"/>
              </a:avLst>
            </a:prstGeom>
            <a:solidFill>
              <a:srgbClr val="2D5F8A">
                <a:alpha val="10000"/>
              </a:srgbClr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235529" y="3545681"/>
              <a:ext cx="95794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Release 构建</a:t>
              </a:r>
              <a:endParaRPr lang="zh-CN" sz="1125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92019" y="3808095"/>
              <a:ext cx="84496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CMake Release</a:t>
              </a:r>
              <a:endParaRPr lang="zh-CN" sz="9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8" name="Polygon 28"/>
            <p:cNvSpPr/>
            <p:nvPr/>
          </p:nvSpPr>
          <p:spPr>
            <a:xfrm rot="10800000">
              <a:off x="2667000" y="357187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142875"/>
                  </a:moveTo>
                  <a:lnTo>
                    <a:pt x="285750" y="0"/>
                  </a:lnTo>
                  <a:lnTo>
                    <a:pt x="285750" y="28575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2952750" y="3333750"/>
              <a:ext cx="1905000" cy="762000"/>
            </a:xfrm>
            <a:prstGeom prst="roundRect">
              <a:avLst>
                <a:gd name="adj" fmla="val 12500"/>
              </a:avLst>
            </a:prstGeom>
            <a:solidFill>
              <a:srgbClr val="22C55E">
                <a:alpha val="10000"/>
              </a:srgbClr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469597" y="3545681"/>
              <a:ext cx="87130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2C55E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AppDir 整理</a:t>
              </a:r>
              <a:endParaRPr lang="zh-CN" sz="1125" b="1" dirty="0">
                <a:solidFill>
                  <a:srgbClr val="22C55E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104721" y="3808095"/>
              <a:ext cx="160105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可执行文件 / desktop / 图标</a:t>
              </a:r>
              <a:endParaRPr lang="zh-CN" sz="9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2" name="Polygon 32"/>
            <p:cNvSpPr/>
            <p:nvPr/>
          </p:nvSpPr>
          <p:spPr>
            <a:xfrm rot="10800000">
              <a:off x="4857750" y="357187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142875"/>
                  </a:moveTo>
                  <a:lnTo>
                    <a:pt x="285750" y="0"/>
                  </a:lnTo>
                  <a:lnTo>
                    <a:pt x="285750" y="28575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143500" y="3333750"/>
              <a:ext cx="1905000" cy="762000"/>
            </a:xfrm>
            <a:prstGeom prst="roundRect">
              <a:avLst>
                <a:gd name="adj" fmla="val 12500"/>
              </a:avLst>
            </a:prstGeom>
            <a:solidFill>
              <a:srgbClr val="F59E0B">
                <a:alpha val="10000"/>
              </a:srgbClr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766673" y="354568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59E0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依赖补齐</a:t>
              </a:r>
              <a:endParaRPr lang="zh-CN" sz="1125" b="1" dirty="0">
                <a:solidFill>
                  <a:srgbClr val="F59E0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406485" y="3808095"/>
              <a:ext cx="13790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Qt 插件 / QML / qsqlite</a:t>
              </a:r>
              <a:endParaRPr lang="zh-CN" sz="9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6" name="Polygon 36"/>
            <p:cNvSpPr/>
            <p:nvPr/>
          </p:nvSpPr>
          <p:spPr>
            <a:xfrm rot="10800000">
              <a:off x="7048500" y="357187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142875"/>
                  </a:moveTo>
                  <a:lnTo>
                    <a:pt x="285750" y="0"/>
                  </a:lnTo>
                  <a:lnTo>
                    <a:pt x="285750" y="28575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7334250" y="3333750"/>
              <a:ext cx="1905000" cy="762000"/>
            </a:xfrm>
            <a:prstGeom prst="roundRect">
              <a:avLst>
                <a:gd name="adj" fmla="val 12500"/>
              </a:avLst>
            </a:prstGeom>
            <a:solidFill>
              <a:srgbClr val="8B5CF6">
                <a:alpha val="10000"/>
              </a:srgbClr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929857" y="3545681"/>
              <a:ext cx="71378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8B5CF6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AppImage</a:t>
              </a:r>
              <a:endParaRPr lang="zh-CN" sz="1125" b="1" dirty="0">
                <a:solidFill>
                  <a:srgbClr val="8B5CF6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35290" y="380809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打包生成</a:t>
              </a:r>
              <a:endParaRPr lang="zh-CN" sz="9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0" name="Polygon 40"/>
            <p:cNvSpPr/>
            <p:nvPr/>
          </p:nvSpPr>
          <p:spPr>
            <a:xfrm rot="10800000">
              <a:off x="9239250" y="357187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142875"/>
                  </a:moveTo>
                  <a:lnTo>
                    <a:pt x="285750" y="0"/>
                  </a:lnTo>
                  <a:lnTo>
                    <a:pt x="285750" y="28575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9525000" y="3333750"/>
              <a:ext cx="1905000" cy="762000"/>
            </a:xfrm>
            <a:prstGeom prst="roundRect">
              <a:avLst>
                <a:gd name="adj" fmla="val 12500"/>
              </a:avLst>
            </a:prstGeom>
            <a:solidFill>
              <a:srgbClr val="EF4444">
                <a:alpha val="10000"/>
              </a:srgbClr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9915832" y="3545681"/>
              <a:ext cx="11233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EF4444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GitHub Release</a:t>
              </a:r>
              <a:endParaRPr lang="zh-CN" sz="1125" b="1" dirty="0">
                <a:solidFill>
                  <a:srgbClr val="EF4444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226040" y="3808095"/>
              <a:ext cx="50292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下载分发</a:t>
              </a:r>
              <a:endParaRPr lang="zh-CN" sz="9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742950" y="4410075"/>
            <a:ext cx="6896814" cy="1781175"/>
            <a:chOff x="742950" y="4410075"/>
            <a:chExt cx="6896814" cy="1781175"/>
          </a:xfrm>
        </p:grpSpPr>
        <p:sp>
          <p:nvSpPr>
            <p:cNvPr id="45" name="TextBox 45"/>
            <p:cNvSpPr txBox="1"/>
            <p:nvPr/>
          </p:nvSpPr>
          <p:spPr>
            <a:xfrm>
              <a:off x="742950" y="4410075"/>
              <a:ext cx="297846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293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运行数据位置（与程序包分离）</a:t>
              </a:r>
              <a:endParaRPr lang="zh-CN" sz="1500" b="1" dirty="0">
                <a:solidFill>
                  <a:srgbClr val="1E293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762000" y="4857750"/>
              <a:ext cx="4762500" cy="13335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34415" y="5077778"/>
              <a:ext cx="296003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5F8A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~/.config/CQNU-SED/GridYard/gridyard.ini</a:t>
              </a:r>
              <a:endParaRPr lang="zh-CN" sz="1050" dirty="0">
                <a:solidFill>
                  <a:srgbClr val="2D5F8A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34415" y="5363528"/>
              <a:ext cx="318406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C55E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~/.local/share/CQNU-SED/GridYard/database/</a:t>
              </a:r>
              <a:endParaRPr lang="zh-CN" sz="1050" dirty="0">
                <a:solidFill>
                  <a:srgbClr val="22C55E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034415" y="5649278"/>
              <a:ext cx="28410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59E0B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~/.local/share/CQNU-SED/GridYard/logs/</a:t>
              </a:r>
              <a:endParaRPr lang="zh-CN" sz="1050" dirty="0">
                <a:solidFill>
                  <a:srgbClr val="F59E0B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795962" y="4926806"/>
              <a:ext cx="125872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config → 配置文件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795962" y="5212556"/>
              <a:ext cx="184380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database → SQLite 数据库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795962" y="5498306"/>
              <a:ext cx="10937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logs → 运行日志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62000" y="6286500"/>
            <a:ext cx="4762500" cy="342900"/>
            <a:chOff x="762000" y="6286500"/>
            <a:chExt cx="4762500" cy="342900"/>
          </a:xfrm>
        </p:grpSpPr>
        <p:sp>
          <p:nvSpPr>
            <p:cNvPr id="54" name="Rectangle 54"/>
            <p:cNvSpPr/>
            <p:nvPr/>
          </p:nvSpPr>
          <p:spPr>
            <a:xfrm>
              <a:off x="762000" y="6286500"/>
              <a:ext cx="4762500" cy="342900"/>
            </a:xfrm>
            <a:prstGeom prst="roundRect">
              <a:avLst>
                <a:gd name="adj" fmla="val 22222"/>
              </a:avLst>
            </a:prstGeom>
            <a:solidFill>
              <a:srgbClr val="E2E8F0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516213" y="6401752"/>
              <a:ext cx="32540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后续：Windows 包 / macOS 包 / 更完整跨平台兼容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0774204" y="6570345"/>
            <a:ext cx="9529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rPr>
              <a:t>GridYard v6.8.1</a:t>
            </a:r>
            <a:endParaRPr lang="zh-CN" sz="900" dirty="0">
              <a:solidFill>
                <a:srgbClr val="94A3B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44" grpId="0"/>
      <p:bldP spid="53" grpId="0"/>
      <p:bldP spid="5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D5F8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45770" y="217170"/>
            <a:ext cx="11283315" cy="487680"/>
            <a:chOff x="445770" y="217170"/>
            <a:chExt cx="11283315" cy="487680"/>
          </a:xfrm>
        </p:grpSpPr>
        <p:sp>
          <p:nvSpPr>
            <p:cNvPr id="4" name="TextBox 4"/>
            <p:cNvSpPr txBox="1"/>
            <p:nvPr/>
          </p:nvSpPr>
          <p:spPr>
            <a:xfrm>
              <a:off x="445770" y="217170"/>
              <a:ext cx="207721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四层架构设计</a:t>
              </a:r>
              <a:endParaRPr lang="zh-CN" sz="240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476250" y="59055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548396" y="36290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10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1905000" y="1047750"/>
            <a:ext cx="8382000" cy="5334000"/>
            <a:chOff x="1905000" y="1047750"/>
            <a:chExt cx="8382000" cy="5334000"/>
          </a:xfrm>
        </p:grpSpPr>
        <p:sp>
          <p:nvSpPr>
            <p:cNvPr id="8" name="Rectangle 8"/>
            <p:cNvSpPr/>
            <p:nvPr/>
          </p:nvSpPr>
          <p:spPr>
            <a:xfrm>
              <a:off x="1905000" y="1047750"/>
              <a:ext cx="8382000" cy="1047750"/>
            </a:xfrm>
            <a:prstGeom prst="roundRect">
              <a:avLst>
                <a:gd name="adj" fmla="val 10909"/>
              </a:avLst>
            </a:prstGeom>
            <a:solidFill>
              <a:srgbClr val="2D5F8A">
                <a:alpha val="10000"/>
              </a:srgbClr>
            </a:solidFill>
            <a:ln w="19050">
              <a:solidFill>
                <a:srgbClr val="2D5F8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2219325" y="1328738"/>
              <a:ext cx="285750" cy="257175"/>
            </a:xfrm>
            <a:custGeom>
              <a:avLst/>
              <a:gdLst/>
              <a:ahLst/>
              <a:cxnLst/>
              <a:rect l="l" t="t" r="r" b="b"/>
              <a:pathLst>
                <a:path w="285750" h="257175">
                  <a:moveTo>
                    <a:pt x="71438" y="257175"/>
                  </a:moveTo>
                  <a:cubicBezTo>
                    <a:pt x="63547" y="257175"/>
                    <a:pt x="57150" y="250778"/>
                    <a:pt x="57150" y="242888"/>
                  </a:cubicBezTo>
                  <a:cubicBezTo>
                    <a:pt x="57150" y="234997"/>
                    <a:pt x="63547" y="228600"/>
                    <a:pt x="71438" y="228600"/>
                  </a:cubicBezTo>
                  <a:lnTo>
                    <a:pt x="85725" y="228600"/>
                  </a:lnTo>
                  <a:lnTo>
                    <a:pt x="85725" y="200025"/>
                  </a:lnTo>
                  <a:lnTo>
                    <a:pt x="28575" y="200025"/>
                  </a:lnTo>
                  <a:cubicBezTo>
                    <a:pt x="12793" y="200025"/>
                    <a:pt x="0" y="187232"/>
                    <a:pt x="0" y="171450"/>
                  </a:cubicBezTo>
                  <a:lnTo>
                    <a:pt x="0" y="28575"/>
                  </a:lnTo>
                  <a:cubicBezTo>
                    <a:pt x="0" y="12793"/>
                    <a:pt x="12793" y="0"/>
                    <a:pt x="28575" y="0"/>
                  </a:cubicBezTo>
                  <a:lnTo>
                    <a:pt x="257175" y="0"/>
                  </a:lnTo>
                  <a:cubicBezTo>
                    <a:pt x="272957" y="0"/>
                    <a:pt x="285750" y="12793"/>
                    <a:pt x="285750" y="28575"/>
                  </a:cubicBezTo>
                  <a:lnTo>
                    <a:pt x="285750" y="171450"/>
                  </a:lnTo>
                  <a:cubicBezTo>
                    <a:pt x="285750" y="187232"/>
                    <a:pt x="272957" y="200025"/>
                    <a:pt x="257175" y="200025"/>
                  </a:cubicBezTo>
                  <a:lnTo>
                    <a:pt x="200025" y="200025"/>
                  </a:lnTo>
                  <a:lnTo>
                    <a:pt x="200025" y="228600"/>
                  </a:lnTo>
                  <a:lnTo>
                    <a:pt x="214312" y="228600"/>
                  </a:lnTo>
                  <a:cubicBezTo>
                    <a:pt x="222203" y="228600"/>
                    <a:pt x="228600" y="234997"/>
                    <a:pt x="228600" y="242888"/>
                  </a:cubicBezTo>
                  <a:cubicBezTo>
                    <a:pt x="228600" y="250778"/>
                    <a:pt x="222203" y="257175"/>
                    <a:pt x="214312" y="257175"/>
                  </a:cubicBezTo>
                  <a:close/>
                  <a:moveTo>
                    <a:pt x="171450" y="200025"/>
                  </a:moveTo>
                  <a:lnTo>
                    <a:pt x="114300" y="200025"/>
                  </a:lnTo>
                  <a:lnTo>
                    <a:pt x="114300" y="228600"/>
                  </a:lnTo>
                  <a:lnTo>
                    <a:pt x="171450" y="228600"/>
                  </a:lnTo>
                  <a:close/>
                </a:path>
              </a:pathLst>
            </a:custGeom>
            <a:solidFill>
              <a:srgbClr val="2D5F8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647950" y="1314450"/>
              <a:ext cx="116174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QML 表现层</a:t>
              </a:r>
              <a:endParaRPr lang="zh-CN" sz="150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52712" y="1640681"/>
              <a:ext cx="371903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设备列表 / 统一会话 / 聊天气泡 / 文件卡片 / 设置窗口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54618" y="1875949"/>
              <a:ext cx="355470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Main.qml, DeviceSessionView, ConversationTimelineView</a:t>
              </a:r>
              <a:endParaRPr lang="zh-CN" sz="975" dirty="0">
                <a:solidFill>
                  <a:srgbClr val="94A3B8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  <p:sp>
          <p:nvSpPr>
            <p:cNvPr id="13" name="Line 13"/>
            <p:cNvSpPr/>
            <p:nvPr/>
          </p:nvSpPr>
          <p:spPr>
            <a:xfrm>
              <a:off x="6096000" y="2095500"/>
              <a:ext cx="1" cy="381000"/>
            </a:xfrm>
            <a:prstGeom prst="line">
              <a:avLst/>
            </a:prstGeom>
            <a:noFill/>
            <a:ln w="19050">
              <a:solidFill>
                <a:srgbClr val="CBD5E1"/>
              </a:solidFill>
              <a:tailEnd type="triangle" w="lg" len="lg"/>
            </a:ln>
          </p:spPr>
        </p:sp>
        <p:sp>
          <p:nvSpPr>
            <p:cNvPr id="14" name="Rectangle 14"/>
            <p:cNvSpPr/>
            <p:nvPr/>
          </p:nvSpPr>
          <p:spPr>
            <a:xfrm>
              <a:off x="1905000" y="2476500"/>
              <a:ext cx="8382000" cy="1047750"/>
            </a:xfrm>
            <a:prstGeom prst="roundRect">
              <a:avLst>
                <a:gd name="adj" fmla="val 10909"/>
              </a:avLst>
            </a:prstGeom>
            <a:solidFill>
              <a:srgbClr val="22C55E">
                <a:alpha val="10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2209409" y="2733284"/>
              <a:ext cx="305581" cy="305581"/>
            </a:xfrm>
            <a:custGeom>
              <a:avLst/>
              <a:gdLst/>
              <a:ahLst/>
              <a:cxnLst/>
              <a:rect l="l" t="t" r="r" b="b"/>
              <a:pathLst>
                <a:path w="305581" h="305581">
                  <a:moveTo>
                    <a:pt x="190610" y="39648"/>
                  </a:moveTo>
                  <a:cubicBezTo>
                    <a:pt x="191387" y="42857"/>
                    <a:pt x="193650" y="45502"/>
                    <a:pt x="196699" y="46767"/>
                  </a:cubicBezTo>
                  <a:cubicBezTo>
                    <a:pt x="199749" y="48032"/>
                    <a:pt x="203220" y="47765"/>
                    <a:pt x="206040" y="46049"/>
                  </a:cubicBezTo>
                  <a:cubicBezTo>
                    <a:pt x="240887" y="24832"/>
                    <a:pt x="280764" y="64694"/>
                    <a:pt x="259547" y="99541"/>
                  </a:cubicBezTo>
                  <a:cubicBezTo>
                    <a:pt x="257830" y="102360"/>
                    <a:pt x="257562" y="105828"/>
                    <a:pt x="258824" y="108877"/>
                  </a:cubicBezTo>
                  <a:cubicBezTo>
                    <a:pt x="260086" y="111926"/>
                    <a:pt x="262727" y="114190"/>
                    <a:pt x="265933" y="114972"/>
                  </a:cubicBezTo>
                  <a:cubicBezTo>
                    <a:pt x="305581" y="124587"/>
                    <a:pt x="305581" y="180980"/>
                    <a:pt x="265933" y="190610"/>
                  </a:cubicBezTo>
                  <a:cubicBezTo>
                    <a:pt x="262724" y="191387"/>
                    <a:pt x="260079" y="193650"/>
                    <a:pt x="258814" y="196699"/>
                  </a:cubicBezTo>
                  <a:cubicBezTo>
                    <a:pt x="257549" y="199749"/>
                    <a:pt x="257816" y="203220"/>
                    <a:pt x="259532" y="206040"/>
                  </a:cubicBezTo>
                  <a:cubicBezTo>
                    <a:pt x="280749" y="240887"/>
                    <a:pt x="240887" y="280764"/>
                    <a:pt x="206040" y="259547"/>
                  </a:cubicBezTo>
                  <a:cubicBezTo>
                    <a:pt x="203221" y="257830"/>
                    <a:pt x="199753" y="257562"/>
                    <a:pt x="196704" y="258824"/>
                  </a:cubicBezTo>
                  <a:cubicBezTo>
                    <a:pt x="193655" y="260086"/>
                    <a:pt x="191391" y="262727"/>
                    <a:pt x="190610" y="265933"/>
                  </a:cubicBezTo>
                  <a:cubicBezTo>
                    <a:pt x="180994" y="305581"/>
                    <a:pt x="124601" y="305581"/>
                    <a:pt x="114972" y="265933"/>
                  </a:cubicBezTo>
                  <a:cubicBezTo>
                    <a:pt x="114194" y="262724"/>
                    <a:pt x="111931" y="260079"/>
                    <a:pt x="108882" y="258814"/>
                  </a:cubicBezTo>
                  <a:cubicBezTo>
                    <a:pt x="105832" y="257549"/>
                    <a:pt x="102362" y="257816"/>
                    <a:pt x="99541" y="259532"/>
                  </a:cubicBezTo>
                  <a:cubicBezTo>
                    <a:pt x="64694" y="280749"/>
                    <a:pt x="24817" y="240887"/>
                    <a:pt x="46034" y="206040"/>
                  </a:cubicBezTo>
                  <a:cubicBezTo>
                    <a:pt x="47751" y="203221"/>
                    <a:pt x="48019" y="199753"/>
                    <a:pt x="46757" y="196704"/>
                  </a:cubicBezTo>
                  <a:cubicBezTo>
                    <a:pt x="45495" y="193655"/>
                    <a:pt x="42854" y="191391"/>
                    <a:pt x="39648" y="190610"/>
                  </a:cubicBezTo>
                  <a:cubicBezTo>
                    <a:pt x="0" y="180994"/>
                    <a:pt x="0" y="124601"/>
                    <a:pt x="39648" y="114972"/>
                  </a:cubicBezTo>
                  <a:cubicBezTo>
                    <a:pt x="42857" y="114194"/>
                    <a:pt x="45502" y="111931"/>
                    <a:pt x="46767" y="108882"/>
                  </a:cubicBezTo>
                  <a:cubicBezTo>
                    <a:pt x="48032" y="105832"/>
                    <a:pt x="47765" y="102362"/>
                    <a:pt x="46049" y="99541"/>
                  </a:cubicBezTo>
                  <a:cubicBezTo>
                    <a:pt x="24832" y="64694"/>
                    <a:pt x="64694" y="24817"/>
                    <a:pt x="99541" y="46034"/>
                  </a:cubicBezTo>
                  <a:cubicBezTo>
                    <a:pt x="102357" y="47764"/>
                    <a:pt x="105831" y="48040"/>
                    <a:pt x="108885" y="46776"/>
                  </a:cubicBezTo>
                  <a:cubicBezTo>
                    <a:pt x="111938" y="45512"/>
                    <a:pt x="114202" y="42862"/>
                    <a:pt x="114972" y="39648"/>
                  </a:cubicBezTo>
                  <a:cubicBezTo>
                    <a:pt x="124587" y="0"/>
                    <a:pt x="180980" y="0"/>
                    <a:pt x="190610" y="39648"/>
                  </a:cubicBezTo>
                  <a:close/>
                  <a:moveTo>
                    <a:pt x="152791" y="109928"/>
                  </a:moveTo>
                  <a:cubicBezTo>
                    <a:pt x="129118" y="109928"/>
                    <a:pt x="109928" y="129118"/>
                    <a:pt x="109928" y="152791"/>
                  </a:cubicBezTo>
                  <a:cubicBezTo>
                    <a:pt x="109928" y="176463"/>
                    <a:pt x="129118" y="195653"/>
                    <a:pt x="152791" y="195653"/>
                  </a:cubicBezTo>
                  <a:cubicBezTo>
                    <a:pt x="176463" y="195653"/>
                    <a:pt x="195653" y="176463"/>
                    <a:pt x="195653" y="152791"/>
                  </a:cubicBezTo>
                  <a:cubicBezTo>
                    <a:pt x="195653" y="129118"/>
                    <a:pt x="176463" y="109928"/>
                    <a:pt x="152791" y="109928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647950" y="2743200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22C55E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应用逻辑层</a:t>
              </a:r>
              <a:endParaRPr lang="zh-CN" sz="1500" b="1" dirty="0">
                <a:solidFill>
                  <a:srgbClr val="22C55E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652712" y="3069431"/>
              <a:ext cx="369653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应用组合根 / 会话调度 / 传输任务管理 / 历史记录控制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54618" y="3304699"/>
              <a:ext cx="47183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AppController, ChatManager, TransferSessionManager, HistoryController</a:t>
              </a:r>
              <a:endParaRPr lang="zh-CN" sz="975" dirty="0">
                <a:solidFill>
                  <a:srgbClr val="94A3B8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0" y="3524250"/>
              <a:ext cx="1" cy="381000"/>
            </a:xfrm>
            <a:prstGeom prst="line">
              <a:avLst/>
            </a:prstGeom>
            <a:noFill/>
            <a:ln w="19050">
              <a:solidFill>
                <a:srgbClr val="CBD5E1"/>
              </a:solidFill>
              <a:tailEnd type="triangle" w="lg" len="lg"/>
            </a:ln>
          </p:spPr>
        </p:sp>
        <p:sp>
          <p:nvSpPr>
            <p:cNvPr id="20" name="Rectangle 20"/>
            <p:cNvSpPr/>
            <p:nvPr/>
          </p:nvSpPr>
          <p:spPr>
            <a:xfrm>
              <a:off x="1905000" y="3905250"/>
              <a:ext cx="8382000" cy="1047750"/>
            </a:xfrm>
            <a:prstGeom prst="roundRect">
              <a:avLst>
                <a:gd name="adj" fmla="val 10909"/>
              </a:avLst>
            </a:prstGeom>
            <a:solidFill>
              <a:srgbClr val="F59E0B">
                <a:alpha val="10000"/>
              </a:srgbClr>
            </a:solidFill>
            <a:ln w="19050">
              <a:solidFill>
                <a:srgbClr val="F59E0B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2212856" y="4171950"/>
              <a:ext cx="298675" cy="285903"/>
            </a:xfrm>
            <a:custGeom>
              <a:avLst/>
              <a:gdLst/>
              <a:ahLst/>
              <a:cxnLst/>
              <a:rect l="l" t="t" r="r" b="b"/>
              <a:pathLst>
                <a:path w="298675" h="285903">
                  <a:moveTo>
                    <a:pt x="149316" y="0"/>
                  </a:moveTo>
                  <a:lnTo>
                    <a:pt x="151002" y="100"/>
                  </a:lnTo>
                  <a:lnTo>
                    <a:pt x="151845" y="214"/>
                  </a:lnTo>
                  <a:lnTo>
                    <a:pt x="152716" y="400"/>
                  </a:lnTo>
                  <a:lnTo>
                    <a:pt x="154302" y="886"/>
                  </a:lnTo>
                  <a:cubicBezTo>
                    <a:pt x="155397" y="1290"/>
                    <a:pt x="156439" y="1827"/>
                    <a:pt x="157402" y="2486"/>
                  </a:cubicBezTo>
                  <a:lnTo>
                    <a:pt x="158888" y="3658"/>
                  </a:lnTo>
                  <a:lnTo>
                    <a:pt x="162532" y="6772"/>
                  </a:lnTo>
                  <a:cubicBezTo>
                    <a:pt x="191354" y="30712"/>
                    <a:pt x="227781" y="43567"/>
                    <a:pt x="265245" y="43020"/>
                  </a:cubicBezTo>
                  <a:lnTo>
                    <a:pt x="270131" y="42877"/>
                  </a:lnTo>
                  <a:cubicBezTo>
                    <a:pt x="276705" y="42577"/>
                    <a:pt x="282634" y="46807"/>
                    <a:pt x="284490" y="53121"/>
                  </a:cubicBezTo>
                  <a:cubicBezTo>
                    <a:pt x="298675" y="101374"/>
                    <a:pt x="292685" y="153316"/>
                    <a:pt x="267890" y="197074"/>
                  </a:cubicBezTo>
                  <a:cubicBezTo>
                    <a:pt x="243095" y="240832"/>
                    <a:pt x="201614" y="272664"/>
                    <a:pt x="152930" y="285293"/>
                  </a:cubicBezTo>
                  <a:cubicBezTo>
                    <a:pt x="150579" y="285903"/>
                    <a:pt x="148110" y="285903"/>
                    <a:pt x="145758" y="285293"/>
                  </a:cubicBezTo>
                  <a:cubicBezTo>
                    <a:pt x="97072" y="272667"/>
                    <a:pt x="55588" y="240837"/>
                    <a:pt x="30790" y="197078"/>
                  </a:cubicBezTo>
                  <a:cubicBezTo>
                    <a:pt x="5992" y="153320"/>
                    <a:pt x="0" y="101376"/>
                    <a:pt x="14185" y="53121"/>
                  </a:cubicBezTo>
                  <a:cubicBezTo>
                    <a:pt x="16040" y="46807"/>
                    <a:pt x="21969" y="42577"/>
                    <a:pt x="28543" y="42877"/>
                  </a:cubicBezTo>
                  <a:cubicBezTo>
                    <a:pt x="67655" y="44665"/>
                    <a:pt x="106026" y="31790"/>
                    <a:pt x="136143" y="6772"/>
                  </a:cubicBezTo>
                  <a:lnTo>
                    <a:pt x="139900" y="3558"/>
                  </a:lnTo>
                  <a:lnTo>
                    <a:pt x="141272" y="2486"/>
                  </a:lnTo>
                  <a:cubicBezTo>
                    <a:pt x="142236" y="1827"/>
                    <a:pt x="143277" y="1290"/>
                    <a:pt x="144372" y="886"/>
                  </a:cubicBezTo>
                  <a:lnTo>
                    <a:pt x="145972" y="400"/>
                  </a:lnTo>
                  <a:cubicBezTo>
                    <a:pt x="146532" y="265"/>
                    <a:pt x="147100" y="165"/>
                    <a:pt x="147673" y="100"/>
                  </a:cubicBezTo>
                  <a:lnTo>
                    <a:pt x="149316" y="0"/>
                  </a:lnTo>
                  <a:close/>
                  <a:moveTo>
                    <a:pt x="202322" y="104199"/>
                  </a:moveTo>
                  <a:cubicBezTo>
                    <a:pt x="199642" y="101516"/>
                    <a:pt x="196006" y="100008"/>
                    <a:pt x="192214" y="100008"/>
                  </a:cubicBezTo>
                  <a:cubicBezTo>
                    <a:pt x="188422" y="100008"/>
                    <a:pt x="184785" y="101516"/>
                    <a:pt x="182106" y="104199"/>
                  </a:cubicBezTo>
                  <a:lnTo>
                    <a:pt x="135057" y="151233"/>
                  </a:lnTo>
                  <a:lnTo>
                    <a:pt x="116583" y="132774"/>
                  </a:lnTo>
                  <a:lnTo>
                    <a:pt x="115240" y="131588"/>
                  </a:lnTo>
                  <a:cubicBezTo>
                    <a:pt x="109280" y="126980"/>
                    <a:pt x="100766" y="127791"/>
                    <a:pt x="95784" y="133441"/>
                  </a:cubicBezTo>
                  <a:cubicBezTo>
                    <a:pt x="90802" y="139092"/>
                    <a:pt x="91063" y="147640"/>
                    <a:pt x="96381" y="152976"/>
                  </a:cubicBezTo>
                  <a:lnTo>
                    <a:pt x="124956" y="181551"/>
                  </a:lnTo>
                  <a:lnTo>
                    <a:pt x="126299" y="182737"/>
                  </a:lnTo>
                  <a:cubicBezTo>
                    <a:pt x="131986" y="187149"/>
                    <a:pt x="140068" y="186641"/>
                    <a:pt x="145158" y="181551"/>
                  </a:cubicBezTo>
                  <a:lnTo>
                    <a:pt x="202308" y="124401"/>
                  </a:lnTo>
                  <a:lnTo>
                    <a:pt x="203494" y="123058"/>
                  </a:lnTo>
                  <a:cubicBezTo>
                    <a:pt x="207906" y="117371"/>
                    <a:pt x="207398" y="109289"/>
                    <a:pt x="202308" y="104199"/>
                  </a:cubicBez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647950" y="4171950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59E0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网络与协议层</a:t>
              </a:r>
              <a:endParaRPr lang="zh-CN" sz="1500" b="1" dirty="0">
                <a:solidFill>
                  <a:srgbClr val="F59E0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652712" y="4498181"/>
              <a:ext cx="384655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UDP 发现 / TCP 监听 / 首帧分流 / 文件收发 / TLV 编解码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654618" y="4733449"/>
              <a:ext cx="392525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DiscoveryService, P2pServer, FileSenderWorker, FrameCodec</a:t>
              </a:r>
              <a:endParaRPr lang="zh-CN" sz="975" dirty="0">
                <a:solidFill>
                  <a:srgbClr val="94A3B8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>
              <a:off x="6096000" y="4953000"/>
              <a:ext cx="1" cy="381000"/>
            </a:xfrm>
            <a:prstGeom prst="line">
              <a:avLst/>
            </a:prstGeom>
            <a:noFill/>
            <a:ln w="19050">
              <a:solidFill>
                <a:srgbClr val="CBD5E1"/>
              </a:solidFill>
              <a:tailEnd type="triangle" w="lg" len="lg"/>
            </a:ln>
          </p:spPr>
        </p:sp>
        <p:sp>
          <p:nvSpPr>
            <p:cNvPr id="26" name="Rectangle 26"/>
            <p:cNvSpPr/>
            <p:nvPr/>
          </p:nvSpPr>
          <p:spPr>
            <a:xfrm>
              <a:off x="1905000" y="5334000"/>
              <a:ext cx="8382000" cy="1047750"/>
            </a:xfrm>
            <a:prstGeom prst="roundRect">
              <a:avLst>
                <a:gd name="adj" fmla="val 10909"/>
              </a:avLst>
            </a:prstGeom>
            <a:solidFill>
              <a:srgbClr val="8B5CF6">
                <a:alpha val="10000"/>
              </a:srgbClr>
            </a:solidFill>
            <a:ln w="19050">
              <a:solidFill>
                <a:srgbClr val="8B5CF6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2233611" y="5600700"/>
              <a:ext cx="257176" cy="285750"/>
              <a:chOff x="2233611" y="5600700"/>
              <a:chExt cx="257176" cy="285750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2233612" y="5796882"/>
                <a:ext cx="257175" cy="89568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89568">
                    <a:moveTo>
                      <a:pt x="0" y="0"/>
                    </a:moveTo>
                    <a:cubicBezTo>
                      <a:pt x="28118" y="21531"/>
                      <a:pt x="74781" y="32418"/>
                      <a:pt x="128588" y="32418"/>
                    </a:cubicBezTo>
                    <a:cubicBezTo>
                      <a:pt x="182308" y="32418"/>
                      <a:pt x="228957" y="21560"/>
                      <a:pt x="257175" y="243"/>
                    </a:cubicBezTo>
                    <a:lnTo>
                      <a:pt x="257175" y="32418"/>
                    </a:lnTo>
                    <a:cubicBezTo>
                      <a:pt x="257175" y="67066"/>
                      <a:pt x="201525" y="88654"/>
                      <a:pt x="132974" y="89540"/>
                    </a:cubicBezTo>
                    <a:lnTo>
                      <a:pt x="128588" y="89568"/>
                    </a:lnTo>
                    <a:cubicBezTo>
                      <a:pt x="58036" y="89568"/>
                      <a:pt x="0" y="67808"/>
                      <a:pt x="0" y="32418"/>
                    </a:cubicBez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2233612" y="5711157"/>
                <a:ext cx="257175" cy="89568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89568">
                    <a:moveTo>
                      <a:pt x="0" y="0"/>
                    </a:moveTo>
                    <a:cubicBezTo>
                      <a:pt x="28118" y="21531"/>
                      <a:pt x="74781" y="32418"/>
                      <a:pt x="128588" y="32418"/>
                    </a:cubicBezTo>
                    <a:cubicBezTo>
                      <a:pt x="182308" y="32418"/>
                      <a:pt x="228957" y="21560"/>
                      <a:pt x="257175" y="243"/>
                    </a:cubicBezTo>
                    <a:lnTo>
                      <a:pt x="257175" y="32418"/>
                    </a:lnTo>
                    <a:cubicBezTo>
                      <a:pt x="257175" y="67808"/>
                      <a:pt x="199139" y="89568"/>
                      <a:pt x="128588" y="89568"/>
                    </a:cubicBezTo>
                    <a:cubicBezTo>
                      <a:pt x="60036" y="89568"/>
                      <a:pt x="3286" y="69023"/>
                      <a:pt x="300" y="35347"/>
                    </a:cubicBezTo>
                    <a:lnTo>
                      <a:pt x="71" y="33904"/>
                    </a:lnTo>
                    <a:lnTo>
                      <a:pt x="0" y="32418"/>
                    </a:ln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2233611" y="5600700"/>
                <a:ext cx="257176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257176" h="114300">
                    <a:moveTo>
                      <a:pt x="128589" y="0"/>
                    </a:moveTo>
                    <a:cubicBezTo>
                      <a:pt x="143462" y="0"/>
                      <a:pt x="157792" y="972"/>
                      <a:pt x="171123" y="2829"/>
                    </a:cubicBezTo>
                    <a:lnTo>
                      <a:pt x="177823" y="3843"/>
                    </a:lnTo>
                    <a:cubicBezTo>
                      <a:pt x="185824" y="5177"/>
                      <a:pt x="193378" y="6834"/>
                      <a:pt x="200483" y="8815"/>
                    </a:cubicBezTo>
                    <a:lnTo>
                      <a:pt x="206770" y="10687"/>
                    </a:lnTo>
                    <a:lnTo>
                      <a:pt x="207841" y="11030"/>
                    </a:lnTo>
                    <a:cubicBezTo>
                      <a:pt x="211730" y="12308"/>
                      <a:pt x="215566" y="13738"/>
                      <a:pt x="219343" y="15316"/>
                    </a:cubicBezTo>
                    <a:lnTo>
                      <a:pt x="222186" y="16545"/>
                    </a:lnTo>
                    <a:cubicBezTo>
                      <a:pt x="227282" y="18850"/>
                      <a:pt x="231887" y="21374"/>
                      <a:pt x="236002" y="24117"/>
                    </a:cubicBezTo>
                    <a:cubicBezTo>
                      <a:pt x="237574" y="25165"/>
                      <a:pt x="239064" y="26237"/>
                      <a:pt x="240474" y="27332"/>
                    </a:cubicBezTo>
                    <a:cubicBezTo>
                      <a:pt x="244045" y="30103"/>
                      <a:pt x="247256" y="33309"/>
                      <a:pt x="250032" y="36876"/>
                    </a:cubicBezTo>
                    <a:lnTo>
                      <a:pt x="251333" y="38705"/>
                    </a:lnTo>
                    <a:cubicBezTo>
                      <a:pt x="251999" y="39705"/>
                      <a:pt x="252614" y="40710"/>
                      <a:pt x="253176" y="41719"/>
                    </a:cubicBezTo>
                    <a:lnTo>
                      <a:pt x="254176" y="43705"/>
                    </a:lnTo>
                    <a:cubicBezTo>
                      <a:pt x="255728" y="47039"/>
                      <a:pt x="256681" y="50516"/>
                      <a:pt x="257033" y="54135"/>
                    </a:cubicBezTo>
                    <a:lnTo>
                      <a:pt x="257176" y="57150"/>
                    </a:lnTo>
                    <a:cubicBezTo>
                      <a:pt x="257176" y="92540"/>
                      <a:pt x="199140" y="114300"/>
                      <a:pt x="128589" y="114300"/>
                    </a:cubicBezTo>
                    <a:cubicBezTo>
                      <a:pt x="60037" y="114300"/>
                      <a:pt x="3287" y="93755"/>
                      <a:pt x="301" y="60079"/>
                    </a:cubicBezTo>
                    <a:cubicBezTo>
                      <a:pt x="101" y="59116"/>
                      <a:pt x="0" y="58134"/>
                      <a:pt x="1" y="57150"/>
                    </a:cubicBezTo>
                    <a:lnTo>
                      <a:pt x="73" y="55664"/>
                    </a:lnTo>
                    <a:lnTo>
                      <a:pt x="301" y="54235"/>
                    </a:lnTo>
                    <a:cubicBezTo>
                      <a:pt x="3230" y="21288"/>
                      <a:pt x="57594" y="900"/>
                      <a:pt x="124131" y="29"/>
                    </a:cubicBezTo>
                    <a:close/>
                  </a:path>
                </a:pathLst>
              </a:custGeom>
              <a:solidFill>
                <a:srgbClr val="8B5CF6"/>
              </a:solidFill>
              <a:ln>
                <a:noFill/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2647950" y="5600700"/>
              <a:ext cx="10882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8B5CF6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本地数据层</a:t>
              </a:r>
              <a:endParaRPr lang="zh-CN" sz="1500" b="1" dirty="0">
                <a:solidFill>
                  <a:srgbClr val="8B5CF6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652712" y="5926931"/>
              <a:ext cx="425160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SQLite 数据库 / 设备目录 / 聊天历史 / 传输历史 / 迁移与仓储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654618" y="6162199"/>
              <a:ext cx="42177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Repository, DatabaseWorker, MigrationRunner, Sqlite*Repository</a:t>
              </a:r>
              <a:endParaRPr lang="zh-CN" sz="975" dirty="0">
                <a:solidFill>
                  <a:srgbClr val="94A3B8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78705" y="3512820"/>
            <a:ext cx="10735627" cy="213360"/>
            <a:chOff x="878705" y="3512820"/>
            <a:chExt cx="10735627" cy="213360"/>
          </a:xfrm>
        </p:grpSpPr>
        <p:sp>
          <p:nvSpPr>
            <p:cNvPr id="35" name="TextBox 35"/>
            <p:cNvSpPr txBox="1"/>
            <p:nvPr/>
          </p:nvSpPr>
          <p:spPr>
            <a:xfrm rot="-5400000">
              <a:off x="878705" y="3512820"/>
              <a:ext cx="70575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用户操作 →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 rot="5400000">
              <a:off x="10306502" y="3512820"/>
              <a:ext cx="13078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→ 文件 / 消息 / 历史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10774204" y="6570345"/>
            <a:ext cx="9529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rPr>
              <a:t>GridYard v6.8.1</a:t>
            </a:r>
            <a:endParaRPr lang="zh-CN" sz="900" dirty="0">
              <a:solidFill>
                <a:srgbClr val="94A3B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/>
      <p:bldP spid="3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D5F8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45770" y="217170"/>
            <a:ext cx="11283315" cy="487680"/>
            <a:chOff x="445770" y="217170"/>
            <a:chExt cx="11283315" cy="487680"/>
          </a:xfrm>
        </p:grpSpPr>
        <p:sp>
          <p:nvSpPr>
            <p:cNvPr id="4" name="TextBox 4"/>
            <p:cNvSpPr txBox="1"/>
            <p:nvPr/>
          </p:nvSpPr>
          <p:spPr>
            <a:xfrm>
              <a:off x="445770" y="217170"/>
              <a:ext cx="343818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UDP 广播解决"谁在线"</a:t>
              </a:r>
              <a:endParaRPr lang="zh-CN" sz="240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476250" y="59055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548396" y="36290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11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952500" y="1428750"/>
            <a:ext cx="9810750" cy="762000"/>
            <a:chOff x="952500" y="1428750"/>
            <a:chExt cx="9810750" cy="762000"/>
          </a:xfrm>
        </p:grpSpPr>
        <p:sp>
          <p:nvSpPr>
            <p:cNvPr id="8" name="Rectangle 8"/>
            <p:cNvSpPr/>
            <p:nvPr/>
          </p:nvSpPr>
          <p:spPr>
            <a:xfrm>
              <a:off x="952500" y="1428750"/>
              <a:ext cx="2095500" cy="762000"/>
            </a:xfrm>
            <a:prstGeom prst="roundRect">
              <a:avLst>
                <a:gd name="adj" fmla="val 12500"/>
              </a:avLst>
            </a:prstGeom>
            <a:solidFill>
              <a:srgbClr val="2D5F8A">
                <a:alpha val="10000"/>
              </a:srgbClr>
            </a:solidFill>
            <a:ln w="19050">
              <a:solidFill>
                <a:srgbClr val="2D5F8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48968" y="16325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本机启动</a:t>
              </a:r>
              <a:endParaRPr lang="zh-CN" sz="120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03557" y="1894999"/>
              <a:ext cx="99338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GridYard 客户端</a:t>
              </a:r>
              <a:endParaRPr lang="zh-CN" sz="97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1" name="Polygon 11"/>
            <p:cNvSpPr/>
            <p:nvPr/>
          </p:nvSpPr>
          <p:spPr>
            <a:xfrm>
              <a:off x="3048000" y="166687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142875"/>
                  </a:moveTo>
                  <a:lnTo>
                    <a:pt x="285750" y="0"/>
                  </a:lnTo>
                  <a:lnTo>
                    <a:pt x="285750" y="28575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3333750" y="1428750"/>
              <a:ext cx="2095500" cy="762000"/>
            </a:xfrm>
            <a:prstGeom prst="roundRect">
              <a:avLst>
                <a:gd name="adj" fmla="val 12500"/>
              </a:avLst>
            </a:prstGeom>
            <a:solidFill>
              <a:srgbClr val="22C55E">
                <a:alpha val="10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4030218" y="16325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2C55E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遍历网卡</a:t>
              </a:r>
              <a:endParaRPr lang="zh-CN" sz="1200" b="1" dirty="0">
                <a:solidFill>
                  <a:srgbClr val="22C55E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823049" y="1894999"/>
              <a:ext cx="11169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过滤回环 / 非 IPv4</a:t>
              </a:r>
              <a:endParaRPr lang="zh-CN" sz="97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5" name="Polygon 15"/>
            <p:cNvSpPr/>
            <p:nvPr/>
          </p:nvSpPr>
          <p:spPr>
            <a:xfrm>
              <a:off x="5429250" y="166687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142875"/>
                  </a:moveTo>
                  <a:lnTo>
                    <a:pt x="285750" y="0"/>
                  </a:lnTo>
                  <a:lnTo>
                    <a:pt x="285750" y="28575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715000" y="1428750"/>
              <a:ext cx="2286000" cy="762000"/>
            </a:xfrm>
            <a:prstGeom prst="roundRect">
              <a:avLst>
                <a:gd name="adj" fmla="val 12500"/>
              </a:avLst>
            </a:prstGeom>
            <a:solidFill>
              <a:srgbClr val="F59E0B">
                <a:alpha val="10000"/>
              </a:srgbClr>
            </a:solidFill>
            <a:ln w="19050">
              <a:solidFill>
                <a:srgbClr val="F59E0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60512" y="1632585"/>
              <a:ext cx="79497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59E0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广播 Hello</a:t>
              </a:r>
              <a:endParaRPr lang="zh-CN" sz="1200" b="1" dirty="0">
                <a:solidFill>
                  <a:srgbClr val="F59E0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90561" y="1894999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UDP 端口 45678</a:t>
              </a:r>
              <a:endParaRPr lang="zh-CN" sz="97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9" name="Polygon 19"/>
            <p:cNvSpPr/>
            <p:nvPr/>
          </p:nvSpPr>
          <p:spPr>
            <a:xfrm>
              <a:off x="8001000" y="166687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142875"/>
                  </a:moveTo>
                  <a:lnTo>
                    <a:pt x="285750" y="0"/>
                  </a:lnTo>
                  <a:lnTo>
                    <a:pt x="285750" y="28575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8286750" y="1428750"/>
              <a:ext cx="2476500" cy="762000"/>
            </a:xfrm>
            <a:prstGeom prst="roundRect">
              <a:avLst>
                <a:gd name="adj" fmla="val 12500"/>
              </a:avLst>
            </a:prstGeom>
            <a:solidFill>
              <a:srgbClr val="8B5CF6">
                <a:alpha val="10000"/>
              </a:srgbClr>
            </a:solidFill>
            <a:ln w="19050">
              <a:solidFill>
                <a:srgbClr val="8B5CF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173718" y="16325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5CF6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收到回应</a:t>
              </a:r>
              <a:endParaRPr lang="zh-CN" sz="1200" b="1" dirty="0">
                <a:solidFill>
                  <a:srgbClr val="8B5CF6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78788" y="1894999"/>
              <a:ext cx="129242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其他 GridYard 客户端</a:t>
              </a:r>
              <a:endParaRPr lang="zh-CN" sz="97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476250" y="3823335"/>
            <a:ext cx="2256155" cy="1333500"/>
            <a:chOff x="952500" y="4953000"/>
            <a:chExt cx="2256155" cy="1333500"/>
          </a:xfrm>
        </p:grpSpPr>
        <p:sp>
          <p:nvSpPr>
            <p:cNvPr id="37" name="Rectangle 37"/>
            <p:cNvSpPr/>
            <p:nvPr/>
          </p:nvSpPr>
          <p:spPr>
            <a:xfrm>
              <a:off x="952500" y="4953000"/>
              <a:ext cx="2256155" cy="13335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223010" y="515683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293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发现流程</a:t>
              </a:r>
              <a:endParaRPr lang="zh-CN" sz="1200" b="1" dirty="0">
                <a:solidFill>
                  <a:srgbClr val="1E293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224915" y="5458778"/>
              <a:ext cx="17628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• 向每个广播地址发送 Hello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224915" y="5696902"/>
              <a:ext cx="17488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• 更新设备列表与 lastSeen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224915" y="5935028"/>
              <a:ext cx="126582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• 心跳超时标记离线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45770" y="5360670"/>
            <a:ext cx="2286000" cy="1333500"/>
            <a:chOff x="6477000" y="4953000"/>
            <a:chExt cx="2286000" cy="1333500"/>
          </a:xfrm>
        </p:grpSpPr>
        <p:sp>
          <p:nvSpPr>
            <p:cNvPr id="43" name="Rectangle 43"/>
            <p:cNvSpPr/>
            <p:nvPr/>
          </p:nvSpPr>
          <p:spPr>
            <a:xfrm>
              <a:off x="6477000" y="4953000"/>
              <a:ext cx="2286000" cy="13335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6747510" y="5156835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293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关键点</a:t>
              </a:r>
              <a:endParaRPr lang="zh-CN" sz="1200" b="1" dirty="0">
                <a:solidFill>
                  <a:srgbClr val="1E293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749415" y="5458778"/>
              <a:ext cx="167887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• UDP 不负责文件内容传输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749415" y="5696902"/>
              <a:ext cx="15458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• 多网卡需遍历广播地址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749415" y="5935028"/>
              <a:ext cx="154586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• 发现结果进入设备目录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sp>
        <p:nvSpPr>
          <p:cNvPr id="49" name="TextBox 49"/>
          <p:cNvSpPr txBox="1"/>
          <p:nvPr/>
        </p:nvSpPr>
        <p:spPr>
          <a:xfrm>
            <a:off x="10774204" y="6570345"/>
            <a:ext cx="9529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rPr>
              <a:t>GridYard v6.8.1</a:t>
            </a:r>
            <a:endParaRPr lang="zh-CN" sz="900" dirty="0">
              <a:solidFill>
                <a:srgbClr val="94A3B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0" name="Ellipse 6"/>
          <p:cNvSpPr/>
          <p:nvPr/>
        </p:nvSpPr>
        <p:spPr>
          <a:xfrm>
            <a:off x="4191000" y="3001645"/>
            <a:ext cx="3810000" cy="2286000"/>
          </a:xfrm>
          <a:prstGeom prst="ellipse">
            <a:avLst/>
          </a:prstGeom>
          <a:solidFill>
            <a:srgbClr val="3B82F6">
              <a:alpha val="6000"/>
            </a:srgbClr>
          </a:solidFill>
          <a:ln w="14288">
            <a:solidFill>
              <a:srgbClr val="3B82F6"/>
            </a:solidFill>
            <a:prstDash val="lgDash"/>
          </a:ln>
        </p:spPr>
      </p:sp>
      <p:sp>
        <p:nvSpPr>
          <p:cNvPr id="51" name="TextBox 7"/>
          <p:cNvSpPr txBox="1"/>
          <p:nvPr/>
        </p:nvSpPr>
        <p:spPr>
          <a:xfrm>
            <a:off x="5922911" y="3998913"/>
            <a:ext cx="346179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ctr"/>
            <a:r>
              <a:rPr lang="zh-CN" sz="1350" b="1" dirty="0">
                <a:solidFill>
                  <a:srgbClr val="3B82F6"/>
                </a:solidFill>
                <a:latin typeface="Arial" panose="020B0604020202020204"/>
                <a:ea typeface="微软雅黑"/>
                <a:cs typeface="Arial" panose="020B0604020202020204"/>
              </a:rPr>
              <a:t>LAN</a:t>
            </a:r>
            <a:endParaRPr lang="zh-CN" sz="1350" b="1" dirty="0">
              <a:solidFill>
                <a:srgbClr val="3B82F6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52" name="TextBox 8"/>
          <p:cNvSpPr txBox="1"/>
          <p:nvPr/>
        </p:nvSpPr>
        <p:spPr>
          <a:xfrm>
            <a:off x="5693569" y="4277519"/>
            <a:ext cx="804862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ctr"/>
            <a:r>
              <a:rPr lang="zh-CN" sz="975" dirty="0">
                <a:solidFill>
                  <a:srgbClr val="3B82F6"/>
                </a:solidFill>
                <a:latin typeface="Arial" panose="020B0604020202020204"/>
                <a:ea typeface="微软雅黑"/>
                <a:cs typeface="Arial" panose="020B0604020202020204"/>
              </a:rPr>
              <a:t>局域网广播域</a:t>
            </a:r>
            <a:endParaRPr lang="zh-CN" sz="975" dirty="0">
              <a:solidFill>
                <a:srgbClr val="3B82F6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grpSp>
        <p:nvGrpSpPr>
          <p:cNvPr id="53" name="Group 13"/>
          <p:cNvGrpSpPr/>
          <p:nvPr/>
        </p:nvGrpSpPr>
        <p:grpSpPr>
          <a:xfrm>
            <a:off x="1333500" y="2620645"/>
            <a:ext cx="1524000" cy="762000"/>
            <a:chOff x="1333500" y="1714500"/>
            <a:chExt cx="1524000" cy="762000"/>
          </a:xfrm>
        </p:grpSpPr>
        <p:sp>
          <p:nvSpPr>
            <p:cNvPr id="54" name="Rectangle 9"/>
            <p:cNvSpPr/>
            <p:nvPr/>
          </p:nvSpPr>
          <p:spPr>
            <a:xfrm>
              <a:off x="1333500" y="1714500"/>
              <a:ext cx="1524000" cy="762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4288">
              <a:solidFill>
                <a:srgbClr val="2D5F8A"/>
              </a:solidFill>
            </a:ln>
          </p:spPr>
        </p:sp>
        <p:sp>
          <p:nvSpPr>
            <p:cNvPr id="55" name="Freeform 10"/>
            <p:cNvSpPr/>
            <p:nvPr/>
          </p:nvSpPr>
          <p:spPr>
            <a:xfrm>
              <a:off x="1508125" y="1938338"/>
              <a:ext cx="222250" cy="200025"/>
            </a:xfrm>
            <a:custGeom>
              <a:avLst/>
              <a:gdLst/>
              <a:ahLst/>
              <a:cxnLst/>
              <a:rect l="l" t="t" r="r" b="b"/>
              <a:pathLst>
                <a:path w="222250" h="200025">
                  <a:moveTo>
                    <a:pt x="55562" y="200025"/>
                  </a:moveTo>
                  <a:cubicBezTo>
                    <a:pt x="49425" y="200025"/>
                    <a:pt x="44450" y="195050"/>
                    <a:pt x="44450" y="188913"/>
                  </a:cubicBezTo>
                  <a:cubicBezTo>
                    <a:pt x="44450" y="182775"/>
                    <a:pt x="49425" y="177800"/>
                    <a:pt x="55562" y="177800"/>
                  </a:cubicBezTo>
                  <a:lnTo>
                    <a:pt x="66675" y="177800"/>
                  </a:lnTo>
                  <a:lnTo>
                    <a:pt x="66675" y="155575"/>
                  </a:lnTo>
                  <a:lnTo>
                    <a:pt x="22225" y="155575"/>
                  </a:lnTo>
                  <a:cubicBezTo>
                    <a:pt x="9950" y="155575"/>
                    <a:pt x="0" y="145625"/>
                    <a:pt x="0" y="133350"/>
                  </a:cubicBezTo>
                  <a:lnTo>
                    <a:pt x="0" y="22225"/>
                  </a:lnTo>
                  <a:cubicBezTo>
                    <a:pt x="0" y="9950"/>
                    <a:pt x="9950" y="0"/>
                    <a:pt x="22225" y="0"/>
                  </a:cubicBezTo>
                  <a:lnTo>
                    <a:pt x="200025" y="0"/>
                  </a:lnTo>
                  <a:cubicBezTo>
                    <a:pt x="212300" y="0"/>
                    <a:pt x="222250" y="9950"/>
                    <a:pt x="222250" y="22225"/>
                  </a:cubicBezTo>
                  <a:lnTo>
                    <a:pt x="222250" y="133350"/>
                  </a:lnTo>
                  <a:cubicBezTo>
                    <a:pt x="222250" y="145625"/>
                    <a:pt x="212300" y="155575"/>
                    <a:pt x="200025" y="155575"/>
                  </a:cubicBezTo>
                  <a:lnTo>
                    <a:pt x="155575" y="155575"/>
                  </a:lnTo>
                  <a:lnTo>
                    <a:pt x="155575" y="177800"/>
                  </a:lnTo>
                  <a:lnTo>
                    <a:pt x="166688" y="177800"/>
                  </a:lnTo>
                  <a:cubicBezTo>
                    <a:pt x="172825" y="177800"/>
                    <a:pt x="177800" y="182775"/>
                    <a:pt x="177800" y="188913"/>
                  </a:cubicBezTo>
                  <a:cubicBezTo>
                    <a:pt x="177800" y="195050"/>
                    <a:pt x="172825" y="200025"/>
                    <a:pt x="166688" y="200025"/>
                  </a:cubicBezTo>
                  <a:close/>
                  <a:moveTo>
                    <a:pt x="133350" y="155575"/>
                  </a:moveTo>
                  <a:lnTo>
                    <a:pt x="88900" y="155575"/>
                  </a:lnTo>
                  <a:lnTo>
                    <a:pt x="88900" y="177800"/>
                  </a:lnTo>
                  <a:lnTo>
                    <a:pt x="133350" y="177800"/>
                  </a:lnTo>
                  <a:close/>
                </a:path>
              </a:pathLst>
            </a:custGeom>
            <a:solidFill>
              <a:srgbClr val="2D5F8A"/>
            </a:solidFill>
            <a:ln>
              <a:noFill/>
            </a:ln>
          </p:spPr>
        </p:sp>
        <p:sp>
          <p:nvSpPr>
            <p:cNvPr id="56" name="TextBox 11"/>
            <p:cNvSpPr txBox="1"/>
            <p:nvPr/>
          </p:nvSpPr>
          <p:spPr>
            <a:xfrm>
              <a:off x="1853565" y="2001202"/>
              <a:ext cx="3501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b="1" dirty="0">
                  <a:solidFill>
                    <a:srgbClr val="1E293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PC-A</a:t>
              </a:r>
              <a:endParaRPr lang="zh-CN" sz="1050" b="1" dirty="0">
                <a:solidFill>
                  <a:srgbClr val="1E293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7" name="TextBox 12"/>
            <p:cNvSpPr txBox="1"/>
            <p:nvPr/>
          </p:nvSpPr>
          <p:spPr>
            <a:xfrm>
              <a:off x="1856422" y="2235041"/>
              <a:ext cx="74704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8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192.168.1.10</a:t>
              </a:r>
              <a:endParaRPr lang="zh-CN" sz="8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58" name="Group 18"/>
          <p:cNvGrpSpPr/>
          <p:nvPr/>
        </p:nvGrpSpPr>
        <p:grpSpPr>
          <a:xfrm>
            <a:off x="9334500" y="2620645"/>
            <a:ext cx="1524000" cy="762000"/>
            <a:chOff x="9334500" y="1714500"/>
            <a:chExt cx="1524000" cy="762000"/>
          </a:xfrm>
        </p:grpSpPr>
        <p:sp>
          <p:nvSpPr>
            <p:cNvPr id="59" name="Rectangle 14"/>
            <p:cNvSpPr/>
            <p:nvPr/>
          </p:nvSpPr>
          <p:spPr>
            <a:xfrm>
              <a:off x="9334500" y="1714500"/>
              <a:ext cx="1524000" cy="762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4288">
              <a:solidFill>
                <a:srgbClr val="2D5F8A"/>
              </a:solidFill>
            </a:ln>
          </p:spPr>
        </p:sp>
        <p:sp>
          <p:nvSpPr>
            <p:cNvPr id="60" name="Freeform 15"/>
            <p:cNvSpPr/>
            <p:nvPr/>
          </p:nvSpPr>
          <p:spPr>
            <a:xfrm>
              <a:off x="9509125" y="1938338"/>
              <a:ext cx="222250" cy="200025"/>
            </a:xfrm>
            <a:custGeom>
              <a:avLst/>
              <a:gdLst/>
              <a:ahLst/>
              <a:cxnLst/>
              <a:rect l="l" t="t" r="r" b="b"/>
              <a:pathLst>
                <a:path w="222250" h="200025">
                  <a:moveTo>
                    <a:pt x="55562" y="200025"/>
                  </a:moveTo>
                  <a:cubicBezTo>
                    <a:pt x="49425" y="200025"/>
                    <a:pt x="44450" y="195050"/>
                    <a:pt x="44450" y="188913"/>
                  </a:cubicBezTo>
                  <a:cubicBezTo>
                    <a:pt x="44450" y="182775"/>
                    <a:pt x="49425" y="177800"/>
                    <a:pt x="55562" y="177800"/>
                  </a:cubicBezTo>
                  <a:lnTo>
                    <a:pt x="66675" y="177800"/>
                  </a:lnTo>
                  <a:lnTo>
                    <a:pt x="66675" y="155575"/>
                  </a:lnTo>
                  <a:lnTo>
                    <a:pt x="22225" y="155575"/>
                  </a:lnTo>
                  <a:cubicBezTo>
                    <a:pt x="9950" y="155575"/>
                    <a:pt x="0" y="145625"/>
                    <a:pt x="0" y="133350"/>
                  </a:cubicBezTo>
                  <a:lnTo>
                    <a:pt x="0" y="22225"/>
                  </a:lnTo>
                  <a:cubicBezTo>
                    <a:pt x="0" y="9950"/>
                    <a:pt x="9950" y="0"/>
                    <a:pt x="22225" y="0"/>
                  </a:cubicBezTo>
                  <a:lnTo>
                    <a:pt x="200025" y="0"/>
                  </a:lnTo>
                  <a:cubicBezTo>
                    <a:pt x="212300" y="0"/>
                    <a:pt x="222250" y="9950"/>
                    <a:pt x="222250" y="22225"/>
                  </a:cubicBezTo>
                  <a:lnTo>
                    <a:pt x="222250" y="133350"/>
                  </a:lnTo>
                  <a:cubicBezTo>
                    <a:pt x="222250" y="145625"/>
                    <a:pt x="212300" y="155575"/>
                    <a:pt x="200025" y="155575"/>
                  </a:cubicBezTo>
                  <a:lnTo>
                    <a:pt x="155575" y="155575"/>
                  </a:lnTo>
                  <a:lnTo>
                    <a:pt x="155575" y="177800"/>
                  </a:lnTo>
                  <a:lnTo>
                    <a:pt x="166688" y="177800"/>
                  </a:lnTo>
                  <a:cubicBezTo>
                    <a:pt x="172825" y="177800"/>
                    <a:pt x="177800" y="182775"/>
                    <a:pt x="177800" y="188913"/>
                  </a:cubicBezTo>
                  <a:cubicBezTo>
                    <a:pt x="177800" y="195050"/>
                    <a:pt x="172825" y="200025"/>
                    <a:pt x="166688" y="200025"/>
                  </a:cubicBezTo>
                  <a:close/>
                  <a:moveTo>
                    <a:pt x="133350" y="155575"/>
                  </a:moveTo>
                  <a:lnTo>
                    <a:pt x="88900" y="155575"/>
                  </a:lnTo>
                  <a:lnTo>
                    <a:pt x="88900" y="177800"/>
                  </a:lnTo>
                  <a:lnTo>
                    <a:pt x="133350" y="177800"/>
                  </a:lnTo>
                  <a:close/>
                </a:path>
              </a:pathLst>
            </a:custGeom>
            <a:solidFill>
              <a:srgbClr val="2D5F8A"/>
            </a:solidFill>
            <a:ln>
              <a:noFill/>
            </a:ln>
          </p:spPr>
        </p:sp>
        <p:sp>
          <p:nvSpPr>
            <p:cNvPr id="61" name="TextBox 16"/>
            <p:cNvSpPr txBox="1"/>
            <p:nvPr/>
          </p:nvSpPr>
          <p:spPr>
            <a:xfrm>
              <a:off x="9854565" y="2001202"/>
              <a:ext cx="3501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b="1" dirty="0">
                  <a:solidFill>
                    <a:srgbClr val="1E293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PC-B</a:t>
              </a:r>
              <a:endParaRPr lang="zh-CN" sz="1050" b="1" dirty="0">
                <a:solidFill>
                  <a:srgbClr val="1E293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62" name="TextBox 17"/>
            <p:cNvSpPr txBox="1"/>
            <p:nvPr/>
          </p:nvSpPr>
          <p:spPr>
            <a:xfrm>
              <a:off x="9857422" y="2235041"/>
              <a:ext cx="74704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8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192.168.1.11</a:t>
              </a:r>
              <a:endParaRPr lang="zh-CN" sz="8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63" name="Group 23"/>
          <p:cNvGrpSpPr/>
          <p:nvPr/>
        </p:nvGrpSpPr>
        <p:grpSpPr>
          <a:xfrm>
            <a:off x="5334000" y="5668645"/>
            <a:ext cx="1524000" cy="762000"/>
            <a:chOff x="5334000" y="4762500"/>
            <a:chExt cx="1524000" cy="762000"/>
          </a:xfrm>
        </p:grpSpPr>
        <p:sp>
          <p:nvSpPr>
            <p:cNvPr id="64" name="Rectangle 19"/>
            <p:cNvSpPr/>
            <p:nvPr/>
          </p:nvSpPr>
          <p:spPr>
            <a:xfrm>
              <a:off x="5334000" y="4762500"/>
              <a:ext cx="1524000" cy="762000"/>
            </a:xfrm>
            <a:prstGeom prst="roundRect">
              <a:avLst>
                <a:gd name="adj" fmla="val 15000"/>
              </a:avLst>
            </a:prstGeom>
            <a:solidFill>
              <a:srgbClr val="FFFFFF"/>
            </a:solidFill>
            <a:ln w="14288">
              <a:solidFill>
                <a:srgbClr val="2D5F8A"/>
              </a:solidFill>
            </a:ln>
          </p:spPr>
        </p:sp>
        <p:sp>
          <p:nvSpPr>
            <p:cNvPr id="65" name="Freeform 20"/>
            <p:cNvSpPr/>
            <p:nvPr/>
          </p:nvSpPr>
          <p:spPr>
            <a:xfrm>
              <a:off x="5508625" y="4986338"/>
              <a:ext cx="222250" cy="200025"/>
            </a:xfrm>
            <a:custGeom>
              <a:avLst/>
              <a:gdLst/>
              <a:ahLst/>
              <a:cxnLst/>
              <a:rect l="l" t="t" r="r" b="b"/>
              <a:pathLst>
                <a:path w="222250" h="200025">
                  <a:moveTo>
                    <a:pt x="55562" y="200025"/>
                  </a:moveTo>
                  <a:cubicBezTo>
                    <a:pt x="49425" y="200025"/>
                    <a:pt x="44450" y="195050"/>
                    <a:pt x="44450" y="188913"/>
                  </a:cubicBezTo>
                  <a:cubicBezTo>
                    <a:pt x="44450" y="182775"/>
                    <a:pt x="49425" y="177800"/>
                    <a:pt x="55562" y="177800"/>
                  </a:cubicBezTo>
                  <a:lnTo>
                    <a:pt x="66675" y="177800"/>
                  </a:lnTo>
                  <a:lnTo>
                    <a:pt x="66675" y="155575"/>
                  </a:lnTo>
                  <a:lnTo>
                    <a:pt x="22225" y="155575"/>
                  </a:lnTo>
                  <a:cubicBezTo>
                    <a:pt x="9950" y="155575"/>
                    <a:pt x="0" y="145625"/>
                    <a:pt x="0" y="133350"/>
                  </a:cubicBezTo>
                  <a:lnTo>
                    <a:pt x="0" y="22225"/>
                  </a:lnTo>
                  <a:cubicBezTo>
                    <a:pt x="0" y="9950"/>
                    <a:pt x="9950" y="0"/>
                    <a:pt x="22225" y="0"/>
                  </a:cubicBezTo>
                  <a:lnTo>
                    <a:pt x="200025" y="0"/>
                  </a:lnTo>
                  <a:cubicBezTo>
                    <a:pt x="212300" y="0"/>
                    <a:pt x="222250" y="9950"/>
                    <a:pt x="222250" y="22225"/>
                  </a:cubicBezTo>
                  <a:lnTo>
                    <a:pt x="222250" y="133350"/>
                  </a:lnTo>
                  <a:cubicBezTo>
                    <a:pt x="222250" y="145625"/>
                    <a:pt x="212300" y="155575"/>
                    <a:pt x="200025" y="155575"/>
                  </a:cubicBezTo>
                  <a:lnTo>
                    <a:pt x="155575" y="155575"/>
                  </a:lnTo>
                  <a:lnTo>
                    <a:pt x="155575" y="177800"/>
                  </a:lnTo>
                  <a:lnTo>
                    <a:pt x="166688" y="177800"/>
                  </a:lnTo>
                  <a:cubicBezTo>
                    <a:pt x="172825" y="177800"/>
                    <a:pt x="177800" y="182775"/>
                    <a:pt x="177800" y="188913"/>
                  </a:cubicBezTo>
                  <a:cubicBezTo>
                    <a:pt x="177800" y="195050"/>
                    <a:pt x="172825" y="200025"/>
                    <a:pt x="166688" y="200025"/>
                  </a:cubicBezTo>
                  <a:close/>
                  <a:moveTo>
                    <a:pt x="133350" y="155575"/>
                  </a:moveTo>
                  <a:lnTo>
                    <a:pt x="88900" y="155575"/>
                  </a:lnTo>
                  <a:lnTo>
                    <a:pt x="88900" y="177800"/>
                  </a:lnTo>
                  <a:lnTo>
                    <a:pt x="133350" y="177800"/>
                  </a:lnTo>
                  <a:close/>
                </a:path>
              </a:pathLst>
            </a:custGeom>
            <a:solidFill>
              <a:srgbClr val="2D5F8A"/>
            </a:solidFill>
            <a:ln>
              <a:noFill/>
            </a:ln>
          </p:spPr>
        </p:sp>
        <p:sp>
          <p:nvSpPr>
            <p:cNvPr id="66" name="TextBox 21"/>
            <p:cNvSpPr txBox="1"/>
            <p:nvPr/>
          </p:nvSpPr>
          <p:spPr>
            <a:xfrm>
              <a:off x="5854065" y="5049202"/>
              <a:ext cx="3501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1050" b="1" dirty="0">
                  <a:solidFill>
                    <a:srgbClr val="1E293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PC-C</a:t>
              </a:r>
              <a:endParaRPr lang="zh-CN" sz="1050" b="1" dirty="0">
                <a:solidFill>
                  <a:srgbClr val="1E293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67" name="TextBox 22"/>
            <p:cNvSpPr txBox="1"/>
            <p:nvPr/>
          </p:nvSpPr>
          <p:spPr>
            <a:xfrm>
              <a:off x="5856922" y="5283041"/>
              <a:ext cx="74704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8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192.168.1.12</a:t>
              </a:r>
              <a:endParaRPr lang="zh-CN" sz="8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sp>
        <p:nvSpPr>
          <p:cNvPr id="68" name="Line 24"/>
          <p:cNvSpPr/>
          <p:nvPr/>
        </p:nvSpPr>
        <p:spPr>
          <a:xfrm>
            <a:off x="2857500" y="3001645"/>
            <a:ext cx="1333500" cy="571500"/>
          </a:xfrm>
          <a:prstGeom prst="line">
            <a:avLst/>
          </a:prstGeom>
          <a:noFill/>
          <a:ln w="19050">
            <a:solidFill>
              <a:srgbClr val="F59E0B"/>
            </a:solidFill>
            <a:tailEnd type="triangle" w="lg" len="lg"/>
          </a:ln>
        </p:spPr>
      </p:sp>
      <p:sp>
        <p:nvSpPr>
          <p:cNvPr id="69" name="TextBox 25"/>
          <p:cNvSpPr txBox="1"/>
          <p:nvPr/>
        </p:nvSpPr>
        <p:spPr>
          <a:xfrm>
            <a:off x="3323272" y="3103086"/>
            <a:ext cx="4830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zh-CN" sz="825" dirty="0">
                <a:solidFill>
                  <a:srgbClr val="F59E0B"/>
                </a:solidFill>
                <a:latin typeface="Arial" panose="020B0604020202020204"/>
                <a:ea typeface="微软雅黑"/>
                <a:cs typeface="Arial" panose="020B0604020202020204"/>
              </a:rPr>
              <a:t>Hello UDP</a:t>
            </a:r>
            <a:endParaRPr lang="zh-CN" sz="825" dirty="0">
              <a:solidFill>
                <a:srgbClr val="F59E0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70" name="Line 26"/>
          <p:cNvSpPr/>
          <p:nvPr/>
        </p:nvSpPr>
        <p:spPr>
          <a:xfrm flipH="1">
            <a:off x="8001000" y="3001645"/>
            <a:ext cx="1333500" cy="571500"/>
          </a:xfrm>
          <a:prstGeom prst="line">
            <a:avLst/>
          </a:prstGeom>
          <a:noFill/>
          <a:ln w="19050">
            <a:solidFill>
              <a:srgbClr val="F59E0B"/>
            </a:solidFill>
            <a:tailEnd type="triangle" w="lg" len="lg"/>
          </a:ln>
        </p:spPr>
      </p:sp>
      <p:sp>
        <p:nvSpPr>
          <p:cNvPr id="71" name="TextBox 27"/>
          <p:cNvSpPr txBox="1"/>
          <p:nvPr/>
        </p:nvSpPr>
        <p:spPr>
          <a:xfrm>
            <a:off x="8371522" y="3103086"/>
            <a:ext cx="483013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zh-CN" sz="825" dirty="0">
                <a:solidFill>
                  <a:srgbClr val="F59E0B"/>
                </a:solidFill>
                <a:latin typeface="Arial" panose="020B0604020202020204"/>
                <a:ea typeface="微软雅黑"/>
                <a:cs typeface="Arial" panose="020B0604020202020204"/>
              </a:rPr>
              <a:t>Hello UDP</a:t>
            </a:r>
            <a:endParaRPr lang="zh-CN" sz="825" dirty="0">
              <a:solidFill>
                <a:srgbClr val="F59E0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72" name="Line 28"/>
          <p:cNvSpPr/>
          <p:nvPr/>
        </p:nvSpPr>
        <p:spPr>
          <a:xfrm flipV="1">
            <a:off x="6096000" y="4906645"/>
            <a:ext cx="1" cy="762000"/>
          </a:xfrm>
          <a:prstGeom prst="line">
            <a:avLst/>
          </a:prstGeom>
          <a:noFill/>
          <a:ln w="19050">
            <a:solidFill>
              <a:srgbClr val="F59E0B"/>
            </a:solidFill>
            <a:tailEnd type="triangle" w="lg" len="lg"/>
          </a:ln>
        </p:spPr>
      </p:sp>
      <p:sp>
        <p:nvSpPr>
          <p:cNvPr id="73" name="TextBox 29"/>
          <p:cNvSpPr txBox="1"/>
          <p:nvPr/>
        </p:nvSpPr>
        <p:spPr>
          <a:xfrm>
            <a:off x="6180772" y="5293836"/>
            <a:ext cx="240982" cy="167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l"/>
            <a:r>
              <a:rPr lang="zh-CN" sz="825" dirty="0">
                <a:solidFill>
                  <a:srgbClr val="F59E0B"/>
                </a:solidFill>
                <a:latin typeface="Arial" panose="020B0604020202020204"/>
                <a:ea typeface="微软雅黑"/>
                <a:cs typeface="Arial" panose="020B0604020202020204"/>
              </a:rPr>
              <a:t>心跳</a:t>
            </a:r>
            <a:endParaRPr lang="zh-CN" sz="825" dirty="0">
              <a:solidFill>
                <a:srgbClr val="F59E0B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74" name="Line 30"/>
          <p:cNvSpPr/>
          <p:nvPr/>
        </p:nvSpPr>
        <p:spPr>
          <a:xfrm>
            <a:off x="4191000" y="4144645"/>
            <a:ext cx="3810000" cy="9525"/>
          </a:xfrm>
          <a:custGeom>
            <a:avLst/>
            <a:gdLst/>
            <a:ahLst/>
            <a:cxnLst/>
            <a:rect l="l" t="t" r="r" b="b"/>
            <a:pathLst>
              <a:path w="3810000" h="9525">
                <a:moveTo>
                  <a:pt x="0" y="0"/>
                </a:moveTo>
                <a:lnTo>
                  <a:pt x="3810000" y="0"/>
                </a:lnTo>
              </a:path>
            </a:pathLst>
          </a:custGeom>
          <a:noFill/>
          <a:ln w="14288">
            <a:solidFill>
              <a:srgbClr val="22C55E"/>
            </a:solidFill>
            <a:prstDash val="dash"/>
          </a:ln>
        </p:spPr>
      </p:sp>
      <p:sp>
        <p:nvSpPr>
          <p:cNvPr id="75" name="TextBox 31"/>
          <p:cNvSpPr txBox="1"/>
          <p:nvPr/>
        </p:nvSpPr>
        <p:spPr>
          <a:xfrm>
            <a:off x="5563552" y="4563269"/>
            <a:ext cx="1064895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p>
            <a:pPr algn="ctr"/>
            <a:r>
              <a:rPr lang="zh-CN" sz="975" dirty="0">
                <a:solidFill>
                  <a:srgbClr val="22C55E"/>
                </a:solidFill>
                <a:latin typeface="Arial" panose="020B0604020202020204"/>
                <a:ea typeface="微软雅黑"/>
                <a:cs typeface="Arial" panose="020B0604020202020204"/>
              </a:rPr>
              <a:t>心跳刷新在线状态</a:t>
            </a:r>
            <a:endParaRPr lang="zh-CN" sz="975" dirty="0">
              <a:solidFill>
                <a:srgbClr val="22C55E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grpSp>
        <p:nvGrpSpPr>
          <p:cNvPr id="76" name="Group 42"/>
          <p:cNvGrpSpPr/>
          <p:nvPr/>
        </p:nvGrpSpPr>
        <p:grpSpPr>
          <a:xfrm>
            <a:off x="8572500" y="4525645"/>
            <a:ext cx="2857500" cy="2095500"/>
            <a:chOff x="8572500" y="3619500"/>
            <a:chExt cx="2857500" cy="2095500"/>
          </a:xfrm>
        </p:grpSpPr>
        <p:sp>
          <p:nvSpPr>
            <p:cNvPr id="77" name="Rectangle 32"/>
            <p:cNvSpPr/>
            <p:nvPr/>
          </p:nvSpPr>
          <p:spPr>
            <a:xfrm>
              <a:off x="8572500" y="3619500"/>
              <a:ext cx="2857500" cy="209550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78" name="Rectangle 33"/>
            <p:cNvSpPr/>
            <p:nvPr/>
          </p:nvSpPr>
          <p:spPr>
            <a:xfrm>
              <a:off x="8572500" y="3619500"/>
              <a:ext cx="2857500" cy="342900"/>
            </a:xfrm>
            <a:prstGeom prst="roundRect">
              <a:avLst>
                <a:gd name="adj" fmla="val 33333"/>
              </a:avLst>
            </a:prstGeom>
            <a:solidFill>
              <a:srgbClr val="2D5F8A"/>
            </a:solidFill>
            <a:ln>
              <a:noFill/>
            </a:ln>
          </p:spPr>
        </p:sp>
        <p:sp>
          <p:nvSpPr>
            <p:cNvPr id="79" name="TextBox 34"/>
            <p:cNvSpPr txBox="1"/>
            <p:nvPr/>
          </p:nvSpPr>
          <p:spPr>
            <a:xfrm>
              <a:off x="9546860" y="373475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在线设备列表</a:t>
              </a:r>
              <a:endParaRPr lang="zh-CN" sz="1050" b="1" dirty="0">
                <a:solidFill>
                  <a:srgbClr val="FFFFFF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80" name="TextBox 35"/>
            <p:cNvSpPr txBox="1"/>
            <p:nvPr/>
          </p:nvSpPr>
          <p:spPr>
            <a:xfrm>
              <a:off x="8752522" y="4101941"/>
              <a:ext cx="105508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825" dirty="0">
                  <a:solidFill>
                    <a:srgbClr val="64748B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peerId name ip port</a:t>
              </a:r>
              <a:endParaRPr lang="zh-CN" sz="825" dirty="0">
                <a:solidFill>
                  <a:srgbClr val="64748B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  <p:sp>
          <p:nvSpPr>
            <p:cNvPr id="81" name="Line 36"/>
            <p:cNvSpPr/>
            <p:nvPr/>
          </p:nvSpPr>
          <p:spPr>
            <a:xfrm>
              <a:off x="8763000" y="426720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E2E8F0"/>
              </a:solidFill>
            </a:ln>
          </p:spPr>
        </p:sp>
        <p:sp>
          <p:nvSpPr>
            <p:cNvPr id="82" name="TextBox 37"/>
            <p:cNvSpPr txBox="1"/>
            <p:nvPr/>
          </p:nvSpPr>
          <p:spPr>
            <a:xfrm>
              <a:off x="8752522" y="4368641"/>
              <a:ext cx="157214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825" dirty="0">
                  <a:solidFill>
                    <a:srgbClr val="1E293B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a1b2 PC-A 192.168.1.10 9876</a:t>
              </a:r>
              <a:endParaRPr lang="zh-CN" sz="825" dirty="0">
                <a:solidFill>
                  <a:srgbClr val="1E293B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  <p:sp>
          <p:nvSpPr>
            <p:cNvPr id="83" name="TextBox 38"/>
            <p:cNvSpPr txBox="1"/>
            <p:nvPr/>
          </p:nvSpPr>
          <p:spPr>
            <a:xfrm>
              <a:off x="8752522" y="4578191"/>
              <a:ext cx="157214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825" dirty="0">
                  <a:solidFill>
                    <a:srgbClr val="1E293B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c3d4 PC-B 192.168.1.11 9876</a:t>
              </a:r>
              <a:endParaRPr lang="zh-CN" sz="825" dirty="0">
                <a:solidFill>
                  <a:srgbClr val="1E293B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  <p:sp>
          <p:nvSpPr>
            <p:cNvPr id="84" name="TextBox 39"/>
            <p:cNvSpPr txBox="1"/>
            <p:nvPr/>
          </p:nvSpPr>
          <p:spPr>
            <a:xfrm>
              <a:off x="8752522" y="4787741"/>
              <a:ext cx="157214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825" dirty="0">
                  <a:solidFill>
                    <a:srgbClr val="1E293B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e5f6 PC-C 192.168.1.12 9876</a:t>
              </a:r>
              <a:endParaRPr lang="zh-CN" sz="825" dirty="0">
                <a:solidFill>
                  <a:srgbClr val="1E293B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  <p:sp>
          <p:nvSpPr>
            <p:cNvPr id="85" name="TextBox 40"/>
            <p:cNvSpPr txBox="1"/>
            <p:nvPr/>
          </p:nvSpPr>
          <p:spPr>
            <a:xfrm>
              <a:off x="8751570" y="5122545"/>
              <a:ext cx="188909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Hello 携带设备 ID、名称、IP、端口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86" name="TextBox 41"/>
            <p:cNvSpPr txBox="1"/>
            <p:nvPr/>
          </p:nvSpPr>
          <p:spPr>
            <a:xfrm>
              <a:off x="8751570" y="5332095"/>
              <a:ext cx="122301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p>
              <a:pPr algn="l"/>
              <a:r>
                <a:rPr lang="zh-CN" sz="90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离线后自动从列表剔除</a:t>
              </a:r>
              <a:endParaRPr lang="zh-CN" sz="90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7" dur="4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31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42" grpId="0"/>
      <p:bldP spid="48" grpId="0"/>
      <p:bldP spid="53" grpId="0"/>
      <p:bldP spid="58" grpId="0"/>
      <p:bldP spid="63" grpId="0"/>
      <p:bldP spid="7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D5F8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45770" y="217170"/>
            <a:ext cx="11283315" cy="487680"/>
            <a:chOff x="445770" y="217170"/>
            <a:chExt cx="11283315" cy="487680"/>
          </a:xfrm>
        </p:grpSpPr>
        <p:sp>
          <p:nvSpPr>
            <p:cNvPr id="4" name="TextBox 4"/>
            <p:cNvSpPr txBox="1"/>
            <p:nvPr/>
          </p:nvSpPr>
          <p:spPr>
            <a:xfrm>
              <a:off x="445770" y="217170"/>
              <a:ext cx="442950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元信息先行，文件再按块传输</a:t>
              </a:r>
              <a:endParaRPr lang="zh-CN" sz="240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476250" y="59055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548396" y="36290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12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952500" y="1047750"/>
            <a:ext cx="10287000" cy="4857750"/>
            <a:chOff x="952500" y="1047750"/>
            <a:chExt cx="10287000" cy="4857750"/>
          </a:xfrm>
        </p:grpSpPr>
        <p:sp>
          <p:nvSpPr>
            <p:cNvPr id="8" name="Rectangle 8"/>
            <p:cNvSpPr/>
            <p:nvPr/>
          </p:nvSpPr>
          <p:spPr>
            <a:xfrm>
              <a:off x="952500" y="1047750"/>
              <a:ext cx="4572000" cy="381000"/>
            </a:xfrm>
            <a:prstGeom prst="roundRect">
              <a:avLst>
                <a:gd name="adj" fmla="val 20000"/>
              </a:avLst>
            </a:prstGeom>
            <a:solidFill>
              <a:srgbClr val="2D5F8A">
                <a:alpha val="15000"/>
              </a:srgbClr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2937820" y="116871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发送端</a:t>
              </a:r>
              <a:endParaRPr lang="zh-CN" sz="135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667500" y="1047750"/>
              <a:ext cx="4572000" cy="381000"/>
            </a:xfrm>
            <a:prstGeom prst="roundRect">
              <a:avLst>
                <a:gd name="adj" fmla="val 20000"/>
              </a:avLst>
            </a:prstGeom>
            <a:solidFill>
              <a:srgbClr val="22C55E">
                <a:alpha val="15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652820" y="1168718"/>
              <a:ext cx="60136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2C55E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接收端</a:t>
              </a:r>
              <a:endParaRPr lang="zh-CN" sz="1350" b="1" dirty="0">
                <a:solidFill>
                  <a:srgbClr val="22C55E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2" name="Line 12"/>
            <p:cNvSpPr/>
            <p:nvPr/>
          </p:nvSpPr>
          <p:spPr>
            <a:xfrm>
              <a:off x="5619750" y="1047750"/>
              <a:ext cx="9525" cy="4857750"/>
            </a:xfrm>
            <a:custGeom>
              <a:avLst/>
              <a:gdLst/>
              <a:ahLst/>
              <a:cxnLst/>
              <a:rect l="l" t="t" r="r" b="b"/>
              <a:pathLst>
                <a:path w="9525" h="4857750">
                  <a:moveTo>
                    <a:pt x="0" y="0"/>
                  </a:moveTo>
                  <a:lnTo>
                    <a:pt x="0" y="4857750"/>
                  </a:lnTo>
                </a:path>
              </a:pathLst>
            </a:custGeom>
            <a:noFill/>
            <a:ln w="9525">
              <a:solidFill>
                <a:srgbClr val="E2E8F0"/>
              </a:solidFill>
              <a:prstDash val="dash"/>
            </a:ln>
          </p:spPr>
        </p:sp>
        <p:sp>
          <p:nvSpPr>
            <p:cNvPr id="13" name="Rectangle 13"/>
            <p:cNvSpPr/>
            <p:nvPr/>
          </p:nvSpPr>
          <p:spPr>
            <a:xfrm>
              <a:off x="1428750" y="1619250"/>
              <a:ext cx="3619500" cy="47625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612886" y="1802606"/>
              <a:ext cx="125122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选择文件 / 文件夹</a:t>
              </a:r>
              <a:endParaRPr lang="zh-CN" sz="1125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428750" y="2286000"/>
              <a:ext cx="3619500" cy="47625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249091" y="246935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递归整理文件列表与相对路径</a:t>
              </a:r>
              <a:endParaRPr lang="zh-CN" sz="1125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428750" y="2952750"/>
              <a:ext cx="3619500" cy="47625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462867" y="3136106"/>
              <a:ext cx="155126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计算总大小与 SHA-256</a:t>
              </a:r>
              <a:endParaRPr lang="zh-CN" sz="1125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428750" y="3619500"/>
              <a:ext cx="3619500" cy="571500"/>
            </a:xfrm>
            <a:prstGeom prst="roundRect">
              <a:avLst>
                <a:gd name="adj" fmla="val 13333"/>
              </a:avLst>
            </a:prstGeom>
            <a:solidFill>
              <a:srgbClr val="F59E0B">
                <a:alpha val="10000"/>
              </a:srgbClr>
            </a:solidFill>
            <a:ln w="19050">
              <a:solidFill>
                <a:srgbClr val="F59E0B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393296" y="3736181"/>
              <a:ext cx="169040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F59E0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发送 TransferRequest</a:t>
              </a:r>
              <a:endParaRPr lang="zh-CN" sz="1125" b="1" dirty="0">
                <a:solidFill>
                  <a:srgbClr val="F59E0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386965" y="3979545"/>
              <a:ext cx="170307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文件名、数量、总大小、校验值</a:t>
              </a:r>
              <a:endParaRPr lang="zh-CN" sz="9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5" name="Line 25"/>
            <p:cNvSpPr/>
            <p:nvPr/>
          </p:nvSpPr>
          <p:spPr>
            <a:xfrm flipV="1">
              <a:off x="5048250" y="2952750"/>
              <a:ext cx="1619250" cy="952500"/>
            </a:xfrm>
            <a:prstGeom prst="line">
              <a:avLst/>
            </a:prstGeom>
            <a:noFill/>
            <a:ln w="19050">
              <a:solidFill>
                <a:srgbClr val="F59E0B"/>
              </a:solidFill>
              <a:tailEnd type="triangle" w="lg" len="lg"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667500" y="2667000"/>
              <a:ext cx="4000500" cy="571500"/>
            </a:xfrm>
            <a:prstGeom prst="roundRect">
              <a:avLst>
                <a:gd name="adj" fmla="val 13333"/>
              </a:avLst>
            </a:prstGeom>
            <a:solidFill>
              <a:srgbClr val="22C55E">
                <a:alpha val="10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259663" y="2783681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22C55E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读取元信息</a:t>
              </a:r>
              <a:endParaRPr lang="zh-CN" sz="1125" b="1" dirty="0">
                <a:solidFill>
                  <a:srgbClr val="22C55E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876222" y="3027045"/>
              <a:ext cx="158305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文件名、大小、数量、校验值</a:t>
              </a:r>
              <a:endParaRPr lang="zh-CN" sz="9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9" name="Line 29"/>
            <p:cNvSpPr/>
            <p:nvPr/>
          </p:nvSpPr>
          <p:spPr>
            <a:xfrm flipH="1">
              <a:off x="5048250" y="3238500"/>
              <a:ext cx="1619250" cy="666750"/>
            </a:xfrm>
            <a:prstGeom prst="line">
              <a:avLst/>
            </a:prstGeom>
            <a:noFill/>
            <a:ln w="19050">
              <a:solidFill>
                <a:srgbClr val="22C55E"/>
              </a:solidFill>
              <a:tailEnd type="triangle" w="lg" len="lg"/>
            </a:ln>
          </p:spPr>
        </p:sp>
        <p:sp>
          <p:nvSpPr>
            <p:cNvPr id="30" name="Rectangle 30"/>
            <p:cNvSpPr/>
            <p:nvPr/>
          </p:nvSpPr>
          <p:spPr>
            <a:xfrm>
              <a:off x="6667500" y="3524250"/>
              <a:ext cx="4000500" cy="47625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203406" y="370760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2C55E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用户确认保存</a:t>
              </a:r>
              <a:endParaRPr lang="zh-CN" sz="1125" dirty="0">
                <a:solidFill>
                  <a:srgbClr val="22C55E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428750" y="4381500"/>
              <a:ext cx="3619500" cy="571500"/>
            </a:xfrm>
            <a:prstGeom prst="roundRect">
              <a:avLst>
                <a:gd name="adj" fmla="val 13333"/>
              </a:avLst>
            </a:prstGeom>
            <a:solidFill>
              <a:srgbClr val="3B82F6">
                <a:alpha val="10000"/>
              </a:srgbClr>
            </a:solidFill>
            <a:ln w="19050">
              <a:solidFill>
                <a:srgbClr val="3B82F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397234" y="4498181"/>
              <a:ext cx="16825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3B82F6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按 8MB chunk 发送数据</a:t>
              </a:r>
              <a:endParaRPr lang="zh-CN" sz="1125" b="1" dirty="0">
                <a:solidFill>
                  <a:srgbClr val="3B82F6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867025" y="4741545"/>
              <a:ext cx="742950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二进制块传输</a:t>
              </a:r>
              <a:endParaRPr lang="zh-CN" sz="9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5" name="Line 35"/>
            <p:cNvSpPr/>
            <p:nvPr/>
          </p:nvSpPr>
          <p:spPr>
            <a:xfrm>
              <a:off x="5048250" y="4667250"/>
              <a:ext cx="1619250" cy="1"/>
            </a:xfrm>
            <a:prstGeom prst="line">
              <a:avLst/>
            </a:prstGeom>
            <a:noFill/>
            <a:ln w="19050">
              <a:solidFill>
                <a:srgbClr val="3B82F6"/>
              </a:solidFill>
              <a:tailEnd type="triangle" w="lg" len="lg"/>
            </a:ln>
          </p:spPr>
        </p:sp>
        <p:sp>
          <p:nvSpPr>
            <p:cNvPr id="36" name="Rectangle 36"/>
            <p:cNvSpPr/>
            <p:nvPr/>
          </p:nvSpPr>
          <p:spPr>
            <a:xfrm>
              <a:off x="6667500" y="4381500"/>
              <a:ext cx="4000500" cy="47625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053388" y="456485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2C55E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逐块写入本地文件</a:t>
              </a:r>
              <a:endParaRPr lang="zh-CN" sz="1125" dirty="0">
                <a:solidFill>
                  <a:srgbClr val="22C55E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428750" y="5143500"/>
              <a:ext cx="3619500" cy="47625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849166" y="532685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发送完成帧</a:t>
              </a:r>
              <a:endParaRPr lang="zh-CN" sz="1125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0" name="Line 40"/>
            <p:cNvSpPr/>
            <p:nvPr/>
          </p:nvSpPr>
          <p:spPr>
            <a:xfrm>
              <a:off x="5048250" y="5381625"/>
              <a:ext cx="1619250" cy="1"/>
            </a:xfrm>
            <a:prstGeom prst="line">
              <a:avLst/>
            </a:prstGeom>
            <a:noFill/>
            <a:ln w="19050">
              <a:solidFill>
                <a:srgbClr val="CBD5E1"/>
              </a:solidFill>
              <a:tailEnd type="triangle" w="lg" len="lg"/>
            </a:ln>
          </p:spPr>
        </p:sp>
        <p:sp>
          <p:nvSpPr>
            <p:cNvPr id="41" name="Rectangle 41"/>
            <p:cNvSpPr/>
            <p:nvPr/>
          </p:nvSpPr>
          <p:spPr>
            <a:xfrm>
              <a:off x="6667500" y="5143500"/>
              <a:ext cx="4000500" cy="476250"/>
            </a:xfrm>
            <a:prstGeom prst="roundRect">
              <a:avLst>
                <a:gd name="adj" fmla="val 16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667089" y="5326856"/>
              <a:ext cx="200132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2C55E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校验 SHA-256，更新任务状态</a:t>
              </a:r>
              <a:endParaRPr lang="zh-CN" sz="1125" dirty="0">
                <a:solidFill>
                  <a:srgbClr val="22C55E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5" name="Polygon 15"/>
            <p:cNvSpPr/>
            <p:nvPr/>
          </p:nvSpPr>
          <p:spPr>
            <a:xfrm rot="16200000">
              <a:off x="3095625" y="2031365"/>
              <a:ext cx="285750" cy="285750"/>
            </a:xfrm>
            <a:custGeom>
              <a:avLst/>
              <a:gdLst/>
              <a:ahLst/>
              <a:cxnLst/>
              <a:rect l="l" t="t" r="r" b="b"/>
              <a:pathLst>
                <a:path w="285750" h="285750">
                  <a:moveTo>
                    <a:pt x="0" y="142875"/>
                  </a:moveTo>
                  <a:lnTo>
                    <a:pt x="285750" y="0"/>
                  </a:lnTo>
                  <a:lnTo>
                    <a:pt x="285750" y="28575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</p:grpSp>
      <p:sp>
        <p:nvSpPr>
          <p:cNvPr id="44" name="TextBox 44"/>
          <p:cNvSpPr txBox="1"/>
          <p:nvPr/>
        </p:nvSpPr>
        <p:spPr>
          <a:xfrm>
            <a:off x="10774204" y="6570345"/>
            <a:ext cx="9529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rPr>
              <a:t>GridYard v6.8.1</a:t>
            </a:r>
            <a:endParaRPr lang="zh-CN" sz="900" dirty="0">
              <a:solidFill>
                <a:srgbClr val="94A3B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  <p:sp>
        <p:nvSpPr>
          <p:cNvPr id="45" name="Polygon 15"/>
          <p:cNvSpPr/>
          <p:nvPr/>
        </p:nvSpPr>
        <p:spPr>
          <a:xfrm rot="16200000">
            <a:off x="3095625" y="2740660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142875"/>
                </a:moveTo>
                <a:lnTo>
                  <a:pt x="285750" y="0"/>
                </a:lnTo>
                <a:lnTo>
                  <a:pt x="285750" y="285750"/>
                </a:lnTo>
                <a:close/>
              </a:path>
            </a:pathLst>
          </a:custGeom>
          <a:solidFill>
            <a:srgbClr val="CBD5E1"/>
          </a:solidFill>
          <a:ln>
            <a:noFill/>
          </a:ln>
        </p:spPr>
      </p:sp>
      <p:sp>
        <p:nvSpPr>
          <p:cNvPr id="46" name="Polygon 15"/>
          <p:cNvSpPr/>
          <p:nvPr/>
        </p:nvSpPr>
        <p:spPr>
          <a:xfrm rot="16200000">
            <a:off x="3095625" y="336486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142875"/>
                </a:moveTo>
                <a:lnTo>
                  <a:pt x="285750" y="0"/>
                </a:lnTo>
                <a:lnTo>
                  <a:pt x="285750" y="285750"/>
                </a:lnTo>
                <a:close/>
              </a:path>
            </a:pathLst>
          </a:custGeom>
          <a:solidFill>
            <a:srgbClr val="CBD5E1"/>
          </a:solidFill>
          <a:ln>
            <a:noFill/>
          </a:ln>
        </p:spPr>
      </p:sp>
      <p:sp>
        <p:nvSpPr>
          <p:cNvPr id="47" name="Polygon 15"/>
          <p:cNvSpPr/>
          <p:nvPr/>
        </p:nvSpPr>
        <p:spPr>
          <a:xfrm rot="16200000">
            <a:off x="3095625" y="41624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142875"/>
                </a:moveTo>
                <a:lnTo>
                  <a:pt x="285750" y="0"/>
                </a:lnTo>
                <a:lnTo>
                  <a:pt x="285750" y="285750"/>
                </a:lnTo>
                <a:close/>
              </a:path>
            </a:pathLst>
          </a:custGeom>
          <a:solidFill>
            <a:srgbClr val="CBD5E1"/>
          </a:solidFill>
          <a:ln>
            <a:noFill/>
          </a:ln>
        </p:spPr>
      </p:sp>
      <p:sp>
        <p:nvSpPr>
          <p:cNvPr id="48" name="Polygon 15"/>
          <p:cNvSpPr/>
          <p:nvPr/>
        </p:nvSpPr>
        <p:spPr>
          <a:xfrm rot="16200000">
            <a:off x="3095625" y="49244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0" y="142875"/>
                </a:moveTo>
                <a:lnTo>
                  <a:pt x="285750" y="0"/>
                </a:lnTo>
                <a:lnTo>
                  <a:pt x="285750" y="285750"/>
                </a:lnTo>
                <a:close/>
              </a:path>
            </a:pathLst>
          </a:custGeom>
          <a:solidFill>
            <a:srgbClr val="CBD5E1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D5F8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45770" y="217170"/>
            <a:ext cx="11283315" cy="487680"/>
            <a:chOff x="445770" y="217170"/>
            <a:chExt cx="11283315" cy="487680"/>
          </a:xfrm>
        </p:grpSpPr>
        <p:sp>
          <p:nvSpPr>
            <p:cNvPr id="4" name="TextBox 4"/>
            <p:cNvSpPr txBox="1"/>
            <p:nvPr/>
          </p:nvSpPr>
          <p:spPr>
            <a:xfrm>
              <a:off x="445770" y="217170"/>
              <a:ext cx="612651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同一个 TCP 入口，靠首帧 Type 判断业务</a:t>
              </a:r>
              <a:endParaRPr lang="zh-CN" sz="240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476250" y="59055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548396" y="36290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13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52500" y="1047750"/>
            <a:ext cx="10287000" cy="762000"/>
            <a:chOff x="952500" y="1047750"/>
            <a:chExt cx="10287000" cy="762000"/>
          </a:xfrm>
        </p:grpSpPr>
        <p:sp>
          <p:nvSpPr>
            <p:cNvPr id="8" name="Rectangle 8"/>
            <p:cNvSpPr/>
            <p:nvPr/>
          </p:nvSpPr>
          <p:spPr>
            <a:xfrm>
              <a:off x="952500" y="1047750"/>
              <a:ext cx="10287000" cy="762000"/>
            </a:xfrm>
            <a:prstGeom prst="roundRect">
              <a:avLst>
                <a:gd name="adj" fmla="val 12500"/>
              </a:avLst>
            </a:prstGeom>
            <a:solidFill>
              <a:srgbClr val="F59E0B">
                <a:alpha val="8000"/>
              </a:srgbClr>
            </a:solidFill>
            <a:ln w="9525">
              <a:solidFill>
                <a:srgbClr val="F59E0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706183" y="1235392"/>
              <a:ext cx="27796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59E0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文件传输和聊天都走 TCP 入站连接</a:t>
              </a:r>
              <a:endParaRPr lang="zh-CN" sz="1350" dirty="0">
                <a:solidFill>
                  <a:srgbClr val="F59E0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731544" y="1497806"/>
              <a:ext cx="27289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接收端收到连接后，必须先判断连接用途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762000" y="2095500"/>
            <a:ext cx="10477500" cy="3905250"/>
            <a:chOff x="762000" y="2095500"/>
            <a:chExt cx="10477500" cy="3905250"/>
          </a:xfrm>
        </p:grpSpPr>
        <p:sp>
          <p:nvSpPr>
            <p:cNvPr id="12" name="Rectangle 12"/>
            <p:cNvSpPr/>
            <p:nvPr/>
          </p:nvSpPr>
          <p:spPr>
            <a:xfrm>
              <a:off x="4667250" y="2095500"/>
              <a:ext cx="2857500" cy="666750"/>
            </a:xfrm>
            <a:prstGeom prst="roundRect">
              <a:avLst>
                <a:gd name="adj" fmla="val 14286"/>
              </a:avLst>
            </a:prstGeom>
            <a:solidFill>
              <a:srgbClr val="2D5F8A">
                <a:alpha val="15000"/>
              </a:srgbClr>
            </a:solidFill>
            <a:ln w="19050">
              <a:solidFill>
                <a:srgbClr val="2D5F8A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5516510" y="2235518"/>
              <a:ext cx="115898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TCP 入站连接</a:t>
              </a:r>
              <a:endParaRPr lang="zh-CN" sz="135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575102" y="2506028"/>
              <a:ext cx="104179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P2pServer 监听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5" name="Line 15"/>
            <p:cNvSpPr/>
            <p:nvPr/>
          </p:nvSpPr>
          <p:spPr>
            <a:xfrm>
              <a:off x="6096000" y="2762250"/>
              <a:ext cx="1" cy="381000"/>
            </a:xfrm>
            <a:prstGeom prst="line">
              <a:avLst/>
            </a:prstGeom>
            <a:noFill/>
            <a:ln w="19050">
              <a:solidFill>
                <a:srgbClr val="CBD5E1"/>
              </a:solidFill>
              <a:tailEnd type="triangle" w="lg" len="lg"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667250" y="3143250"/>
              <a:ext cx="2857500" cy="666750"/>
            </a:xfrm>
            <a:prstGeom prst="roundRect">
              <a:avLst>
                <a:gd name="adj" fmla="val 14286"/>
              </a:avLst>
            </a:prstGeom>
            <a:solidFill>
              <a:srgbClr val="3B82F6">
                <a:alpha val="15000"/>
              </a:srgbClr>
            </a:solidFill>
            <a:ln w="19050">
              <a:solidFill>
                <a:srgbClr val="3B82F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5700808" y="32832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3B82F6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读取首帧</a:t>
              </a:r>
              <a:endParaRPr lang="zh-CN" sz="1350" b="1" dirty="0">
                <a:solidFill>
                  <a:srgbClr val="3B82F6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211056" y="3553778"/>
              <a:ext cx="176988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peek() + FrameCodec 校验</a:t>
              </a:r>
              <a:endParaRPr lang="zh-CN" sz="1050" dirty="0">
                <a:solidFill>
                  <a:srgbClr val="64748B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6096000" y="3810000"/>
              <a:ext cx="1" cy="381000"/>
            </a:xfrm>
            <a:prstGeom prst="line">
              <a:avLst/>
            </a:prstGeom>
            <a:noFill/>
            <a:ln w="19050">
              <a:solidFill>
                <a:srgbClr val="CBD5E1"/>
              </a:solidFill>
              <a:tailEnd type="triangle" w="lg" len="lg"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667250" y="4191000"/>
              <a:ext cx="2857500" cy="666750"/>
            </a:xfrm>
            <a:prstGeom prst="roundRect">
              <a:avLst>
                <a:gd name="adj" fmla="val 14286"/>
              </a:avLst>
            </a:prstGeom>
            <a:solidFill>
              <a:srgbClr val="8B5CF6">
                <a:alpha val="15000"/>
              </a:srgbClr>
            </a:solidFill>
            <a:ln w="19050">
              <a:solidFill>
                <a:srgbClr val="8B5CF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653552" y="4331018"/>
              <a:ext cx="88489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8B5CF6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判断 Type</a:t>
              </a:r>
              <a:endParaRPr lang="zh-CN" sz="1350" b="1" dirty="0">
                <a:solidFill>
                  <a:srgbClr val="8B5CF6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676614" y="4601528"/>
              <a:ext cx="8387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首帧 Type 码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3" name="Line 23"/>
            <p:cNvSpPr/>
            <p:nvPr/>
          </p:nvSpPr>
          <p:spPr>
            <a:xfrm flipH="1">
              <a:off x="2381250" y="4524375"/>
              <a:ext cx="2286000" cy="1"/>
            </a:xfrm>
            <a:prstGeom prst="line">
              <a:avLst/>
            </a:prstGeom>
            <a:noFill/>
            <a:ln w="19050">
              <a:solidFill>
                <a:srgbClr val="F59E0B"/>
              </a:solidFill>
              <a:tailEnd type="triangle" w="lg" len="lg"/>
            </a:ln>
          </p:spPr>
        </p:sp>
        <p:sp>
          <p:nvSpPr>
            <p:cNvPr id="24" name="Line 24"/>
            <p:cNvSpPr/>
            <p:nvPr/>
          </p:nvSpPr>
          <p:spPr>
            <a:xfrm>
              <a:off x="6096000" y="4857750"/>
              <a:ext cx="1" cy="381000"/>
            </a:xfrm>
            <a:prstGeom prst="line">
              <a:avLst/>
            </a:prstGeom>
            <a:noFill/>
            <a:ln w="19050">
              <a:solidFill>
                <a:srgbClr val="22C55E"/>
              </a:solidFill>
              <a:tailEnd type="triangle" w="lg" len="lg"/>
            </a:ln>
          </p:spPr>
        </p:sp>
        <p:sp>
          <p:nvSpPr>
            <p:cNvPr id="25" name="Line 25"/>
            <p:cNvSpPr/>
            <p:nvPr/>
          </p:nvSpPr>
          <p:spPr>
            <a:xfrm>
              <a:off x="7524750" y="4524375"/>
              <a:ext cx="2286000" cy="1"/>
            </a:xfrm>
            <a:prstGeom prst="line">
              <a:avLst/>
            </a:prstGeom>
            <a:noFill/>
            <a:ln w="19050">
              <a:solidFill>
                <a:srgbClr val="EF4444"/>
              </a:solidFill>
              <a:tailEnd type="triangle" w="lg" len="lg"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62000" y="4191000"/>
              <a:ext cx="2857500" cy="762000"/>
            </a:xfrm>
            <a:prstGeom prst="roundRect">
              <a:avLst>
                <a:gd name="adj" fmla="val 12500"/>
              </a:avLst>
            </a:prstGeom>
            <a:solidFill>
              <a:srgbClr val="F59E0B">
                <a:alpha val="15000"/>
              </a:srgbClr>
            </a:solidFill>
            <a:ln w="19050">
              <a:solidFill>
                <a:srgbClr val="F59E0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393883" y="4331018"/>
              <a:ext cx="159373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59E0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TransferRequest</a:t>
              </a:r>
              <a:endParaRPr lang="zh-CN" sz="1350" b="1" dirty="0">
                <a:solidFill>
                  <a:srgbClr val="F59E0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527631" y="4641056"/>
              <a:ext cx="13262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→ 文件接收 Worker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4667250" y="5238750"/>
              <a:ext cx="2857500" cy="762000"/>
            </a:xfrm>
            <a:prstGeom prst="roundRect">
              <a:avLst>
                <a:gd name="adj" fmla="val 12500"/>
              </a:avLst>
            </a:prstGeom>
            <a:solidFill>
              <a:srgbClr val="22C55E">
                <a:alpha val="15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663003" y="5378768"/>
              <a:ext cx="86599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2C55E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ChatText</a:t>
              </a:r>
              <a:endParaRPr lang="zh-CN" sz="1350" b="1" dirty="0">
                <a:solidFill>
                  <a:srgbClr val="22C55E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226606" y="5688806"/>
              <a:ext cx="173878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→ 聊天管理 ChatManager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858250" y="4191000"/>
              <a:ext cx="2381250" cy="762000"/>
            </a:xfrm>
            <a:prstGeom prst="roundRect">
              <a:avLst>
                <a:gd name="adj" fmla="val 12500"/>
              </a:avLst>
            </a:prstGeom>
            <a:solidFill>
              <a:srgbClr val="EF4444">
                <a:alpha val="15000"/>
              </a:srgbClr>
            </a:solidFill>
            <a:ln w="19050">
              <a:solidFill>
                <a:srgbClr val="EF4444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50482" y="4331018"/>
              <a:ext cx="119678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EF4444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未知 / 无效帧</a:t>
              </a:r>
              <a:endParaRPr lang="zh-CN" sz="1350" b="1" dirty="0">
                <a:solidFill>
                  <a:srgbClr val="EF4444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359503" y="46410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→ 关闭连接 + 写日志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10774204" y="6570345"/>
            <a:ext cx="9529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rPr>
              <a:t>GridYard v6.8.1</a:t>
            </a:r>
            <a:endParaRPr lang="zh-CN" sz="900" dirty="0">
              <a:solidFill>
                <a:srgbClr val="94A3B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D5F8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45770" y="217170"/>
            <a:ext cx="11283315" cy="487680"/>
            <a:chOff x="445770" y="217170"/>
            <a:chExt cx="11283315" cy="487680"/>
          </a:xfrm>
        </p:grpSpPr>
        <p:sp>
          <p:nvSpPr>
            <p:cNvPr id="4" name="TextBox 4"/>
            <p:cNvSpPr txBox="1"/>
            <p:nvPr/>
          </p:nvSpPr>
          <p:spPr>
            <a:xfrm>
              <a:off x="445770" y="217170"/>
              <a:ext cx="483275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TLV 让 TCP 字节流恢复业务边界</a:t>
              </a:r>
              <a:endParaRPr lang="zh-CN" sz="240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476250" y="59055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548396" y="36290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14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933450" y="1076325"/>
            <a:ext cx="7258050" cy="1590675"/>
            <a:chOff x="933450" y="1076325"/>
            <a:chExt cx="7258050" cy="1590675"/>
          </a:xfrm>
        </p:grpSpPr>
        <p:sp>
          <p:nvSpPr>
            <p:cNvPr id="8" name="TextBox 8"/>
            <p:cNvSpPr txBox="1"/>
            <p:nvPr/>
          </p:nvSpPr>
          <p:spPr>
            <a:xfrm>
              <a:off x="933450" y="1076325"/>
              <a:ext cx="10777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293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TLV 帧结构</a:t>
              </a:r>
              <a:endParaRPr lang="zh-CN" sz="1500" b="1" dirty="0">
                <a:solidFill>
                  <a:srgbClr val="1E293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952500" y="1524000"/>
              <a:ext cx="1714500" cy="1143000"/>
            </a:xfrm>
            <a:prstGeom prst="roundRect">
              <a:avLst>
                <a:gd name="adj" fmla="val 8333"/>
              </a:avLst>
            </a:prstGeom>
            <a:solidFill>
              <a:srgbClr val="2D5F8A">
                <a:alpha val="15000"/>
              </a:srgbClr>
            </a:solidFill>
            <a:ln w="19050">
              <a:solidFill>
                <a:srgbClr val="2D5F8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59671" y="1838325"/>
              <a:ext cx="5001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Type</a:t>
              </a:r>
              <a:endParaRPr lang="zh-CN" sz="150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6474" y="2156460"/>
              <a:ext cx="6065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2 Bytes</a:t>
              </a:r>
              <a:endPara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16380" y="24107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业务类型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2667000" y="1524000"/>
              <a:ext cx="1714500" cy="1143000"/>
            </a:xfrm>
            <a:prstGeom prst="roundRect">
              <a:avLst>
                <a:gd name="adj" fmla="val 8333"/>
              </a:avLst>
            </a:prstGeom>
            <a:solidFill>
              <a:srgbClr val="22C55E">
                <a:alpha val="15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3158657" y="1838325"/>
              <a:ext cx="73118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Length</a:t>
              </a:r>
              <a:endParaRPr lang="zh-CN" sz="1500" b="1" dirty="0">
                <a:solidFill>
                  <a:srgbClr val="22C55E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220974" y="2156460"/>
              <a:ext cx="6065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4 Bytes</a:t>
              </a:r>
              <a:endPara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230880" y="24107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载荷长度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381500" y="1524000"/>
              <a:ext cx="3810000" cy="1143000"/>
            </a:xfrm>
            <a:prstGeom prst="roundRect">
              <a:avLst>
                <a:gd name="adj" fmla="val 8333"/>
              </a:avLst>
            </a:prstGeom>
            <a:solidFill>
              <a:srgbClr val="F59E0B">
                <a:alpha val="15000"/>
              </a:srgbClr>
            </a:solidFill>
            <a:ln w="19050">
              <a:solidFill>
                <a:srgbClr val="F59E0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04917" y="1838325"/>
              <a:ext cx="5631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59E0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Value</a:t>
              </a:r>
              <a:endParaRPr lang="zh-CN" sz="1500" b="1" dirty="0">
                <a:solidFill>
                  <a:srgbClr val="F59E0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983224" y="2156460"/>
              <a:ext cx="60655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N Bytes</a:t>
              </a:r>
              <a:endPara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993130" y="241077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具体内容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1428750" y="2667000"/>
            <a:ext cx="9715500" cy="1814512"/>
            <a:chOff x="1428750" y="2667000"/>
            <a:chExt cx="9715500" cy="1814512"/>
          </a:xfrm>
        </p:grpSpPr>
        <p:sp>
          <p:nvSpPr>
            <p:cNvPr id="22" name="Line 22"/>
            <p:cNvSpPr/>
            <p:nvPr/>
          </p:nvSpPr>
          <p:spPr>
            <a:xfrm>
              <a:off x="6286500" y="2667000"/>
              <a:ext cx="9525" cy="381000"/>
            </a:xfrm>
            <a:custGeom>
              <a:avLst/>
              <a:gdLst/>
              <a:ahLst/>
              <a:cxnLst/>
              <a:rect l="l" t="t" r="r" b="b"/>
              <a:pathLst>
                <a:path w="9525" h="381000">
                  <a:moveTo>
                    <a:pt x="0" y="0"/>
                  </a:move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2857500" y="3048000"/>
              <a:ext cx="6858000" cy="9525"/>
            </a:xfrm>
            <a:custGeom>
              <a:avLst/>
              <a:gdLst/>
              <a:ahLst/>
              <a:cxnLst/>
              <a:rect l="l" t="t" r="r" b="b"/>
              <a:pathLst>
                <a:path w="6858000" h="9525">
                  <a:moveTo>
                    <a:pt x="0" y="0"/>
                  </a:moveTo>
                  <a:lnTo>
                    <a:pt x="68580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2857500" y="3048000"/>
              <a:ext cx="952500" cy="476250"/>
            </a:xfrm>
            <a:custGeom>
              <a:avLst/>
              <a:gdLst/>
              <a:ahLst/>
              <a:cxnLst/>
              <a:rect l="l" t="t" r="r" b="b"/>
              <a:pathLst>
                <a:path w="952500" h="476250">
                  <a:moveTo>
                    <a:pt x="952500" y="0"/>
                  </a:moveTo>
                  <a:lnTo>
                    <a:pt x="0" y="476250"/>
                  </a:lnTo>
                </a:path>
              </a:pathLst>
            </a:custGeom>
            <a:noFill/>
            <a:ln w="14288">
              <a:solidFill>
                <a:srgbClr val="CBD5E1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6286500" y="304800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14288">
              <a:solidFill>
                <a:srgbClr val="CBD5E1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8763000" y="3048000"/>
              <a:ext cx="952500" cy="476250"/>
            </a:xfrm>
            <a:custGeom>
              <a:avLst/>
              <a:gdLst/>
              <a:ahLst/>
              <a:cxnLst/>
              <a:rect l="l" t="t" r="r" b="b"/>
              <a:pathLst>
                <a:path w="952500" h="476250">
                  <a:moveTo>
                    <a:pt x="0" y="0"/>
                  </a:moveTo>
                  <a:lnTo>
                    <a:pt x="952500" y="476250"/>
                  </a:lnTo>
                </a:path>
              </a:pathLst>
            </a:custGeom>
            <a:noFill/>
            <a:ln w="14288">
              <a:solidFill>
                <a:srgbClr val="CBD5E1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428750" y="3524250"/>
              <a:ext cx="2857500" cy="952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363400" y="3775710"/>
              <a:ext cx="9882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JSON 元信息</a:t>
              </a:r>
              <a:endParaRPr lang="zh-CN" sz="120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214086" y="407765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文件列表、设备信息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354104" y="426815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便于调试和扩展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4857750" y="3524250"/>
              <a:ext cx="2857500" cy="952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708390" y="3775710"/>
              <a:ext cx="115622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2C55E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JSON 聊天文本</a:t>
              </a:r>
              <a:endParaRPr lang="zh-CN" sz="1200" b="1" dirty="0">
                <a:solidFill>
                  <a:srgbClr val="22C55E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713095" y="407765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消息内容、时间戳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923121" y="426815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结构化数据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8286750" y="3524250"/>
              <a:ext cx="2857500" cy="952500"/>
            </a:xfrm>
            <a:prstGeom prst="roundRect">
              <a:avLst>
                <a:gd name="adj" fmla="val 10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96197" y="377571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59E0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二进制文件块</a:t>
              </a:r>
              <a:endParaRPr lang="zh-CN" sz="1200" b="1" dirty="0">
                <a:solidFill>
                  <a:srgbClr val="F59E0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359122" y="4077652"/>
              <a:ext cx="7127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8MB chunk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142095" y="426815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避免额外编码开销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933450" y="4886325"/>
            <a:ext cx="10306050" cy="1495425"/>
            <a:chOff x="933450" y="4886325"/>
            <a:chExt cx="10306050" cy="1495425"/>
          </a:xfrm>
        </p:grpSpPr>
        <p:sp>
          <p:nvSpPr>
            <p:cNvPr id="40" name="TextBox 40"/>
            <p:cNvSpPr txBox="1"/>
            <p:nvPr/>
          </p:nvSpPr>
          <p:spPr>
            <a:xfrm>
              <a:off x="933450" y="4886325"/>
              <a:ext cx="149778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E293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为什么需要 TLV</a:t>
              </a:r>
              <a:endParaRPr lang="zh-CN" sz="1500" b="1" dirty="0">
                <a:solidFill>
                  <a:srgbClr val="1E293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952500" y="5238750"/>
              <a:ext cx="10287000" cy="1143000"/>
            </a:xfrm>
            <a:prstGeom prst="roundRect">
              <a:avLst>
                <a:gd name="adj" fmla="val 833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223010" y="5490210"/>
              <a:ext cx="40869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• TCP 没有消息边界，一次 write 不保证一次 readyRead</a:t>
              </a:r>
              <a:endPara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223010" y="5775960"/>
              <a:ext cx="331089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• Type 负责业务分发，Length 解决粘包/半包</a:t>
              </a:r>
              <a:endPara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223010" y="6061710"/>
              <a:ext cx="48870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• Value 承载具体内容：JSON 用于结构化数据，二进制用于文件内容</a:t>
              </a:r>
              <a:endPara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sp>
        <p:nvSpPr>
          <p:cNvPr id="46" name="TextBox 46"/>
          <p:cNvSpPr txBox="1"/>
          <p:nvPr/>
        </p:nvSpPr>
        <p:spPr>
          <a:xfrm>
            <a:off x="10774204" y="6570345"/>
            <a:ext cx="9529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rPr>
              <a:t>GridYard v6.8.1</a:t>
            </a:r>
            <a:endParaRPr lang="zh-CN" sz="900" dirty="0">
              <a:solidFill>
                <a:srgbClr val="94A3B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39" grpId="0"/>
      <p:bldP spid="4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D5F8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45770" y="217170"/>
            <a:ext cx="11283315" cy="487680"/>
            <a:chOff x="445770" y="217170"/>
            <a:chExt cx="11283315" cy="487680"/>
          </a:xfrm>
        </p:grpSpPr>
        <p:sp>
          <p:nvSpPr>
            <p:cNvPr id="4" name="TextBox 4"/>
            <p:cNvSpPr txBox="1"/>
            <p:nvPr/>
          </p:nvSpPr>
          <p:spPr>
            <a:xfrm>
              <a:off x="445770" y="217170"/>
              <a:ext cx="4614329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SQLite 本地历史让会话可追溯</a:t>
              </a:r>
              <a:endParaRPr lang="zh-CN" sz="240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476250" y="59055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548396" y="36290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15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952500" y="1333500"/>
            <a:ext cx="2857500" cy="5143500"/>
            <a:chOff x="952500" y="1333500"/>
            <a:chExt cx="2857500" cy="5143500"/>
          </a:xfrm>
        </p:grpSpPr>
        <p:sp>
          <p:nvSpPr>
            <p:cNvPr id="8" name="Rectangle 8"/>
            <p:cNvSpPr/>
            <p:nvPr/>
          </p:nvSpPr>
          <p:spPr>
            <a:xfrm>
              <a:off x="952500" y="1333500"/>
              <a:ext cx="2857500" cy="666750"/>
            </a:xfrm>
            <a:prstGeom prst="roundRect">
              <a:avLst>
                <a:gd name="adj" fmla="val 14286"/>
              </a:avLst>
            </a:prstGeom>
            <a:solidFill>
              <a:srgbClr val="2D5F8A">
                <a:alpha val="10000"/>
              </a:srgbClr>
            </a:solidFill>
            <a:ln w="19050">
              <a:solidFill>
                <a:srgbClr val="2D5F8A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97314" y="1489710"/>
              <a:ext cx="156787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聊天消息 / 传输事件</a:t>
              </a:r>
              <a:endParaRPr lang="zh-CN" sz="120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87880" y="174402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设备发现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1" name="Line 11"/>
            <p:cNvSpPr/>
            <p:nvPr/>
          </p:nvSpPr>
          <p:spPr>
            <a:xfrm>
              <a:off x="2381250" y="2000250"/>
              <a:ext cx="1" cy="476250"/>
            </a:xfrm>
            <a:prstGeom prst="line">
              <a:avLst/>
            </a:prstGeom>
            <a:noFill/>
            <a:ln w="19050">
              <a:solidFill>
                <a:srgbClr val="CBD5E1"/>
              </a:solidFill>
              <a:tailEnd type="triangle" w="lg" len="lg"/>
            </a:ln>
          </p:spPr>
        </p:sp>
        <p:sp>
          <p:nvSpPr>
            <p:cNvPr id="12" name="Rectangle 12"/>
            <p:cNvSpPr/>
            <p:nvPr/>
          </p:nvSpPr>
          <p:spPr>
            <a:xfrm>
              <a:off x="952500" y="2476500"/>
              <a:ext cx="2857500" cy="666750"/>
            </a:xfrm>
            <a:prstGeom prst="roundRect">
              <a:avLst>
                <a:gd name="adj" fmla="val 14286"/>
              </a:avLst>
            </a:prstGeom>
            <a:solidFill>
              <a:srgbClr val="22C55E">
                <a:alpha val="10000"/>
              </a:srgbClr>
            </a:solidFill>
            <a:ln w="19050">
              <a:solidFill>
                <a:srgbClr val="22C55E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945958" y="263271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22C55E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应用逻辑层</a:t>
              </a:r>
              <a:endParaRPr lang="zh-CN" sz="1200" b="1" dirty="0">
                <a:solidFill>
                  <a:srgbClr val="22C55E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53826" y="2887028"/>
              <a:ext cx="14548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Controller / Manager</a:t>
              </a:r>
              <a:endParaRPr lang="zh-CN" sz="1050" dirty="0">
                <a:solidFill>
                  <a:srgbClr val="64748B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  <p:sp>
          <p:nvSpPr>
            <p:cNvPr id="15" name="Line 15"/>
            <p:cNvSpPr/>
            <p:nvPr/>
          </p:nvSpPr>
          <p:spPr>
            <a:xfrm>
              <a:off x="2381250" y="3143250"/>
              <a:ext cx="1" cy="476250"/>
            </a:xfrm>
            <a:prstGeom prst="line">
              <a:avLst/>
            </a:prstGeom>
            <a:noFill/>
            <a:ln w="19050">
              <a:solidFill>
                <a:srgbClr val="CBD5E1"/>
              </a:solidFill>
              <a:tailEnd type="triangle" w="lg" len="lg"/>
            </a:ln>
          </p:spPr>
        </p:sp>
        <p:sp>
          <p:nvSpPr>
            <p:cNvPr id="16" name="Rectangle 16"/>
            <p:cNvSpPr/>
            <p:nvPr/>
          </p:nvSpPr>
          <p:spPr>
            <a:xfrm>
              <a:off x="952500" y="3619500"/>
              <a:ext cx="2857500" cy="666750"/>
            </a:xfrm>
            <a:prstGeom prst="roundRect">
              <a:avLst>
                <a:gd name="adj" fmla="val 14286"/>
              </a:avLst>
            </a:prstGeom>
            <a:solidFill>
              <a:srgbClr val="8B5CF6">
                <a:alpha val="10000"/>
              </a:srgbClr>
            </a:solidFill>
            <a:ln w="19050">
              <a:solidFill>
                <a:srgbClr val="8B5CF6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731731" y="3775710"/>
              <a:ext cx="129903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8B5CF6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Repository 端口</a:t>
              </a:r>
              <a:endParaRPr lang="zh-CN" sz="1200" b="1" dirty="0">
                <a:solidFill>
                  <a:srgbClr val="8B5CF6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657326" y="4030028"/>
              <a:ext cx="14478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业务对象 ↔ 数据库读写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9" name="Line 19"/>
            <p:cNvSpPr/>
            <p:nvPr/>
          </p:nvSpPr>
          <p:spPr>
            <a:xfrm>
              <a:off x="2381250" y="4286250"/>
              <a:ext cx="1" cy="476250"/>
            </a:xfrm>
            <a:prstGeom prst="line">
              <a:avLst/>
            </a:prstGeom>
            <a:noFill/>
            <a:ln w="19050">
              <a:solidFill>
                <a:srgbClr val="CBD5E1"/>
              </a:solidFill>
              <a:tailEnd type="triangle" w="lg" len="lg"/>
            </a:ln>
          </p:spPr>
        </p:sp>
        <p:sp>
          <p:nvSpPr>
            <p:cNvPr id="20" name="Rectangle 20"/>
            <p:cNvSpPr/>
            <p:nvPr/>
          </p:nvSpPr>
          <p:spPr>
            <a:xfrm>
              <a:off x="952500" y="4762500"/>
              <a:ext cx="2857500" cy="666750"/>
            </a:xfrm>
            <a:prstGeom prst="roundRect">
              <a:avLst>
                <a:gd name="adj" fmla="val 14286"/>
              </a:avLst>
            </a:prstGeom>
            <a:solidFill>
              <a:srgbClr val="F59E0B">
                <a:alpha val="10000"/>
              </a:srgbClr>
            </a:solidFill>
            <a:ln w="19050">
              <a:solidFill>
                <a:srgbClr val="F59E0B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702327" y="4918710"/>
              <a:ext cx="13578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59E0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DatabaseWorker</a:t>
              </a:r>
              <a:endParaRPr lang="zh-CN" sz="1200" b="1" dirty="0">
                <a:solidFill>
                  <a:srgbClr val="F59E0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657326" y="5173028"/>
              <a:ext cx="14478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后台执行，避免阻塞 UI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3" name="Line 23"/>
            <p:cNvSpPr/>
            <p:nvPr/>
          </p:nvSpPr>
          <p:spPr>
            <a:xfrm>
              <a:off x="2381250" y="5429250"/>
              <a:ext cx="1" cy="476250"/>
            </a:xfrm>
            <a:prstGeom prst="line">
              <a:avLst/>
            </a:prstGeom>
            <a:noFill/>
            <a:ln w="19050">
              <a:solidFill>
                <a:srgbClr val="CBD5E1"/>
              </a:solidFill>
              <a:tailEnd type="triangle" w="lg" len="lg"/>
            </a:ln>
          </p:spPr>
        </p:sp>
        <p:sp>
          <p:nvSpPr>
            <p:cNvPr id="24" name="Rectangle 24"/>
            <p:cNvSpPr/>
            <p:nvPr/>
          </p:nvSpPr>
          <p:spPr>
            <a:xfrm>
              <a:off x="952500" y="5905500"/>
              <a:ext cx="2857500" cy="571500"/>
            </a:xfrm>
            <a:prstGeom prst="roundRect">
              <a:avLst>
                <a:gd name="adj" fmla="val 16667"/>
              </a:avLst>
            </a:prstGeom>
            <a:solidFill>
              <a:srgbClr val="2D5F8A">
                <a:alpha val="20000"/>
              </a:srgbClr>
            </a:solidFill>
            <a:ln w="19050">
              <a:solidFill>
                <a:srgbClr val="2D5F8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056942" y="6121718"/>
              <a:ext cx="64861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SQLite</a:t>
              </a:r>
              <a:endParaRPr lang="zh-CN" sz="135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4762500" y="1333500"/>
            <a:ext cx="6667500" cy="3238500"/>
            <a:chOff x="4762500" y="1333500"/>
            <a:chExt cx="6667500" cy="3238500"/>
          </a:xfrm>
        </p:grpSpPr>
        <p:sp>
          <p:nvSpPr>
            <p:cNvPr id="27" name="Rectangle 27"/>
            <p:cNvSpPr/>
            <p:nvPr/>
          </p:nvSpPr>
          <p:spPr>
            <a:xfrm>
              <a:off x="4762500" y="1333500"/>
              <a:ext cx="3143250" cy="1524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8" name="Freeform 28"/>
            <p:cNvSpPr/>
            <p:nvPr/>
          </p:nvSpPr>
          <p:spPr>
            <a:xfrm>
              <a:off x="4975225" y="1557338"/>
              <a:ext cx="222250" cy="200025"/>
            </a:xfrm>
            <a:custGeom>
              <a:avLst/>
              <a:gdLst/>
              <a:ahLst/>
              <a:cxnLst/>
              <a:rect l="l" t="t" r="r" b="b"/>
              <a:pathLst>
                <a:path w="222250" h="200025">
                  <a:moveTo>
                    <a:pt x="55562" y="200025"/>
                  </a:moveTo>
                  <a:cubicBezTo>
                    <a:pt x="49425" y="200025"/>
                    <a:pt x="44450" y="195050"/>
                    <a:pt x="44450" y="188913"/>
                  </a:cubicBezTo>
                  <a:cubicBezTo>
                    <a:pt x="44450" y="182775"/>
                    <a:pt x="49425" y="177800"/>
                    <a:pt x="55562" y="177800"/>
                  </a:cubicBezTo>
                  <a:lnTo>
                    <a:pt x="66675" y="177800"/>
                  </a:lnTo>
                  <a:lnTo>
                    <a:pt x="66675" y="155575"/>
                  </a:lnTo>
                  <a:lnTo>
                    <a:pt x="22225" y="155575"/>
                  </a:lnTo>
                  <a:cubicBezTo>
                    <a:pt x="9950" y="155575"/>
                    <a:pt x="0" y="145625"/>
                    <a:pt x="0" y="133350"/>
                  </a:cubicBezTo>
                  <a:lnTo>
                    <a:pt x="0" y="22225"/>
                  </a:lnTo>
                  <a:cubicBezTo>
                    <a:pt x="0" y="9950"/>
                    <a:pt x="9950" y="0"/>
                    <a:pt x="22225" y="0"/>
                  </a:cubicBezTo>
                  <a:lnTo>
                    <a:pt x="200025" y="0"/>
                  </a:lnTo>
                  <a:cubicBezTo>
                    <a:pt x="212300" y="0"/>
                    <a:pt x="222250" y="9950"/>
                    <a:pt x="222250" y="22225"/>
                  </a:cubicBezTo>
                  <a:lnTo>
                    <a:pt x="222250" y="133350"/>
                  </a:lnTo>
                  <a:cubicBezTo>
                    <a:pt x="222250" y="145625"/>
                    <a:pt x="212300" y="155575"/>
                    <a:pt x="200025" y="155575"/>
                  </a:cubicBezTo>
                  <a:lnTo>
                    <a:pt x="155575" y="155575"/>
                  </a:lnTo>
                  <a:lnTo>
                    <a:pt x="155575" y="177800"/>
                  </a:lnTo>
                  <a:lnTo>
                    <a:pt x="166688" y="177800"/>
                  </a:lnTo>
                  <a:cubicBezTo>
                    <a:pt x="172825" y="177800"/>
                    <a:pt x="177800" y="182775"/>
                    <a:pt x="177800" y="188913"/>
                  </a:cubicBezTo>
                  <a:cubicBezTo>
                    <a:pt x="177800" y="195050"/>
                    <a:pt x="172825" y="200025"/>
                    <a:pt x="166688" y="200025"/>
                  </a:cubicBezTo>
                  <a:close/>
                  <a:moveTo>
                    <a:pt x="133350" y="155575"/>
                  </a:moveTo>
                  <a:lnTo>
                    <a:pt x="88900" y="155575"/>
                  </a:lnTo>
                  <a:lnTo>
                    <a:pt x="88900" y="177800"/>
                  </a:lnTo>
                  <a:lnTo>
                    <a:pt x="133350" y="177800"/>
                  </a:lnTo>
                  <a:close/>
                </a:path>
              </a:pathLst>
            </a:custGeom>
            <a:solidFill>
              <a:srgbClr val="2D5F8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318760" y="16040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设备目录</a:t>
              </a:r>
              <a:endParaRPr lang="zh-CN" sz="120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939665" y="1934528"/>
              <a:ext cx="142684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保存曾经连接过的设备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939665" y="217265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记录最近活动时间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939665" y="241077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支持设备搜索和排序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8286750" y="1333500"/>
              <a:ext cx="3143250" cy="1524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8499475" y="1557338"/>
              <a:ext cx="222250" cy="211657"/>
            </a:xfrm>
            <a:custGeom>
              <a:avLst/>
              <a:gdLst/>
              <a:ahLst/>
              <a:cxnLst/>
              <a:rect l="l" t="t" r="r" b="b"/>
              <a:pathLst>
                <a:path w="222250" h="211657">
                  <a:moveTo>
                    <a:pt x="177800" y="0"/>
                  </a:moveTo>
                  <a:cubicBezTo>
                    <a:pt x="202349" y="0"/>
                    <a:pt x="222250" y="19901"/>
                    <a:pt x="222250" y="44450"/>
                  </a:cubicBezTo>
                  <a:lnTo>
                    <a:pt x="222250" y="133350"/>
                  </a:lnTo>
                  <a:cubicBezTo>
                    <a:pt x="222250" y="157899"/>
                    <a:pt x="202349" y="177800"/>
                    <a:pt x="177800" y="177800"/>
                  </a:cubicBezTo>
                  <a:lnTo>
                    <a:pt x="125305" y="177800"/>
                  </a:lnTo>
                  <a:lnTo>
                    <a:pt x="72387" y="209548"/>
                  </a:lnTo>
                  <a:cubicBezTo>
                    <a:pt x="69149" y="211492"/>
                    <a:pt x="65145" y="211657"/>
                    <a:pt x="61757" y="209988"/>
                  </a:cubicBezTo>
                  <a:cubicBezTo>
                    <a:pt x="58370" y="208319"/>
                    <a:pt x="56061" y="205044"/>
                    <a:pt x="55629" y="201292"/>
                  </a:cubicBezTo>
                  <a:lnTo>
                    <a:pt x="55562" y="200025"/>
                  </a:lnTo>
                  <a:lnTo>
                    <a:pt x="55562" y="177800"/>
                  </a:lnTo>
                  <a:lnTo>
                    <a:pt x="44450" y="177800"/>
                  </a:lnTo>
                  <a:cubicBezTo>
                    <a:pt x="20765" y="177800"/>
                    <a:pt x="1240" y="159228"/>
                    <a:pt x="56" y="135573"/>
                  </a:cubicBezTo>
                  <a:lnTo>
                    <a:pt x="0" y="133350"/>
                  </a:lnTo>
                  <a:lnTo>
                    <a:pt x="0" y="44450"/>
                  </a:lnTo>
                  <a:cubicBezTo>
                    <a:pt x="0" y="19901"/>
                    <a:pt x="19901" y="0"/>
                    <a:pt x="44450" y="0"/>
                  </a:cubicBezTo>
                  <a:close/>
                  <a:moveTo>
                    <a:pt x="133350" y="100012"/>
                  </a:moveTo>
                  <a:lnTo>
                    <a:pt x="66675" y="100012"/>
                  </a:lnTo>
                  <a:cubicBezTo>
                    <a:pt x="60538" y="100012"/>
                    <a:pt x="55562" y="104988"/>
                    <a:pt x="55562" y="111125"/>
                  </a:cubicBezTo>
                  <a:cubicBezTo>
                    <a:pt x="55562" y="117262"/>
                    <a:pt x="60538" y="122238"/>
                    <a:pt x="66675" y="122238"/>
                  </a:cubicBezTo>
                  <a:lnTo>
                    <a:pt x="133350" y="122238"/>
                  </a:lnTo>
                  <a:cubicBezTo>
                    <a:pt x="139487" y="122238"/>
                    <a:pt x="144462" y="117262"/>
                    <a:pt x="144462" y="111125"/>
                  </a:cubicBezTo>
                  <a:cubicBezTo>
                    <a:pt x="144462" y="104988"/>
                    <a:pt x="139487" y="100012"/>
                    <a:pt x="133350" y="100012"/>
                  </a:cubicBezTo>
                  <a:moveTo>
                    <a:pt x="155575" y="55563"/>
                  </a:moveTo>
                  <a:lnTo>
                    <a:pt x="66675" y="55563"/>
                  </a:lnTo>
                  <a:cubicBezTo>
                    <a:pt x="60538" y="55563"/>
                    <a:pt x="55562" y="60538"/>
                    <a:pt x="55562" y="66675"/>
                  </a:cubicBezTo>
                  <a:cubicBezTo>
                    <a:pt x="55562" y="72812"/>
                    <a:pt x="60538" y="77787"/>
                    <a:pt x="66675" y="77787"/>
                  </a:cubicBezTo>
                  <a:lnTo>
                    <a:pt x="155575" y="77787"/>
                  </a:lnTo>
                  <a:cubicBezTo>
                    <a:pt x="161712" y="77787"/>
                    <a:pt x="166688" y="72812"/>
                    <a:pt x="166688" y="66675"/>
                  </a:cubicBezTo>
                  <a:cubicBezTo>
                    <a:pt x="166688" y="60538"/>
                    <a:pt x="161712" y="55563"/>
                    <a:pt x="155575" y="55563"/>
                  </a:cubicBezTo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843010" y="16040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C55E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聊天历史</a:t>
              </a:r>
              <a:endParaRPr lang="zh-CN" sz="1200" b="1" dirty="0">
                <a:solidFill>
                  <a:srgbClr val="22C55E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63915" y="1934528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保存消息方向、内容、时间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463915" y="2172652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支持分页查询和筛选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463915" y="2410778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跨重启恢复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4762500" y="3048000"/>
              <a:ext cx="3143250" cy="1524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4997449" y="3260725"/>
              <a:ext cx="177802" cy="222251"/>
              <a:chOff x="4997449" y="3260725"/>
              <a:chExt cx="177802" cy="222251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4997449" y="3260725"/>
                <a:ext cx="177802" cy="222251"/>
              </a:xfrm>
              <a:custGeom>
                <a:avLst/>
                <a:gdLst/>
                <a:ahLst/>
                <a:cxnLst/>
                <a:rect l="l" t="t" r="r" b="b"/>
                <a:pathLst>
                  <a:path w="177802" h="222251">
                    <a:moveTo>
                      <a:pt x="88901" y="0"/>
                    </a:moveTo>
                    <a:lnTo>
                      <a:pt x="90201" y="78"/>
                    </a:lnTo>
                    <a:cubicBezTo>
                      <a:pt x="95307" y="680"/>
                      <a:pt x="99334" y="4706"/>
                      <a:pt x="99936" y="9812"/>
                    </a:cubicBezTo>
                    <a:lnTo>
                      <a:pt x="100013" y="11113"/>
                    </a:lnTo>
                    <a:lnTo>
                      <a:pt x="100013" y="55563"/>
                    </a:lnTo>
                    <a:lnTo>
                      <a:pt x="100069" y="57229"/>
                    </a:lnTo>
                    <a:cubicBezTo>
                      <a:pt x="100891" y="68163"/>
                      <a:pt x="109563" y="76864"/>
                      <a:pt x="120494" y="77721"/>
                    </a:cubicBezTo>
                    <a:lnTo>
                      <a:pt x="122238" y="77788"/>
                    </a:lnTo>
                    <a:lnTo>
                      <a:pt x="166688" y="77788"/>
                    </a:lnTo>
                    <a:lnTo>
                      <a:pt x="167989" y="77865"/>
                    </a:lnTo>
                    <a:cubicBezTo>
                      <a:pt x="173095" y="78467"/>
                      <a:pt x="177121" y="82494"/>
                      <a:pt x="177723" y="87600"/>
                    </a:cubicBezTo>
                    <a:lnTo>
                      <a:pt x="177801" y="88900"/>
                    </a:lnTo>
                    <a:lnTo>
                      <a:pt x="177801" y="188913"/>
                    </a:lnTo>
                    <a:cubicBezTo>
                      <a:pt x="177802" y="206565"/>
                      <a:pt x="164042" y="221159"/>
                      <a:pt x="146419" y="222194"/>
                    </a:cubicBezTo>
                    <a:lnTo>
                      <a:pt x="144463" y="222250"/>
                    </a:lnTo>
                    <a:lnTo>
                      <a:pt x="33338" y="222250"/>
                    </a:lnTo>
                    <a:cubicBezTo>
                      <a:pt x="15686" y="222251"/>
                      <a:pt x="1092" y="208491"/>
                      <a:pt x="57" y="190868"/>
                    </a:cubicBezTo>
                    <a:lnTo>
                      <a:pt x="1" y="188913"/>
                    </a:lnTo>
                    <a:lnTo>
                      <a:pt x="1" y="33338"/>
                    </a:lnTo>
                    <a:cubicBezTo>
                      <a:pt x="0" y="15685"/>
                      <a:pt x="13760" y="1091"/>
                      <a:pt x="31383" y="56"/>
                    </a:cubicBezTo>
                    <a:lnTo>
                      <a:pt x="33338" y="0"/>
                    </a:lnTo>
                    <a:lnTo>
                      <a:pt x="88901" y="0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5119676" y="3271826"/>
                <a:ext cx="44461" cy="44461"/>
              </a:xfrm>
              <a:custGeom>
                <a:avLst/>
                <a:gdLst/>
                <a:ahLst/>
                <a:cxnLst/>
                <a:rect l="l" t="t" r="r" b="b"/>
                <a:pathLst>
                  <a:path w="44461" h="44461">
                    <a:moveTo>
                      <a:pt x="44461" y="44461"/>
                    </a:moveTo>
                    <a:lnTo>
                      <a:pt x="11" y="4446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5318760" y="33185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9E0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传输历史</a:t>
              </a:r>
              <a:endParaRPr lang="zh-CN" sz="1200" b="1" dirty="0">
                <a:solidFill>
                  <a:srgbClr val="F59E0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939665" y="3649028"/>
              <a:ext cx="156686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保存文件名、大小、路径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939665" y="3887152"/>
              <a:ext cx="100679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记录进度和结果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939665" y="4125278"/>
              <a:ext cx="128682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支持清理和保留策略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286750" y="3048000"/>
              <a:ext cx="3143250" cy="1524000"/>
            </a:xfrm>
            <a:prstGeom prst="roundRect">
              <a:avLst>
                <a:gd name="adj" fmla="val 75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8" name="Freeform 48"/>
            <p:cNvSpPr/>
            <p:nvPr/>
          </p:nvSpPr>
          <p:spPr>
            <a:xfrm>
              <a:off x="8509383" y="3271838"/>
              <a:ext cx="202803" cy="200410"/>
            </a:xfrm>
            <a:custGeom>
              <a:avLst/>
              <a:gdLst/>
              <a:ahLst/>
              <a:cxnLst/>
              <a:rect l="l" t="t" r="r" b="b"/>
              <a:pathLst>
                <a:path w="202803" h="200410">
                  <a:moveTo>
                    <a:pt x="200052" y="139495"/>
                  </a:moveTo>
                  <a:cubicBezTo>
                    <a:pt x="202792" y="144982"/>
                    <a:pt x="200569" y="151652"/>
                    <a:pt x="195084" y="154397"/>
                  </a:cubicBezTo>
                  <a:lnTo>
                    <a:pt x="106184" y="198847"/>
                  </a:lnTo>
                  <a:cubicBezTo>
                    <a:pt x="103057" y="200410"/>
                    <a:pt x="99377" y="200410"/>
                    <a:pt x="96250" y="198847"/>
                  </a:cubicBezTo>
                  <a:lnTo>
                    <a:pt x="7350" y="154397"/>
                  </a:lnTo>
                  <a:cubicBezTo>
                    <a:pt x="2066" y="151548"/>
                    <a:pt x="0" y="145016"/>
                    <a:pt x="2685" y="139646"/>
                  </a:cubicBezTo>
                  <a:cubicBezTo>
                    <a:pt x="5370" y="134277"/>
                    <a:pt x="11834" y="132010"/>
                    <a:pt x="17284" y="134528"/>
                  </a:cubicBezTo>
                  <a:lnTo>
                    <a:pt x="101217" y="176466"/>
                  </a:lnTo>
                  <a:lnTo>
                    <a:pt x="185161" y="134517"/>
                  </a:lnTo>
                  <a:cubicBezTo>
                    <a:pt x="190648" y="131777"/>
                    <a:pt x="197317" y="134000"/>
                    <a:pt x="200063" y="139484"/>
                  </a:cubicBezTo>
                  <a:moveTo>
                    <a:pt x="200063" y="95034"/>
                  </a:moveTo>
                  <a:cubicBezTo>
                    <a:pt x="202803" y="100521"/>
                    <a:pt x="200580" y="107191"/>
                    <a:pt x="195095" y="109936"/>
                  </a:cubicBezTo>
                  <a:lnTo>
                    <a:pt x="106195" y="154386"/>
                  </a:lnTo>
                  <a:cubicBezTo>
                    <a:pt x="103068" y="155949"/>
                    <a:pt x="99388" y="155949"/>
                    <a:pt x="96261" y="154386"/>
                  </a:cubicBezTo>
                  <a:lnTo>
                    <a:pt x="7361" y="109936"/>
                  </a:lnTo>
                  <a:cubicBezTo>
                    <a:pt x="2077" y="107086"/>
                    <a:pt x="11" y="100555"/>
                    <a:pt x="2696" y="95185"/>
                  </a:cubicBezTo>
                  <a:cubicBezTo>
                    <a:pt x="5381" y="89816"/>
                    <a:pt x="11845" y="87549"/>
                    <a:pt x="17295" y="90067"/>
                  </a:cubicBezTo>
                  <a:lnTo>
                    <a:pt x="101217" y="132017"/>
                  </a:lnTo>
                  <a:lnTo>
                    <a:pt x="185161" y="90067"/>
                  </a:lnTo>
                  <a:cubicBezTo>
                    <a:pt x="190648" y="87327"/>
                    <a:pt x="197317" y="89550"/>
                    <a:pt x="200063" y="95034"/>
                  </a:cubicBezTo>
                  <a:moveTo>
                    <a:pt x="101306" y="0"/>
                  </a:moveTo>
                  <a:cubicBezTo>
                    <a:pt x="101721" y="0"/>
                    <a:pt x="102132" y="26"/>
                    <a:pt x="102539" y="78"/>
                  </a:cubicBezTo>
                  <a:lnTo>
                    <a:pt x="103773" y="300"/>
                  </a:lnTo>
                  <a:lnTo>
                    <a:pt x="104729" y="567"/>
                  </a:lnTo>
                  <a:lnTo>
                    <a:pt x="104862" y="633"/>
                  </a:lnTo>
                  <a:lnTo>
                    <a:pt x="104995" y="656"/>
                  </a:lnTo>
                  <a:lnTo>
                    <a:pt x="105318" y="811"/>
                  </a:lnTo>
                  <a:lnTo>
                    <a:pt x="105873" y="1022"/>
                  </a:lnTo>
                  <a:lnTo>
                    <a:pt x="106051" y="1122"/>
                  </a:lnTo>
                  <a:lnTo>
                    <a:pt x="106184" y="1178"/>
                  </a:lnTo>
                  <a:lnTo>
                    <a:pt x="195084" y="45628"/>
                  </a:lnTo>
                  <a:cubicBezTo>
                    <a:pt x="198844" y="47512"/>
                    <a:pt x="201218" y="51357"/>
                    <a:pt x="201218" y="55562"/>
                  </a:cubicBezTo>
                  <a:cubicBezTo>
                    <a:pt x="201218" y="59768"/>
                    <a:pt x="198844" y="63613"/>
                    <a:pt x="195084" y="65497"/>
                  </a:cubicBezTo>
                  <a:lnTo>
                    <a:pt x="106184" y="109947"/>
                  </a:lnTo>
                  <a:cubicBezTo>
                    <a:pt x="103057" y="111510"/>
                    <a:pt x="99377" y="111510"/>
                    <a:pt x="96250" y="109947"/>
                  </a:cubicBezTo>
                  <a:lnTo>
                    <a:pt x="7350" y="65497"/>
                  </a:lnTo>
                  <a:cubicBezTo>
                    <a:pt x="3590" y="63613"/>
                    <a:pt x="1216" y="59768"/>
                    <a:pt x="1216" y="55562"/>
                  </a:cubicBezTo>
                  <a:cubicBezTo>
                    <a:pt x="1216" y="51357"/>
                    <a:pt x="3590" y="47512"/>
                    <a:pt x="7350" y="45628"/>
                  </a:cubicBezTo>
                  <a:lnTo>
                    <a:pt x="96250" y="1178"/>
                  </a:lnTo>
                  <a:lnTo>
                    <a:pt x="96372" y="1122"/>
                  </a:lnTo>
                  <a:lnTo>
                    <a:pt x="96572" y="1011"/>
                  </a:lnTo>
                  <a:lnTo>
                    <a:pt x="97439" y="656"/>
                  </a:lnTo>
                  <a:lnTo>
                    <a:pt x="97561" y="633"/>
                  </a:lnTo>
                  <a:lnTo>
                    <a:pt x="97705" y="567"/>
                  </a:lnTo>
                  <a:lnTo>
                    <a:pt x="98661" y="300"/>
                  </a:lnTo>
                  <a:lnTo>
                    <a:pt x="99884" y="78"/>
                  </a:lnTo>
                  <a:lnTo>
                    <a:pt x="100506" y="22"/>
                  </a:lnTo>
                  <a:close/>
                </a:path>
              </a:pathLst>
            </a:custGeom>
            <a:solidFill>
              <a:srgbClr val="8B5CF6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8843010" y="331851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8B5CF6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数据库迁移</a:t>
              </a:r>
              <a:endParaRPr lang="zh-CN" sz="1200" b="1" dirty="0">
                <a:solidFill>
                  <a:srgbClr val="8B5CF6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8463915" y="3649028"/>
              <a:ext cx="13988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首次启动创建 Schema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463915" y="3887152"/>
              <a:ext cx="11468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后续升级维护结构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463915" y="4125278"/>
              <a:ext cx="11398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MigrationRunner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4762500" y="4953000"/>
            <a:ext cx="6667500" cy="1338262"/>
            <a:chOff x="4762500" y="4953000"/>
            <a:chExt cx="6667500" cy="1338262"/>
          </a:xfrm>
        </p:grpSpPr>
        <p:sp>
          <p:nvSpPr>
            <p:cNvPr id="54" name="Rectangle 54"/>
            <p:cNvSpPr/>
            <p:nvPr/>
          </p:nvSpPr>
          <p:spPr>
            <a:xfrm>
              <a:off x="4762500" y="4953000"/>
              <a:ext cx="6667500" cy="1333500"/>
            </a:xfrm>
            <a:prstGeom prst="roundRect">
              <a:avLst>
                <a:gd name="adj" fmla="val 8571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5033010" y="52044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293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启动恢复</a:t>
              </a:r>
              <a:endParaRPr lang="zh-CN" sz="1200" b="1" dirty="0">
                <a:solidFill>
                  <a:srgbClr val="1E293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5034915" y="5506402"/>
              <a:ext cx="22669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重启后自动加载历史消息和传输记录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5033010" y="57759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E293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历史查询</a:t>
              </a:r>
              <a:endParaRPr lang="zh-CN" sz="1200" b="1" dirty="0">
                <a:solidFill>
                  <a:srgbClr val="1E293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5034915" y="6077902"/>
              <a:ext cx="21269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按设备、时间、类型筛选历史记录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0774204" y="6570345"/>
            <a:ext cx="9529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rPr>
              <a:t>GridYard v6.8.1</a:t>
            </a:r>
            <a:endParaRPr lang="zh-CN" sz="900" dirty="0">
              <a:solidFill>
                <a:srgbClr val="94A3B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53" grpId="0"/>
      <p:bldP spid="5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D5F8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45770" y="217170"/>
            <a:ext cx="11283315" cy="487680"/>
            <a:chOff x="445770" y="217170"/>
            <a:chExt cx="11283315" cy="487680"/>
          </a:xfrm>
        </p:grpSpPr>
        <p:sp>
          <p:nvSpPr>
            <p:cNvPr id="4" name="TextBox 4"/>
            <p:cNvSpPr txBox="1"/>
            <p:nvPr/>
          </p:nvSpPr>
          <p:spPr>
            <a:xfrm>
              <a:off x="445770" y="217170"/>
              <a:ext cx="4429506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运行数据不绑死在发布包目录</a:t>
              </a:r>
              <a:endParaRPr lang="zh-CN" sz="240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476250" y="59055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548396" y="36290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16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952500" y="1428750"/>
            <a:ext cx="4572000" cy="3810000"/>
            <a:chOff x="952500" y="1428750"/>
            <a:chExt cx="4572000" cy="3810000"/>
          </a:xfrm>
        </p:grpSpPr>
        <p:sp>
          <p:nvSpPr>
            <p:cNvPr id="8" name="Rectangle 8"/>
            <p:cNvSpPr/>
            <p:nvPr/>
          </p:nvSpPr>
          <p:spPr>
            <a:xfrm>
              <a:off x="952500" y="1428750"/>
              <a:ext cx="4572000" cy="3810000"/>
            </a:xfrm>
            <a:prstGeom prst="roundRect">
              <a:avLst>
                <a:gd name="adj" fmla="val 4000"/>
              </a:avLst>
            </a:prstGeom>
            <a:solidFill>
              <a:srgbClr val="F59E0B">
                <a:alpha val="8000"/>
              </a:srgbClr>
            </a:solidFill>
            <a:ln w="19050">
              <a:solidFill>
                <a:srgbClr val="F59E0B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2990850" y="1752600"/>
              <a:ext cx="381000" cy="381000"/>
              <a:chOff x="2990850" y="1752600"/>
              <a:chExt cx="381000" cy="381000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3067050" y="1752600"/>
                <a:ext cx="304800" cy="304800"/>
              </a:xfrm>
              <a:custGeom>
                <a:avLst/>
                <a:gdLst/>
                <a:ahLst/>
                <a:cxnLst/>
                <a:rect l="l" t="t" r="r" b="b"/>
                <a:pathLst>
                  <a:path w="304800" h="304800">
                    <a:moveTo>
                      <a:pt x="0" y="69856"/>
                    </a:moveTo>
                    <a:cubicBezTo>
                      <a:pt x="0" y="31276"/>
                      <a:pt x="31276" y="0"/>
                      <a:pt x="69856" y="0"/>
                    </a:cubicBezTo>
                    <a:lnTo>
                      <a:pt x="234944" y="0"/>
                    </a:lnTo>
                    <a:cubicBezTo>
                      <a:pt x="253471" y="0"/>
                      <a:pt x="271239" y="7360"/>
                      <a:pt x="284340" y="20460"/>
                    </a:cubicBezTo>
                    <a:cubicBezTo>
                      <a:pt x="297440" y="33561"/>
                      <a:pt x="304800" y="51329"/>
                      <a:pt x="304800" y="69856"/>
                    </a:cubicBezTo>
                    <a:lnTo>
                      <a:pt x="304800" y="234944"/>
                    </a:lnTo>
                    <a:cubicBezTo>
                      <a:pt x="304800" y="253471"/>
                      <a:pt x="297440" y="271239"/>
                      <a:pt x="284340" y="284340"/>
                    </a:cubicBezTo>
                    <a:cubicBezTo>
                      <a:pt x="271239" y="297440"/>
                      <a:pt x="253471" y="304800"/>
                      <a:pt x="234944" y="304800"/>
                    </a:cubicBezTo>
                    <a:lnTo>
                      <a:pt x="69856" y="304800"/>
                    </a:lnTo>
                    <a:cubicBezTo>
                      <a:pt x="31276" y="304800"/>
                      <a:pt x="0" y="273524"/>
                      <a:pt x="0" y="234944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2990850" y="1835612"/>
                <a:ext cx="300663" cy="297988"/>
              </a:xfrm>
              <a:custGeom>
                <a:avLst/>
                <a:gdLst/>
                <a:ahLst/>
                <a:cxnLst/>
                <a:rect l="l" t="t" r="r" b="b"/>
                <a:pathLst>
                  <a:path w="300663" h="297988">
                    <a:moveTo>
                      <a:pt x="0" y="50338"/>
                    </a:moveTo>
                    <a:cubicBezTo>
                      <a:pt x="0" y="29497"/>
                      <a:pt x="10154" y="15515"/>
                      <a:pt x="28842" y="5113"/>
                    </a:cubicBezTo>
                    <a:cubicBezTo>
                      <a:pt x="38037" y="0"/>
                      <a:pt x="49636" y="3309"/>
                      <a:pt x="54750" y="12505"/>
                    </a:cubicBezTo>
                    <a:cubicBezTo>
                      <a:pt x="59863" y="21700"/>
                      <a:pt x="56554" y="33299"/>
                      <a:pt x="47358" y="38413"/>
                    </a:cubicBezTo>
                    <a:cubicBezTo>
                      <a:pt x="39776" y="42623"/>
                      <a:pt x="38100" y="44928"/>
                      <a:pt x="38100" y="50338"/>
                    </a:cubicBezTo>
                    <a:lnTo>
                      <a:pt x="38100" y="240838"/>
                    </a:lnTo>
                    <a:cubicBezTo>
                      <a:pt x="38100" y="251277"/>
                      <a:pt x="46711" y="259888"/>
                      <a:pt x="57150" y="259888"/>
                    </a:cubicBezTo>
                    <a:lnTo>
                      <a:pt x="247612" y="259888"/>
                    </a:lnTo>
                    <a:cubicBezTo>
                      <a:pt x="253708" y="259888"/>
                      <a:pt x="259385" y="256954"/>
                      <a:pt x="262947" y="252135"/>
                    </a:cubicBezTo>
                    <a:lnTo>
                      <a:pt x="264185" y="250230"/>
                    </a:lnTo>
                    <a:cubicBezTo>
                      <a:pt x="267554" y="244315"/>
                      <a:pt x="273823" y="240647"/>
                      <a:pt x="280629" y="240608"/>
                    </a:cubicBezTo>
                    <a:cubicBezTo>
                      <a:pt x="287435" y="240568"/>
                      <a:pt x="293746" y="244163"/>
                      <a:pt x="297183" y="250038"/>
                    </a:cubicBezTo>
                    <a:cubicBezTo>
                      <a:pt x="300621" y="255912"/>
                      <a:pt x="300663" y="263175"/>
                      <a:pt x="297294" y="269089"/>
                    </a:cubicBezTo>
                    <a:cubicBezTo>
                      <a:pt x="287141" y="286943"/>
                      <a:pt x="268189" y="297975"/>
                      <a:pt x="247650" y="297988"/>
                    </a:cubicBezTo>
                    <a:lnTo>
                      <a:pt x="57150" y="297988"/>
                    </a:lnTo>
                    <a:cubicBezTo>
                      <a:pt x="25679" y="297988"/>
                      <a:pt x="0" y="272309"/>
                      <a:pt x="0" y="240838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952662" y="2203132"/>
              <a:ext cx="257167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59E0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AppImage / portable 包</a:t>
              </a:r>
              <a:endParaRPr lang="zh-CN" sz="1650" b="1" dirty="0">
                <a:solidFill>
                  <a:srgbClr val="F59E0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663190" y="2585085"/>
              <a:ext cx="11506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只放程序和依赖</a:t>
              </a:r>
              <a:endParaRPr lang="zh-CN" sz="12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849166" y="302180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可执行文件</a:t>
              </a:r>
              <a:endParaRPr lang="zh-CN" sz="1125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954179" y="3307556"/>
              <a:ext cx="56864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Qt 插件</a:t>
              </a:r>
              <a:endParaRPr lang="zh-CN" sz="1125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897922" y="3593306"/>
              <a:ext cx="6811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QML 模块</a:t>
              </a:r>
              <a:endParaRPr lang="zh-CN" sz="1125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807910" y="3879056"/>
              <a:ext cx="8611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SQLite 驱动</a:t>
              </a:r>
              <a:endParaRPr lang="zh-CN" sz="1125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99147" y="416480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图标与桌面文件</a:t>
              </a:r>
              <a:endParaRPr lang="zh-CN" sz="1125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385060" y="4744402"/>
              <a:ext cx="17068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删除或移动不影响用户数据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905500" y="3143250"/>
            <a:ext cx="381000" cy="766762"/>
            <a:chOff x="5905500" y="3143250"/>
            <a:chExt cx="381000" cy="766762"/>
          </a:xfrm>
        </p:grpSpPr>
        <p:sp>
          <p:nvSpPr>
            <p:cNvPr id="21" name="Polygon 21"/>
            <p:cNvSpPr/>
            <p:nvPr/>
          </p:nvSpPr>
          <p:spPr>
            <a:xfrm>
              <a:off x="5905500" y="3143250"/>
              <a:ext cx="381000" cy="381000"/>
            </a:xfrm>
            <a:custGeom>
              <a:avLst/>
              <a:gdLst/>
              <a:ahLst/>
              <a:cxnLst/>
              <a:rect l="l" t="t" r="r" b="b"/>
              <a:pathLst>
                <a:path w="381000" h="381000">
                  <a:moveTo>
                    <a:pt x="0" y="190500"/>
                  </a:moveTo>
                  <a:lnTo>
                    <a:pt x="381000" y="0"/>
                  </a:lnTo>
                  <a:lnTo>
                    <a:pt x="381000" y="381000"/>
                  </a:ln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942648" y="3696652"/>
              <a:ext cx="3067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分离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6667500" y="1428750"/>
            <a:ext cx="4572000" cy="3810000"/>
            <a:chOff x="6667500" y="1428750"/>
            <a:chExt cx="4572000" cy="3810000"/>
          </a:xfrm>
        </p:grpSpPr>
        <p:sp>
          <p:nvSpPr>
            <p:cNvPr id="24" name="Rectangle 24"/>
            <p:cNvSpPr/>
            <p:nvPr/>
          </p:nvSpPr>
          <p:spPr>
            <a:xfrm>
              <a:off x="6667500" y="1428750"/>
              <a:ext cx="4572000" cy="3810000"/>
            </a:xfrm>
            <a:prstGeom prst="roundRect">
              <a:avLst>
                <a:gd name="adj" fmla="val 4000"/>
              </a:avLst>
            </a:prstGeom>
            <a:solidFill>
              <a:srgbClr val="2D5F8A">
                <a:alpha val="8000"/>
              </a:srgbClr>
            </a:solidFill>
            <a:ln w="19050">
              <a:solidFill>
                <a:srgbClr val="2D5F8A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8705848" y="1771650"/>
              <a:ext cx="381003" cy="323852"/>
            </a:xfrm>
            <a:custGeom>
              <a:avLst/>
              <a:gdLst/>
              <a:ahLst/>
              <a:cxnLst/>
              <a:rect l="l" t="t" r="r" b="b"/>
              <a:pathLst>
                <a:path w="381003" h="323852">
                  <a:moveTo>
                    <a:pt x="133352" y="0"/>
                  </a:moveTo>
                  <a:cubicBezTo>
                    <a:pt x="137539" y="0"/>
                    <a:pt x="141609" y="1379"/>
                    <a:pt x="144934" y="3925"/>
                  </a:cubicBezTo>
                  <a:lnTo>
                    <a:pt x="146839" y="5582"/>
                  </a:lnTo>
                  <a:lnTo>
                    <a:pt x="198388" y="57150"/>
                  </a:lnTo>
                  <a:lnTo>
                    <a:pt x="323852" y="57150"/>
                  </a:lnTo>
                  <a:cubicBezTo>
                    <a:pt x="354114" y="57149"/>
                    <a:pt x="379131" y="80738"/>
                    <a:pt x="380906" y="110948"/>
                  </a:cubicBezTo>
                  <a:lnTo>
                    <a:pt x="381002" y="114300"/>
                  </a:lnTo>
                  <a:lnTo>
                    <a:pt x="381002" y="266700"/>
                  </a:lnTo>
                  <a:cubicBezTo>
                    <a:pt x="381003" y="296962"/>
                    <a:pt x="357414" y="321980"/>
                    <a:pt x="327204" y="323755"/>
                  </a:cubicBezTo>
                  <a:lnTo>
                    <a:pt x="323852" y="323850"/>
                  </a:lnTo>
                  <a:lnTo>
                    <a:pt x="57152" y="323850"/>
                  </a:lnTo>
                  <a:cubicBezTo>
                    <a:pt x="26890" y="323852"/>
                    <a:pt x="1872" y="300263"/>
                    <a:pt x="97" y="270053"/>
                  </a:cubicBezTo>
                  <a:lnTo>
                    <a:pt x="2" y="266700"/>
                  </a:lnTo>
                  <a:lnTo>
                    <a:pt x="2" y="57150"/>
                  </a:lnTo>
                  <a:cubicBezTo>
                    <a:pt x="0" y="26888"/>
                    <a:pt x="23589" y="1871"/>
                    <a:pt x="53799" y="96"/>
                  </a:cubicBezTo>
                  <a:lnTo>
                    <a:pt x="57152" y="0"/>
                  </a:lnTo>
                  <a:lnTo>
                    <a:pt x="133352" y="0"/>
                  </a:lnTo>
                  <a:close/>
                </a:path>
              </a:pathLst>
            </a:custGeom>
            <a:solidFill>
              <a:srgbClr val="2D5F8A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239458" y="220313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用户标准目录</a:t>
              </a:r>
              <a:endParaRPr lang="zh-CN" sz="165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7048500" y="2762250"/>
              <a:ext cx="38100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320915" y="2887028"/>
              <a:ext cx="214093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5F8A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~/.config/CQNU-SED/GridYard/</a:t>
              </a:r>
              <a:endParaRPr lang="zh-CN" sz="1050" dirty="0">
                <a:solidFill>
                  <a:srgbClr val="2D5F8A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321868" y="3114199"/>
              <a:ext cx="13314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config → gridyard.ini</a:t>
              </a:r>
              <a:endParaRPr lang="zh-CN" sz="975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048500" y="3524250"/>
              <a:ext cx="38100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320915" y="3649028"/>
              <a:ext cx="24909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2C55E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~/.local/share/CQNU-SED/GridYard/</a:t>
              </a:r>
              <a:endParaRPr lang="zh-CN" sz="1050" dirty="0">
                <a:solidFill>
                  <a:srgbClr val="22C55E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321868" y="3876199"/>
              <a:ext cx="15979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database → SQLite 数据库</a:t>
              </a:r>
              <a:endParaRPr lang="zh-CN" sz="975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048500" y="4286250"/>
              <a:ext cx="3810000" cy="571500"/>
            </a:xfrm>
            <a:prstGeom prst="roundRect">
              <a:avLst>
                <a:gd name="adj" fmla="val 13333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320915" y="4411028"/>
              <a:ext cx="249097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59E0B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~/.local/share/CQNU-SED/GridYard/</a:t>
              </a:r>
              <a:endParaRPr lang="zh-CN" sz="1050" dirty="0">
                <a:solidFill>
                  <a:srgbClr val="F59E0B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321868" y="4638199"/>
              <a:ext cx="94788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logs → 运行日志</a:t>
              </a:r>
              <a:endParaRPr lang="zh-CN" sz="975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0774204" y="6570345"/>
            <a:ext cx="9529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rPr>
              <a:t>GridYard v6.8.1</a:t>
            </a:r>
            <a:endParaRPr lang="zh-CN" sz="900" dirty="0">
              <a:solidFill>
                <a:srgbClr val="94A3B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3" grpId="0"/>
      <p:bldP spid="3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D5F8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45770" y="217170"/>
            <a:ext cx="11283315" cy="487680"/>
            <a:chOff x="445770" y="217170"/>
            <a:chExt cx="11283315" cy="487680"/>
          </a:xfrm>
        </p:grpSpPr>
        <p:sp>
          <p:nvSpPr>
            <p:cNvPr id="4" name="TextBox 4"/>
            <p:cNvSpPr txBox="1"/>
            <p:nvPr/>
          </p:nvSpPr>
          <p:spPr>
            <a:xfrm>
              <a:off x="445770" y="217170"/>
              <a:ext cx="207721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最终验证结果</a:t>
              </a:r>
              <a:endParaRPr lang="zh-CN" sz="240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476250" y="59055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548396" y="36290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17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62000" y="1143000"/>
            <a:ext cx="10668000" cy="4667250"/>
            <a:chOff x="762000" y="1143000"/>
            <a:chExt cx="10668000" cy="4667250"/>
          </a:xfrm>
        </p:grpSpPr>
        <p:sp>
          <p:nvSpPr>
            <p:cNvPr id="8" name="Rectangle 8"/>
            <p:cNvSpPr/>
            <p:nvPr/>
          </p:nvSpPr>
          <p:spPr>
            <a:xfrm>
              <a:off x="762000" y="1143000"/>
              <a:ext cx="5143500" cy="142875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073150" y="1448461"/>
              <a:ext cx="267081" cy="267519"/>
            </a:xfrm>
            <a:custGeom>
              <a:avLst/>
              <a:gdLst/>
              <a:ahLst/>
              <a:cxnLst/>
              <a:rect l="l" t="t" r="r" b="b"/>
              <a:pathLst>
                <a:path w="267081" h="267519">
                  <a:moveTo>
                    <a:pt x="190500" y="22707"/>
                  </a:moveTo>
                  <a:cubicBezTo>
                    <a:pt x="243426" y="53266"/>
                    <a:pt x="267081" y="117187"/>
                    <a:pt x="246799" y="174838"/>
                  </a:cubicBezTo>
                  <a:cubicBezTo>
                    <a:pt x="226517" y="232489"/>
                    <a:pt x="168050" y="267519"/>
                    <a:pt x="107648" y="258208"/>
                  </a:cubicBezTo>
                  <a:cubicBezTo>
                    <a:pt x="47247" y="248897"/>
                    <a:pt x="2043" y="197886"/>
                    <a:pt x="63" y="136804"/>
                  </a:cubicBezTo>
                  <a:lnTo>
                    <a:pt x="0" y="132689"/>
                  </a:lnTo>
                  <a:lnTo>
                    <a:pt x="63" y="128574"/>
                  </a:lnTo>
                  <a:cubicBezTo>
                    <a:pt x="1510" y="83959"/>
                    <a:pt x="26274" y="43379"/>
                    <a:pt x="65289" y="21689"/>
                  </a:cubicBezTo>
                  <a:cubicBezTo>
                    <a:pt x="104305" y="0"/>
                    <a:pt x="151842" y="386"/>
                    <a:pt x="190500" y="22707"/>
                  </a:cubicBezTo>
                  <a:close/>
                  <a:moveTo>
                    <a:pt x="174079" y="98310"/>
                  </a:moveTo>
                  <a:cubicBezTo>
                    <a:pt x="169554" y="93786"/>
                    <a:pt x="162371" y="93334"/>
                    <a:pt x="157315" y="97256"/>
                  </a:cubicBezTo>
                  <a:lnTo>
                    <a:pt x="156121" y="98310"/>
                  </a:lnTo>
                  <a:lnTo>
                    <a:pt x="114300" y="140118"/>
                  </a:lnTo>
                  <a:lnTo>
                    <a:pt x="97879" y="123710"/>
                  </a:lnTo>
                  <a:lnTo>
                    <a:pt x="96685" y="122656"/>
                  </a:lnTo>
                  <a:cubicBezTo>
                    <a:pt x="91629" y="118737"/>
                    <a:pt x="84448" y="119190"/>
                    <a:pt x="79924" y="123713"/>
                  </a:cubicBezTo>
                  <a:cubicBezTo>
                    <a:pt x="75401" y="128237"/>
                    <a:pt x="74948" y="135418"/>
                    <a:pt x="78867" y="140474"/>
                  </a:cubicBezTo>
                  <a:lnTo>
                    <a:pt x="79921" y="141668"/>
                  </a:lnTo>
                  <a:lnTo>
                    <a:pt x="105321" y="167068"/>
                  </a:lnTo>
                  <a:lnTo>
                    <a:pt x="106515" y="168122"/>
                  </a:lnTo>
                  <a:cubicBezTo>
                    <a:pt x="111096" y="171676"/>
                    <a:pt x="117504" y="171676"/>
                    <a:pt x="122085" y="168122"/>
                  </a:cubicBezTo>
                  <a:lnTo>
                    <a:pt x="123279" y="167068"/>
                  </a:lnTo>
                  <a:lnTo>
                    <a:pt x="174079" y="116268"/>
                  </a:lnTo>
                  <a:lnTo>
                    <a:pt x="175133" y="115074"/>
                  </a:lnTo>
                  <a:cubicBezTo>
                    <a:pt x="179055" y="110018"/>
                    <a:pt x="178603" y="102835"/>
                    <a:pt x="174079" y="98310"/>
                  </a:cubicBez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506855" y="1521142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293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设备发现成功</a:t>
              </a:r>
              <a:endParaRPr lang="zh-CN" sz="1350" b="1" dirty="0">
                <a:solidFill>
                  <a:srgbClr val="1E293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09712" y="1831181"/>
              <a:ext cx="24288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同网段设备可发现，在线状态可维护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09712" y="2069306"/>
              <a:ext cx="1678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多网卡环境遍历广播正常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3" name="Freeform 13"/>
            <p:cNvSpPr/>
            <p:nvPr/>
          </p:nvSpPr>
          <p:spPr>
            <a:xfrm>
              <a:off x="5163150" y="1454150"/>
              <a:ext cx="265489" cy="254136"/>
            </a:xfrm>
            <a:custGeom>
              <a:avLst/>
              <a:gdLst/>
              <a:ahLst/>
              <a:cxnLst/>
              <a:rect l="l" t="t" r="r" b="b"/>
              <a:pathLst>
                <a:path w="265489" h="254136">
                  <a:moveTo>
                    <a:pt x="132725" y="0"/>
                  </a:moveTo>
                  <a:lnTo>
                    <a:pt x="134224" y="89"/>
                  </a:lnTo>
                  <a:lnTo>
                    <a:pt x="134973" y="191"/>
                  </a:lnTo>
                  <a:lnTo>
                    <a:pt x="135748" y="356"/>
                  </a:lnTo>
                  <a:lnTo>
                    <a:pt x="137157" y="787"/>
                  </a:lnTo>
                  <a:cubicBezTo>
                    <a:pt x="138131" y="1146"/>
                    <a:pt x="139057" y="1624"/>
                    <a:pt x="139913" y="2210"/>
                  </a:cubicBezTo>
                  <a:lnTo>
                    <a:pt x="141234" y="3251"/>
                  </a:lnTo>
                  <a:lnTo>
                    <a:pt x="144473" y="6020"/>
                  </a:lnTo>
                  <a:cubicBezTo>
                    <a:pt x="170092" y="27299"/>
                    <a:pt x="202472" y="38726"/>
                    <a:pt x="235773" y="38240"/>
                  </a:cubicBezTo>
                  <a:lnTo>
                    <a:pt x="240116" y="38113"/>
                  </a:lnTo>
                  <a:cubicBezTo>
                    <a:pt x="245960" y="37846"/>
                    <a:pt x="251230" y="41606"/>
                    <a:pt x="252880" y="47219"/>
                  </a:cubicBezTo>
                  <a:cubicBezTo>
                    <a:pt x="265489" y="90110"/>
                    <a:pt x="260164" y="136281"/>
                    <a:pt x="238124" y="175177"/>
                  </a:cubicBezTo>
                  <a:cubicBezTo>
                    <a:pt x="216084" y="214073"/>
                    <a:pt x="179212" y="242368"/>
                    <a:pt x="135938" y="253594"/>
                  </a:cubicBezTo>
                  <a:cubicBezTo>
                    <a:pt x="133848" y="254136"/>
                    <a:pt x="131653" y="254136"/>
                    <a:pt x="129563" y="253594"/>
                  </a:cubicBezTo>
                  <a:cubicBezTo>
                    <a:pt x="86286" y="242371"/>
                    <a:pt x="49412" y="214077"/>
                    <a:pt x="27369" y="175181"/>
                  </a:cubicBezTo>
                  <a:cubicBezTo>
                    <a:pt x="5326" y="136285"/>
                    <a:pt x="0" y="90112"/>
                    <a:pt x="12608" y="47219"/>
                  </a:cubicBezTo>
                  <a:cubicBezTo>
                    <a:pt x="14258" y="41606"/>
                    <a:pt x="19528" y="37846"/>
                    <a:pt x="25372" y="38113"/>
                  </a:cubicBezTo>
                  <a:cubicBezTo>
                    <a:pt x="60138" y="39702"/>
                    <a:pt x="94245" y="28257"/>
                    <a:pt x="121016" y="6020"/>
                  </a:cubicBezTo>
                  <a:lnTo>
                    <a:pt x="124356" y="3162"/>
                  </a:lnTo>
                  <a:lnTo>
                    <a:pt x="125575" y="2210"/>
                  </a:lnTo>
                  <a:cubicBezTo>
                    <a:pt x="126432" y="1624"/>
                    <a:pt x="127357" y="1146"/>
                    <a:pt x="128331" y="787"/>
                  </a:cubicBezTo>
                  <a:lnTo>
                    <a:pt x="129753" y="356"/>
                  </a:lnTo>
                  <a:cubicBezTo>
                    <a:pt x="130251" y="235"/>
                    <a:pt x="130756" y="146"/>
                    <a:pt x="131265" y="89"/>
                  </a:cubicBezTo>
                  <a:lnTo>
                    <a:pt x="132725" y="0"/>
                  </a:lnTo>
                  <a:close/>
                  <a:moveTo>
                    <a:pt x="179842" y="92621"/>
                  </a:moveTo>
                  <a:cubicBezTo>
                    <a:pt x="177460" y="90236"/>
                    <a:pt x="174228" y="88896"/>
                    <a:pt x="170857" y="88896"/>
                  </a:cubicBezTo>
                  <a:cubicBezTo>
                    <a:pt x="167486" y="88896"/>
                    <a:pt x="164254" y="90236"/>
                    <a:pt x="161872" y="92621"/>
                  </a:cubicBezTo>
                  <a:lnTo>
                    <a:pt x="120050" y="134430"/>
                  </a:lnTo>
                  <a:lnTo>
                    <a:pt x="103629" y="118021"/>
                  </a:lnTo>
                  <a:lnTo>
                    <a:pt x="102436" y="116967"/>
                  </a:lnTo>
                  <a:cubicBezTo>
                    <a:pt x="97138" y="112871"/>
                    <a:pt x="89570" y="113592"/>
                    <a:pt x="85141" y="118614"/>
                  </a:cubicBezTo>
                  <a:cubicBezTo>
                    <a:pt x="80712" y="123637"/>
                    <a:pt x="80945" y="131236"/>
                    <a:pt x="85672" y="135979"/>
                  </a:cubicBezTo>
                  <a:lnTo>
                    <a:pt x="111072" y="161379"/>
                  </a:lnTo>
                  <a:lnTo>
                    <a:pt x="112265" y="162433"/>
                  </a:lnTo>
                  <a:cubicBezTo>
                    <a:pt x="117321" y="166355"/>
                    <a:pt x="124505" y="165903"/>
                    <a:pt x="129029" y="161379"/>
                  </a:cubicBezTo>
                  <a:lnTo>
                    <a:pt x="179829" y="110579"/>
                  </a:lnTo>
                  <a:lnTo>
                    <a:pt x="180883" y="109385"/>
                  </a:lnTo>
                  <a:cubicBezTo>
                    <a:pt x="184805" y="104329"/>
                    <a:pt x="184354" y="97146"/>
                    <a:pt x="179829" y="92621"/>
                  </a:cubicBez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6286500" y="1143000"/>
              <a:ext cx="5143500" cy="142875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6597650" y="1448461"/>
              <a:ext cx="267081" cy="267519"/>
            </a:xfrm>
            <a:custGeom>
              <a:avLst/>
              <a:gdLst/>
              <a:ahLst/>
              <a:cxnLst/>
              <a:rect l="l" t="t" r="r" b="b"/>
              <a:pathLst>
                <a:path w="267081" h="267519">
                  <a:moveTo>
                    <a:pt x="190500" y="22707"/>
                  </a:moveTo>
                  <a:cubicBezTo>
                    <a:pt x="243426" y="53266"/>
                    <a:pt x="267081" y="117187"/>
                    <a:pt x="246799" y="174838"/>
                  </a:cubicBezTo>
                  <a:cubicBezTo>
                    <a:pt x="226517" y="232489"/>
                    <a:pt x="168050" y="267519"/>
                    <a:pt x="107648" y="258208"/>
                  </a:cubicBezTo>
                  <a:cubicBezTo>
                    <a:pt x="47247" y="248897"/>
                    <a:pt x="2043" y="197886"/>
                    <a:pt x="63" y="136804"/>
                  </a:cubicBezTo>
                  <a:lnTo>
                    <a:pt x="0" y="132689"/>
                  </a:lnTo>
                  <a:lnTo>
                    <a:pt x="63" y="128574"/>
                  </a:lnTo>
                  <a:cubicBezTo>
                    <a:pt x="1510" y="83959"/>
                    <a:pt x="26274" y="43379"/>
                    <a:pt x="65289" y="21689"/>
                  </a:cubicBezTo>
                  <a:cubicBezTo>
                    <a:pt x="104305" y="0"/>
                    <a:pt x="151842" y="386"/>
                    <a:pt x="190500" y="22707"/>
                  </a:cubicBezTo>
                  <a:close/>
                  <a:moveTo>
                    <a:pt x="174079" y="98310"/>
                  </a:moveTo>
                  <a:cubicBezTo>
                    <a:pt x="169554" y="93786"/>
                    <a:pt x="162371" y="93334"/>
                    <a:pt x="157315" y="97256"/>
                  </a:cubicBezTo>
                  <a:lnTo>
                    <a:pt x="156121" y="98310"/>
                  </a:lnTo>
                  <a:lnTo>
                    <a:pt x="114300" y="140118"/>
                  </a:lnTo>
                  <a:lnTo>
                    <a:pt x="97879" y="123710"/>
                  </a:lnTo>
                  <a:lnTo>
                    <a:pt x="96685" y="122656"/>
                  </a:lnTo>
                  <a:cubicBezTo>
                    <a:pt x="91629" y="118737"/>
                    <a:pt x="84448" y="119190"/>
                    <a:pt x="79924" y="123713"/>
                  </a:cubicBezTo>
                  <a:cubicBezTo>
                    <a:pt x="75401" y="128237"/>
                    <a:pt x="74948" y="135418"/>
                    <a:pt x="78867" y="140474"/>
                  </a:cubicBezTo>
                  <a:lnTo>
                    <a:pt x="79921" y="141668"/>
                  </a:lnTo>
                  <a:lnTo>
                    <a:pt x="105321" y="167068"/>
                  </a:lnTo>
                  <a:lnTo>
                    <a:pt x="106515" y="168122"/>
                  </a:lnTo>
                  <a:cubicBezTo>
                    <a:pt x="111096" y="171676"/>
                    <a:pt x="117504" y="171676"/>
                    <a:pt x="122085" y="168122"/>
                  </a:cubicBezTo>
                  <a:lnTo>
                    <a:pt x="123279" y="167068"/>
                  </a:lnTo>
                  <a:lnTo>
                    <a:pt x="174079" y="116268"/>
                  </a:lnTo>
                  <a:lnTo>
                    <a:pt x="175133" y="115074"/>
                  </a:lnTo>
                  <a:cubicBezTo>
                    <a:pt x="179055" y="110018"/>
                    <a:pt x="178603" y="102835"/>
                    <a:pt x="174079" y="98310"/>
                  </a:cubicBez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031355" y="1521142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293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聊天收发成功</a:t>
              </a:r>
              <a:endParaRPr lang="zh-CN" sz="1350" b="1" dirty="0">
                <a:solidFill>
                  <a:srgbClr val="1E293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034212" y="1831181"/>
              <a:ext cx="242887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统一会话内可聊天、发文件、看历史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034212" y="206930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消息和文件合并到统一时间线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9" name="Freeform 19"/>
            <p:cNvSpPr/>
            <p:nvPr/>
          </p:nvSpPr>
          <p:spPr>
            <a:xfrm>
              <a:off x="10693400" y="1466850"/>
              <a:ext cx="254000" cy="241894"/>
            </a:xfrm>
            <a:custGeom>
              <a:avLst/>
              <a:gdLst/>
              <a:ahLst/>
              <a:cxnLst/>
              <a:rect l="l" t="t" r="r" b="b"/>
              <a:pathLst>
                <a:path w="254000" h="241894">
                  <a:moveTo>
                    <a:pt x="203200" y="0"/>
                  </a:moveTo>
                  <a:cubicBezTo>
                    <a:pt x="231256" y="0"/>
                    <a:pt x="254000" y="22744"/>
                    <a:pt x="254000" y="50800"/>
                  </a:cubicBezTo>
                  <a:lnTo>
                    <a:pt x="254000" y="152400"/>
                  </a:lnTo>
                  <a:cubicBezTo>
                    <a:pt x="254000" y="180456"/>
                    <a:pt x="231256" y="203200"/>
                    <a:pt x="203200" y="203200"/>
                  </a:cubicBezTo>
                  <a:lnTo>
                    <a:pt x="143205" y="203200"/>
                  </a:lnTo>
                  <a:lnTo>
                    <a:pt x="82728" y="239484"/>
                  </a:lnTo>
                  <a:cubicBezTo>
                    <a:pt x="79027" y="241705"/>
                    <a:pt x="74451" y="241894"/>
                    <a:pt x="70580" y="239987"/>
                  </a:cubicBezTo>
                  <a:cubicBezTo>
                    <a:pt x="66708" y="238079"/>
                    <a:pt x="64070" y="234336"/>
                    <a:pt x="63576" y="230048"/>
                  </a:cubicBezTo>
                  <a:lnTo>
                    <a:pt x="63500" y="228600"/>
                  </a:lnTo>
                  <a:lnTo>
                    <a:pt x="63500" y="203200"/>
                  </a:lnTo>
                  <a:lnTo>
                    <a:pt x="50800" y="203200"/>
                  </a:lnTo>
                  <a:cubicBezTo>
                    <a:pt x="23731" y="203200"/>
                    <a:pt x="1417" y="181975"/>
                    <a:pt x="63" y="154940"/>
                  </a:cubicBezTo>
                  <a:lnTo>
                    <a:pt x="0" y="152400"/>
                  </a:lnTo>
                  <a:lnTo>
                    <a:pt x="0" y="50800"/>
                  </a:lnTo>
                  <a:cubicBezTo>
                    <a:pt x="0" y="22744"/>
                    <a:pt x="22744" y="0"/>
                    <a:pt x="50800" y="0"/>
                  </a:cubicBezTo>
                  <a:close/>
                  <a:moveTo>
                    <a:pt x="152400" y="114300"/>
                  </a:moveTo>
                  <a:lnTo>
                    <a:pt x="76200" y="114300"/>
                  </a:lnTo>
                  <a:cubicBezTo>
                    <a:pt x="69186" y="114300"/>
                    <a:pt x="63500" y="119986"/>
                    <a:pt x="63500" y="127000"/>
                  </a:cubicBezTo>
                  <a:cubicBezTo>
                    <a:pt x="63500" y="134014"/>
                    <a:pt x="69186" y="139700"/>
                    <a:pt x="76200" y="139700"/>
                  </a:cubicBezTo>
                  <a:lnTo>
                    <a:pt x="152400" y="139700"/>
                  </a:lnTo>
                  <a:cubicBezTo>
                    <a:pt x="159414" y="139700"/>
                    <a:pt x="165100" y="134014"/>
                    <a:pt x="165100" y="127000"/>
                  </a:cubicBezTo>
                  <a:cubicBezTo>
                    <a:pt x="165100" y="119986"/>
                    <a:pt x="159414" y="114300"/>
                    <a:pt x="152400" y="114300"/>
                  </a:cubicBezTo>
                  <a:moveTo>
                    <a:pt x="177800" y="63500"/>
                  </a:moveTo>
                  <a:lnTo>
                    <a:pt x="76200" y="63500"/>
                  </a:lnTo>
                  <a:cubicBezTo>
                    <a:pt x="69186" y="63500"/>
                    <a:pt x="63500" y="69186"/>
                    <a:pt x="63500" y="76200"/>
                  </a:cubicBezTo>
                  <a:cubicBezTo>
                    <a:pt x="63500" y="83214"/>
                    <a:pt x="69186" y="88900"/>
                    <a:pt x="76200" y="88900"/>
                  </a:cubicBezTo>
                  <a:lnTo>
                    <a:pt x="177800" y="88900"/>
                  </a:lnTo>
                  <a:cubicBezTo>
                    <a:pt x="184814" y="88900"/>
                    <a:pt x="190500" y="83214"/>
                    <a:pt x="190500" y="76200"/>
                  </a:cubicBezTo>
                  <a:cubicBezTo>
                    <a:pt x="190500" y="69186"/>
                    <a:pt x="184814" y="63500"/>
                    <a:pt x="177800" y="63500"/>
                  </a:cubicBezTo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62000" y="2762250"/>
              <a:ext cx="5143500" cy="142875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1073150" y="3067711"/>
              <a:ext cx="267081" cy="267519"/>
            </a:xfrm>
            <a:custGeom>
              <a:avLst/>
              <a:gdLst/>
              <a:ahLst/>
              <a:cxnLst/>
              <a:rect l="l" t="t" r="r" b="b"/>
              <a:pathLst>
                <a:path w="267081" h="267519">
                  <a:moveTo>
                    <a:pt x="190500" y="22707"/>
                  </a:moveTo>
                  <a:cubicBezTo>
                    <a:pt x="243426" y="53266"/>
                    <a:pt x="267081" y="117187"/>
                    <a:pt x="246799" y="174838"/>
                  </a:cubicBezTo>
                  <a:cubicBezTo>
                    <a:pt x="226517" y="232489"/>
                    <a:pt x="168050" y="267519"/>
                    <a:pt x="107648" y="258208"/>
                  </a:cubicBezTo>
                  <a:cubicBezTo>
                    <a:pt x="47247" y="248897"/>
                    <a:pt x="2043" y="197886"/>
                    <a:pt x="63" y="136804"/>
                  </a:cubicBezTo>
                  <a:lnTo>
                    <a:pt x="0" y="132689"/>
                  </a:lnTo>
                  <a:lnTo>
                    <a:pt x="63" y="128574"/>
                  </a:lnTo>
                  <a:cubicBezTo>
                    <a:pt x="1510" y="83959"/>
                    <a:pt x="26274" y="43379"/>
                    <a:pt x="65289" y="21689"/>
                  </a:cubicBezTo>
                  <a:cubicBezTo>
                    <a:pt x="104305" y="0"/>
                    <a:pt x="151842" y="386"/>
                    <a:pt x="190500" y="22707"/>
                  </a:cubicBezTo>
                  <a:close/>
                  <a:moveTo>
                    <a:pt x="174079" y="98310"/>
                  </a:moveTo>
                  <a:cubicBezTo>
                    <a:pt x="169554" y="93786"/>
                    <a:pt x="162371" y="93334"/>
                    <a:pt x="157315" y="97256"/>
                  </a:cubicBezTo>
                  <a:lnTo>
                    <a:pt x="156121" y="98310"/>
                  </a:lnTo>
                  <a:lnTo>
                    <a:pt x="114300" y="140118"/>
                  </a:lnTo>
                  <a:lnTo>
                    <a:pt x="97879" y="123710"/>
                  </a:lnTo>
                  <a:lnTo>
                    <a:pt x="96685" y="122656"/>
                  </a:lnTo>
                  <a:cubicBezTo>
                    <a:pt x="91629" y="118737"/>
                    <a:pt x="84448" y="119190"/>
                    <a:pt x="79924" y="123713"/>
                  </a:cubicBezTo>
                  <a:cubicBezTo>
                    <a:pt x="75401" y="128237"/>
                    <a:pt x="74948" y="135418"/>
                    <a:pt x="78867" y="140474"/>
                  </a:cubicBezTo>
                  <a:lnTo>
                    <a:pt x="79921" y="141668"/>
                  </a:lnTo>
                  <a:lnTo>
                    <a:pt x="105321" y="167068"/>
                  </a:lnTo>
                  <a:lnTo>
                    <a:pt x="106515" y="168122"/>
                  </a:lnTo>
                  <a:cubicBezTo>
                    <a:pt x="111096" y="171676"/>
                    <a:pt x="117504" y="171676"/>
                    <a:pt x="122085" y="168122"/>
                  </a:cubicBezTo>
                  <a:lnTo>
                    <a:pt x="123279" y="167068"/>
                  </a:lnTo>
                  <a:lnTo>
                    <a:pt x="174079" y="116268"/>
                  </a:lnTo>
                  <a:lnTo>
                    <a:pt x="175133" y="115074"/>
                  </a:lnTo>
                  <a:cubicBezTo>
                    <a:pt x="179055" y="110018"/>
                    <a:pt x="178603" y="102835"/>
                    <a:pt x="174079" y="98310"/>
                  </a:cubicBez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506855" y="3140392"/>
              <a:ext cx="183946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293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文件/文件夹传输成功</a:t>
              </a:r>
              <a:endParaRPr lang="zh-CN" sz="1350" b="1" dirty="0">
                <a:solidFill>
                  <a:srgbClr val="1E293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09712" y="3450431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支持多文件、目录传输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09712" y="3688556"/>
              <a:ext cx="17012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SHA-256 校验文件完整性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grpSp>
          <p:nvGrpSpPr>
            <p:cNvPr id="27" name="Group 27"/>
            <p:cNvGrpSpPr/>
            <p:nvPr/>
          </p:nvGrpSpPr>
          <p:grpSpPr>
            <a:xfrm>
              <a:off x="5194299" y="3073400"/>
              <a:ext cx="203202" cy="254001"/>
              <a:chOff x="5194299" y="3073400"/>
              <a:chExt cx="203202" cy="254001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5194299" y="3073400"/>
                <a:ext cx="203202" cy="254001"/>
              </a:xfrm>
              <a:custGeom>
                <a:avLst/>
                <a:gdLst/>
                <a:ahLst/>
                <a:cxnLst/>
                <a:rect l="l" t="t" r="r" b="b"/>
                <a:pathLst>
                  <a:path w="203202" h="254001">
                    <a:moveTo>
                      <a:pt x="101601" y="0"/>
                    </a:moveTo>
                    <a:lnTo>
                      <a:pt x="103087" y="89"/>
                    </a:lnTo>
                    <a:cubicBezTo>
                      <a:pt x="108923" y="777"/>
                      <a:pt x="113524" y="5379"/>
                      <a:pt x="114212" y="11214"/>
                    </a:cubicBezTo>
                    <a:lnTo>
                      <a:pt x="114301" y="12700"/>
                    </a:lnTo>
                    <a:lnTo>
                      <a:pt x="114301" y="63500"/>
                    </a:lnTo>
                    <a:lnTo>
                      <a:pt x="114365" y="65405"/>
                    </a:lnTo>
                    <a:cubicBezTo>
                      <a:pt x="115304" y="77900"/>
                      <a:pt x="125215" y="87844"/>
                      <a:pt x="137707" y="88824"/>
                    </a:cubicBezTo>
                    <a:lnTo>
                      <a:pt x="139701" y="88900"/>
                    </a:lnTo>
                    <a:lnTo>
                      <a:pt x="190501" y="88900"/>
                    </a:lnTo>
                    <a:lnTo>
                      <a:pt x="191987" y="88989"/>
                    </a:lnTo>
                    <a:cubicBezTo>
                      <a:pt x="197823" y="89677"/>
                      <a:pt x="202424" y="94279"/>
                      <a:pt x="203112" y="100114"/>
                    </a:cubicBezTo>
                    <a:lnTo>
                      <a:pt x="203201" y="101600"/>
                    </a:lnTo>
                    <a:lnTo>
                      <a:pt x="203201" y="215900"/>
                    </a:lnTo>
                    <a:cubicBezTo>
                      <a:pt x="203202" y="236075"/>
                      <a:pt x="187476" y="252753"/>
                      <a:pt x="167336" y="253937"/>
                    </a:cubicBezTo>
                    <a:lnTo>
                      <a:pt x="165101" y="254000"/>
                    </a:lnTo>
                    <a:lnTo>
                      <a:pt x="38101" y="254000"/>
                    </a:lnTo>
                    <a:cubicBezTo>
                      <a:pt x="17926" y="254001"/>
                      <a:pt x="1248" y="238275"/>
                      <a:pt x="65" y="218135"/>
                    </a:cubicBezTo>
                    <a:lnTo>
                      <a:pt x="1" y="215900"/>
                    </a:lnTo>
                    <a:lnTo>
                      <a:pt x="1" y="38100"/>
                    </a:lnTo>
                    <a:cubicBezTo>
                      <a:pt x="0" y="17925"/>
                      <a:pt x="15726" y="1247"/>
                      <a:pt x="35866" y="63"/>
                    </a:cubicBezTo>
                    <a:lnTo>
                      <a:pt x="38101" y="0"/>
                    </a:lnTo>
                    <a:lnTo>
                      <a:pt x="101601" y="0"/>
                    </a:lnTo>
                    <a:close/>
                  </a:path>
                </a:pathLst>
              </a:cu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333987" y="3086087"/>
                <a:ext cx="50813" cy="50813"/>
              </a:xfrm>
              <a:custGeom>
                <a:avLst/>
                <a:gdLst/>
                <a:ahLst/>
                <a:cxnLst/>
                <a:rect l="l" t="t" r="r" b="b"/>
                <a:pathLst>
                  <a:path w="50813" h="50813">
                    <a:moveTo>
                      <a:pt x="50813" y="50813"/>
                    </a:moveTo>
                    <a:lnTo>
                      <a:pt x="13" y="508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BD5E1"/>
              </a:solidFill>
              <a:ln>
                <a:noFill/>
              </a:ln>
            </p:spPr>
          </p:sp>
        </p:grpSp>
        <p:sp>
          <p:nvSpPr>
            <p:cNvPr id="28" name="Rectangle 28"/>
            <p:cNvSpPr/>
            <p:nvPr/>
          </p:nvSpPr>
          <p:spPr>
            <a:xfrm>
              <a:off x="6286500" y="2762250"/>
              <a:ext cx="5143500" cy="142875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6597650" y="3067711"/>
              <a:ext cx="267081" cy="267519"/>
            </a:xfrm>
            <a:custGeom>
              <a:avLst/>
              <a:gdLst/>
              <a:ahLst/>
              <a:cxnLst/>
              <a:rect l="l" t="t" r="r" b="b"/>
              <a:pathLst>
                <a:path w="267081" h="267519">
                  <a:moveTo>
                    <a:pt x="190500" y="22707"/>
                  </a:moveTo>
                  <a:cubicBezTo>
                    <a:pt x="243426" y="53266"/>
                    <a:pt x="267081" y="117187"/>
                    <a:pt x="246799" y="174838"/>
                  </a:cubicBezTo>
                  <a:cubicBezTo>
                    <a:pt x="226517" y="232489"/>
                    <a:pt x="168050" y="267519"/>
                    <a:pt x="107648" y="258208"/>
                  </a:cubicBezTo>
                  <a:cubicBezTo>
                    <a:pt x="47247" y="248897"/>
                    <a:pt x="2043" y="197886"/>
                    <a:pt x="63" y="136804"/>
                  </a:cubicBezTo>
                  <a:lnTo>
                    <a:pt x="0" y="132689"/>
                  </a:lnTo>
                  <a:lnTo>
                    <a:pt x="63" y="128574"/>
                  </a:lnTo>
                  <a:cubicBezTo>
                    <a:pt x="1510" y="83959"/>
                    <a:pt x="26274" y="43379"/>
                    <a:pt x="65289" y="21689"/>
                  </a:cubicBezTo>
                  <a:cubicBezTo>
                    <a:pt x="104305" y="0"/>
                    <a:pt x="151842" y="386"/>
                    <a:pt x="190500" y="22707"/>
                  </a:cubicBezTo>
                  <a:close/>
                  <a:moveTo>
                    <a:pt x="174079" y="98310"/>
                  </a:moveTo>
                  <a:cubicBezTo>
                    <a:pt x="169554" y="93786"/>
                    <a:pt x="162371" y="93334"/>
                    <a:pt x="157315" y="97256"/>
                  </a:cubicBezTo>
                  <a:lnTo>
                    <a:pt x="156121" y="98310"/>
                  </a:lnTo>
                  <a:lnTo>
                    <a:pt x="114300" y="140118"/>
                  </a:lnTo>
                  <a:lnTo>
                    <a:pt x="97879" y="123710"/>
                  </a:lnTo>
                  <a:lnTo>
                    <a:pt x="96685" y="122656"/>
                  </a:lnTo>
                  <a:cubicBezTo>
                    <a:pt x="91629" y="118737"/>
                    <a:pt x="84448" y="119190"/>
                    <a:pt x="79924" y="123713"/>
                  </a:cubicBezTo>
                  <a:cubicBezTo>
                    <a:pt x="75401" y="128237"/>
                    <a:pt x="74948" y="135418"/>
                    <a:pt x="78867" y="140474"/>
                  </a:cubicBezTo>
                  <a:lnTo>
                    <a:pt x="79921" y="141668"/>
                  </a:lnTo>
                  <a:lnTo>
                    <a:pt x="105321" y="167068"/>
                  </a:lnTo>
                  <a:lnTo>
                    <a:pt x="106515" y="168122"/>
                  </a:lnTo>
                  <a:cubicBezTo>
                    <a:pt x="111096" y="171676"/>
                    <a:pt x="117504" y="171676"/>
                    <a:pt x="122085" y="168122"/>
                  </a:cubicBezTo>
                  <a:lnTo>
                    <a:pt x="123279" y="167068"/>
                  </a:lnTo>
                  <a:lnTo>
                    <a:pt x="174079" y="116268"/>
                  </a:lnTo>
                  <a:lnTo>
                    <a:pt x="175133" y="115074"/>
                  </a:lnTo>
                  <a:cubicBezTo>
                    <a:pt x="179055" y="110018"/>
                    <a:pt x="178603" y="102835"/>
                    <a:pt x="174079" y="98310"/>
                  </a:cubicBez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31355" y="3140392"/>
              <a:ext cx="183946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293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SQLite 历史恢复成功</a:t>
              </a:r>
              <a:endParaRPr lang="zh-CN" sz="1350" b="1" dirty="0">
                <a:solidFill>
                  <a:srgbClr val="1E293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34212" y="3450431"/>
              <a:ext cx="195631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本地 SQLite 支持跨重启恢复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34212" y="3688556"/>
              <a:ext cx="257889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设备目录、聊天记录、传输历史持久化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grpSp>
          <p:nvGrpSpPr>
            <p:cNvPr id="36" name="Group 36"/>
            <p:cNvGrpSpPr/>
            <p:nvPr/>
          </p:nvGrpSpPr>
          <p:grpSpPr>
            <a:xfrm>
              <a:off x="10706099" y="3073400"/>
              <a:ext cx="228601" cy="254000"/>
              <a:chOff x="10706099" y="3073400"/>
              <a:chExt cx="228601" cy="254000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10706100" y="3247784"/>
                <a:ext cx="228600" cy="79616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79616">
                    <a:moveTo>
                      <a:pt x="0" y="0"/>
                    </a:moveTo>
                    <a:cubicBezTo>
                      <a:pt x="24994" y="19139"/>
                      <a:pt x="66472" y="28816"/>
                      <a:pt x="114300" y="28816"/>
                    </a:cubicBezTo>
                    <a:cubicBezTo>
                      <a:pt x="162052" y="28816"/>
                      <a:pt x="203517" y="19164"/>
                      <a:pt x="228600" y="216"/>
                    </a:cubicBezTo>
                    <a:lnTo>
                      <a:pt x="228600" y="28816"/>
                    </a:lnTo>
                    <a:cubicBezTo>
                      <a:pt x="228600" y="59614"/>
                      <a:pt x="179133" y="78803"/>
                      <a:pt x="118199" y="79591"/>
                    </a:cubicBezTo>
                    <a:lnTo>
                      <a:pt x="114300" y="79616"/>
                    </a:lnTo>
                    <a:cubicBezTo>
                      <a:pt x="51587" y="79616"/>
                      <a:pt x="0" y="60274"/>
                      <a:pt x="0" y="28816"/>
                    </a:cubicBezTo>
                    <a:close/>
                  </a:path>
                </a:pathLst>
              </a:cu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10706100" y="3171584"/>
                <a:ext cx="228600" cy="79616"/>
              </a:xfrm>
              <a:custGeom>
                <a:avLst/>
                <a:gdLst/>
                <a:ahLst/>
                <a:cxnLst/>
                <a:rect l="l" t="t" r="r" b="b"/>
                <a:pathLst>
                  <a:path w="228600" h="79616">
                    <a:moveTo>
                      <a:pt x="0" y="0"/>
                    </a:moveTo>
                    <a:cubicBezTo>
                      <a:pt x="24994" y="19139"/>
                      <a:pt x="66472" y="28816"/>
                      <a:pt x="114300" y="28816"/>
                    </a:cubicBezTo>
                    <a:cubicBezTo>
                      <a:pt x="162052" y="28816"/>
                      <a:pt x="203517" y="19164"/>
                      <a:pt x="228600" y="216"/>
                    </a:cubicBezTo>
                    <a:lnTo>
                      <a:pt x="228600" y="28816"/>
                    </a:lnTo>
                    <a:cubicBezTo>
                      <a:pt x="228600" y="60274"/>
                      <a:pt x="177013" y="79616"/>
                      <a:pt x="114300" y="79616"/>
                    </a:cubicBezTo>
                    <a:cubicBezTo>
                      <a:pt x="53365" y="79616"/>
                      <a:pt x="2921" y="61354"/>
                      <a:pt x="267" y="31420"/>
                    </a:cubicBezTo>
                    <a:lnTo>
                      <a:pt x="63" y="30137"/>
                    </a:lnTo>
                    <a:lnTo>
                      <a:pt x="0" y="28816"/>
                    </a:lnTo>
                    <a:close/>
                  </a:path>
                </a:pathLst>
              </a:cu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10706099" y="3073400"/>
                <a:ext cx="228601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228601" h="101600">
                    <a:moveTo>
                      <a:pt x="114301" y="0"/>
                    </a:moveTo>
                    <a:cubicBezTo>
                      <a:pt x="127522" y="0"/>
                      <a:pt x="140260" y="864"/>
                      <a:pt x="152109" y="2515"/>
                    </a:cubicBezTo>
                    <a:lnTo>
                      <a:pt x="158065" y="3416"/>
                    </a:lnTo>
                    <a:cubicBezTo>
                      <a:pt x="165177" y="4602"/>
                      <a:pt x="171891" y="6075"/>
                      <a:pt x="178207" y="7836"/>
                    </a:cubicBezTo>
                    <a:lnTo>
                      <a:pt x="183795" y="9500"/>
                    </a:lnTo>
                    <a:lnTo>
                      <a:pt x="184748" y="9804"/>
                    </a:lnTo>
                    <a:cubicBezTo>
                      <a:pt x="188204" y="10941"/>
                      <a:pt x="191614" y="12212"/>
                      <a:pt x="194971" y="13614"/>
                    </a:cubicBezTo>
                    <a:lnTo>
                      <a:pt x="197499" y="14707"/>
                    </a:lnTo>
                    <a:cubicBezTo>
                      <a:pt x="202028" y="16756"/>
                      <a:pt x="206122" y="18999"/>
                      <a:pt x="209780" y="21438"/>
                    </a:cubicBezTo>
                    <a:cubicBezTo>
                      <a:pt x="211177" y="22369"/>
                      <a:pt x="212502" y="23321"/>
                      <a:pt x="213755" y="24295"/>
                    </a:cubicBezTo>
                    <a:cubicBezTo>
                      <a:pt x="216929" y="26758"/>
                      <a:pt x="219783" y="29608"/>
                      <a:pt x="222251" y="32779"/>
                    </a:cubicBezTo>
                    <a:lnTo>
                      <a:pt x="223407" y="34404"/>
                    </a:lnTo>
                    <a:cubicBezTo>
                      <a:pt x="223999" y="35293"/>
                      <a:pt x="224545" y="36187"/>
                      <a:pt x="225045" y="37084"/>
                    </a:cubicBezTo>
                    <a:lnTo>
                      <a:pt x="225934" y="38849"/>
                    </a:lnTo>
                    <a:cubicBezTo>
                      <a:pt x="227314" y="41813"/>
                      <a:pt x="228161" y="44903"/>
                      <a:pt x="228474" y="48120"/>
                    </a:cubicBezTo>
                    <a:lnTo>
                      <a:pt x="228601" y="50800"/>
                    </a:lnTo>
                    <a:cubicBezTo>
                      <a:pt x="228601" y="82258"/>
                      <a:pt x="177014" y="101600"/>
                      <a:pt x="114301" y="101600"/>
                    </a:cubicBezTo>
                    <a:cubicBezTo>
                      <a:pt x="53366" y="101600"/>
                      <a:pt x="2922" y="83337"/>
                      <a:pt x="268" y="53403"/>
                    </a:cubicBezTo>
                    <a:cubicBezTo>
                      <a:pt x="89" y="52547"/>
                      <a:pt x="0" y="51675"/>
                      <a:pt x="1" y="50800"/>
                    </a:cubicBezTo>
                    <a:lnTo>
                      <a:pt x="64" y="49479"/>
                    </a:lnTo>
                    <a:lnTo>
                      <a:pt x="268" y="48209"/>
                    </a:lnTo>
                    <a:cubicBezTo>
                      <a:pt x="2871" y="18923"/>
                      <a:pt x="51195" y="800"/>
                      <a:pt x="110339" y="25"/>
                    </a:cubicBezTo>
                    <a:close/>
                  </a:path>
                </a:pathLst>
              </a:custGeom>
              <a:solidFill>
                <a:srgbClr val="CBD5E1"/>
              </a:solidFill>
              <a:ln>
                <a:noFill/>
              </a:ln>
            </p:spPr>
          </p:sp>
        </p:grpSp>
        <p:sp>
          <p:nvSpPr>
            <p:cNvPr id="37" name="Rectangle 37"/>
            <p:cNvSpPr/>
            <p:nvPr/>
          </p:nvSpPr>
          <p:spPr>
            <a:xfrm>
              <a:off x="762000" y="4381500"/>
              <a:ext cx="5143500" cy="142875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1073150" y="4686961"/>
              <a:ext cx="267081" cy="267519"/>
            </a:xfrm>
            <a:custGeom>
              <a:avLst/>
              <a:gdLst/>
              <a:ahLst/>
              <a:cxnLst/>
              <a:rect l="l" t="t" r="r" b="b"/>
              <a:pathLst>
                <a:path w="267081" h="267519">
                  <a:moveTo>
                    <a:pt x="190500" y="22707"/>
                  </a:moveTo>
                  <a:cubicBezTo>
                    <a:pt x="243426" y="53266"/>
                    <a:pt x="267081" y="117187"/>
                    <a:pt x="246799" y="174838"/>
                  </a:cubicBezTo>
                  <a:cubicBezTo>
                    <a:pt x="226517" y="232489"/>
                    <a:pt x="168050" y="267519"/>
                    <a:pt x="107648" y="258208"/>
                  </a:cubicBezTo>
                  <a:cubicBezTo>
                    <a:pt x="47247" y="248897"/>
                    <a:pt x="2043" y="197886"/>
                    <a:pt x="63" y="136804"/>
                  </a:cubicBezTo>
                  <a:lnTo>
                    <a:pt x="0" y="132689"/>
                  </a:lnTo>
                  <a:lnTo>
                    <a:pt x="63" y="128574"/>
                  </a:lnTo>
                  <a:cubicBezTo>
                    <a:pt x="1510" y="83959"/>
                    <a:pt x="26274" y="43379"/>
                    <a:pt x="65289" y="21689"/>
                  </a:cubicBezTo>
                  <a:cubicBezTo>
                    <a:pt x="104305" y="0"/>
                    <a:pt x="151842" y="386"/>
                    <a:pt x="190500" y="22707"/>
                  </a:cubicBezTo>
                  <a:close/>
                  <a:moveTo>
                    <a:pt x="174079" y="98310"/>
                  </a:moveTo>
                  <a:cubicBezTo>
                    <a:pt x="169554" y="93786"/>
                    <a:pt x="162371" y="93334"/>
                    <a:pt x="157315" y="97256"/>
                  </a:cubicBezTo>
                  <a:lnTo>
                    <a:pt x="156121" y="98310"/>
                  </a:lnTo>
                  <a:lnTo>
                    <a:pt x="114300" y="140118"/>
                  </a:lnTo>
                  <a:lnTo>
                    <a:pt x="97879" y="123710"/>
                  </a:lnTo>
                  <a:lnTo>
                    <a:pt x="96685" y="122656"/>
                  </a:lnTo>
                  <a:cubicBezTo>
                    <a:pt x="91629" y="118737"/>
                    <a:pt x="84448" y="119190"/>
                    <a:pt x="79924" y="123713"/>
                  </a:cubicBezTo>
                  <a:cubicBezTo>
                    <a:pt x="75401" y="128237"/>
                    <a:pt x="74948" y="135418"/>
                    <a:pt x="78867" y="140474"/>
                  </a:cubicBezTo>
                  <a:lnTo>
                    <a:pt x="79921" y="141668"/>
                  </a:lnTo>
                  <a:lnTo>
                    <a:pt x="105321" y="167068"/>
                  </a:lnTo>
                  <a:lnTo>
                    <a:pt x="106515" y="168122"/>
                  </a:lnTo>
                  <a:cubicBezTo>
                    <a:pt x="111096" y="171676"/>
                    <a:pt x="117504" y="171676"/>
                    <a:pt x="122085" y="168122"/>
                  </a:cubicBezTo>
                  <a:lnTo>
                    <a:pt x="123279" y="167068"/>
                  </a:lnTo>
                  <a:lnTo>
                    <a:pt x="174079" y="116268"/>
                  </a:lnTo>
                  <a:lnTo>
                    <a:pt x="175133" y="115074"/>
                  </a:lnTo>
                  <a:cubicBezTo>
                    <a:pt x="179055" y="110018"/>
                    <a:pt x="178603" y="102835"/>
                    <a:pt x="174079" y="98310"/>
                  </a:cubicBez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506855" y="4759642"/>
              <a:ext cx="23687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293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AppImage/portable 可运行</a:t>
              </a:r>
              <a:endParaRPr lang="zh-CN" sz="1350" b="1" dirty="0">
                <a:solidFill>
                  <a:srgbClr val="1E293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509712" y="5069681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免安装运行，依赖随包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509712" y="530780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可作为课程验收入口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2" name="Freeform 42"/>
            <p:cNvSpPr/>
            <p:nvPr/>
          </p:nvSpPr>
          <p:spPr>
            <a:xfrm>
              <a:off x="5181600" y="4705350"/>
              <a:ext cx="228600" cy="241300"/>
            </a:xfrm>
            <a:custGeom>
              <a:avLst/>
              <a:gdLst/>
              <a:ahLst/>
              <a:cxnLst/>
              <a:rect l="l" t="t" r="r" b="b"/>
              <a:pathLst>
                <a:path w="228600" h="241300">
                  <a:moveTo>
                    <a:pt x="215900" y="165100"/>
                  </a:moveTo>
                  <a:cubicBezTo>
                    <a:pt x="222914" y="165100"/>
                    <a:pt x="228600" y="170786"/>
                    <a:pt x="228600" y="177800"/>
                  </a:cubicBezTo>
                  <a:lnTo>
                    <a:pt x="228600" y="203200"/>
                  </a:lnTo>
                  <a:cubicBezTo>
                    <a:pt x="228600" y="224242"/>
                    <a:pt x="211542" y="241300"/>
                    <a:pt x="190500" y="241300"/>
                  </a:cubicBezTo>
                  <a:lnTo>
                    <a:pt x="38100" y="241300"/>
                  </a:lnTo>
                  <a:cubicBezTo>
                    <a:pt x="17058" y="241300"/>
                    <a:pt x="0" y="224242"/>
                    <a:pt x="0" y="203200"/>
                  </a:cubicBezTo>
                  <a:lnTo>
                    <a:pt x="0" y="177800"/>
                  </a:lnTo>
                  <a:cubicBezTo>
                    <a:pt x="0" y="170786"/>
                    <a:pt x="5686" y="165100"/>
                    <a:pt x="12700" y="165100"/>
                  </a:cubicBezTo>
                  <a:cubicBezTo>
                    <a:pt x="19714" y="165100"/>
                    <a:pt x="25400" y="170786"/>
                    <a:pt x="25400" y="177800"/>
                  </a:cubicBezTo>
                  <a:lnTo>
                    <a:pt x="25400" y="203200"/>
                  </a:lnTo>
                  <a:cubicBezTo>
                    <a:pt x="25400" y="210214"/>
                    <a:pt x="31086" y="215900"/>
                    <a:pt x="38100" y="215900"/>
                  </a:cubicBezTo>
                  <a:lnTo>
                    <a:pt x="190500" y="215900"/>
                  </a:lnTo>
                  <a:cubicBezTo>
                    <a:pt x="197514" y="215900"/>
                    <a:pt x="203200" y="210214"/>
                    <a:pt x="203200" y="203200"/>
                  </a:cubicBezTo>
                  <a:lnTo>
                    <a:pt x="203200" y="177800"/>
                  </a:lnTo>
                  <a:cubicBezTo>
                    <a:pt x="203200" y="170786"/>
                    <a:pt x="208886" y="165100"/>
                    <a:pt x="215900" y="165100"/>
                  </a:cubicBezTo>
                  <a:moveTo>
                    <a:pt x="114300" y="0"/>
                  </a:moveTo>
                  <a:cubicBezTo>
                    <a:pt x="121314" y="0"/>
                    <a:pt x="127000" y="5686"/>
                    <a:pt x="127000" y="12700"/>
                  </a:cubicBezTo>
                  <a:lnTo>
                    <a:pt x="127000" y="134430"/>
                  </a:lnTo>
                  <a:lnTo>
                    <a:pt x="168821" y="92621"/>
                  </a:lnTo>
                  <a:cubicBezTo>
                    <a:pt x="173804" y="87808"/>
                    <a:pt x="181725" y="87877"/>
                    <a:pt x="186624" y="92776"/>
                  </a:cubicBezTo>
                  <a:cubicBezTo>
                    <a:pt x="191523" y="97675"/>
                    <a:pt x="191592" y="105596"/>
                    <a:pt x="186779" y="110579"/>
                  </a:cubicBezTo>
                  <a:lnTo>
                    <a:pt x="123279" y="174079"/>
                  </a:lnTo>
                  <a:cubicBezTo>
                    <a:pt x="122919" y="174440"/>
                    <a:pt x="122537" y="174780"/>
                    <a:pt x="122136" y="175095"/>
                  </a:cubicBezTo>
                  <a:lnTo>
                    <a:pt x="123279" y="174079"/>
                  </a:lnTo>
                  <a:cubicBezTo>
                    <a:pt x="120999" y="176356"/>
                    <a:pt x="117939" y="177682"/>
                    <a:pt x="114719" y="177787"/>
                  </a:cubicBezTo>
                  <a:lnTo>
                    <a:pt x="114300" y="177800"/>
                  </a:lnTo>
                  <a:lnTo>
                    <a:pt x="113894" y="177800"/>
                  </a:lnTo>
                  <a:lnTo>
                    <a:pt x="113208" y="177749"/>
                  </a:lnTo>
                  <a:lnTo>
                    <a:pt x="114300" y="177800"/>
                  </a:lnTo>
                  <a:cubicBezTo>
                    <a:pt x="111459" y="177800"/>
                    <a:pt x="108700" y="176848"/>
                    <a:pt x="106464" y="175095"/>
                  </a:cubicBezTo>
                  <a:cubicBezTo>
                    <a:pt x="106063" y="174780"/>
                    <a:pt x="105681" y="174440"/>
                    <a:pt x="105321" y="174079"/>
                  </a:cubicBezTo>
                  <a:lnTo>
                    <a:pt x="41821" y="110579"/>
                  </a:lnTo>
                  <a:cubicBezTo>
                    <a:pt x="37008" y="105596"/>
                    <a:pt x="37077" y="97675"/>
                    <a:pt x="41976" y="92776"/>
                  </a:cubicBezTo>
                  <a:cubicBezTo>
                    <a:pt x="46875" y="87877"/>
                    <a:pt x="54796" y="87808"/>
                    <a:pt x="59779" y="92621"/>
                  </a:cubicBezTo>
                  <a:lnTo>
                    <a:pt x="101600" y="134430"/>
                  </a:lnTo>
                  <a:lnTo>
                    <a:pt x="101600" y="12700"/>
                  </a:lnTo>
                  <a:cubicBezTo>
                    <a:pt x="101600" y="5686"/>
                    <a:pt x="107286" y="0"/>
                    <a:pt x="114300" y="0"/>
                  </a:cubicBezTo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286500" y="4381500"/>
              <a:ext cx="5143500" cy="1428750"/>
            </a:xfrm>
            <a:prstGeom prst="roundRect">
              <a:avLst>
                <a:gd name="adj" fmla="val 8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6597650" y="4686961"/>
              <a:ext cx="267081" cy="267519"/>
            </a:xfrm>
            <a:custGeom>
              <a:avLst/>
              <a:gdLst/>
              <a:ahLst/>
              <a:cxnLst/>
              <a:rect l="l" t="t" r="r" b="b"/>
              <a:pathLst>
                <a:path w="267081" h="267519">
                  <a:moveTo>
                    <a:pt x="190500" y="22707"/>
                  </a:moveTo>
                  <a:cubicBezTo>
                    <a:pt x="243426" y="53266"/>
                    <a:pt x="267081" y="117187"/>
                    <a:pt x="246799" y="174838"/>
                  </a:cubicBezTo>
                  <a:cubicBezTo>
                    <a:pt x="226517" y="232489"/>
                    <a:pt x="168050" y="267519"/>
                    <a:pt x="107648" y="258208"/>
                  </a:cubicBezTo>
                  <a:cubicBezTo>
                    <a:pt x="47247" y="248897"/>
                    <a:pt x="2043" y="197886"/>
                    <a:pt x="63" y="136804"/>
                  </a:cubicBezTo>
                  <a:lnTo>
                    <a:pt x="0" y="132689"/>
                  </a:lnTo>
                  <a:lnTo>
                    <a:pt x="63" y="128574"/>
                  </a:lnTo>
                  <a:cubicBezTo>
                    <a:pt x="1510" y="83959"/>
                    <a:pt x="26274" y="43379"/>
                    <a:pt x="65289" y="21689"/>
                  </a:cubicBezTo>
                  <a:cubicBezTo>
                    <a:pt x="104305" y="0"/>
                    <a:pt x="151842" y="386"/>
                    <a:pt x="190500" y="22707"/>
                  </a:cubicBezTo>
                  <a:close/>
                  <a:moveTo>
                    <a:pt x="174079" y="98310"/>
                  </a:moveTo>
                  <a:cubicBezTo>
                    <a:pt x="169554" y="93786"/>
                    <a:pt x="162371" y="93334"/>
                    <a:pt x="157315" y="97256"/>
                  </a:cubicBezTo>
                  <a:lnTo>
                    <a:pt x="156121" y="98310"/>
                  </a:lnTo>
                  <a:lnTo>
                    <a:pt x="114300" y="140118"/>
                  </a:lnTo>
                  <a:lnTo>
                    <a:pt x="97879" y="123710"/>
                  </a:lnTo>
                  <a:lnTo>
                    <a:pt x="96685" y="122656"/>
                  </a:lnTo>
                  <a:cubicBezTo>
                    <a:pt x="91629" y="118737"/>
                    <a:pt x="84448" y="119190"/>
                    <a:pt x="79924" y="123713"/>
                  </a:cubicBezTo>
                  <a:cubicBezTo>
                    <a:pt x="75401" y="128237"/>
                    <a:pt x="74948" y="135418"/>
                    <a:pt x="78867" y="140474"/>
                  </a:cubicBezTo>
                  <a:lnTo>
                    <a:pt x="79921" y="141668"/>
                  </a:lnTo>
                  <a:lnTo>
                    <a:pt x="105321" y="167068"/>
                  </a:lnTo>
                  <a:lnTo>
                    <a:pt x="106515" y="168122"/>
                  </a:lnTo>
                  <a:cubicBezTo>
                    <a:pt x="111096" y="171676"/>
                    <a:pt x="117504" y="171676"/>
                    <a:pt x="122085" y="168122"/>
                  </a:cubicBezTo>
                  <a:lnTo>
                    <a:pt x="123279" y="167068"/>
                  </a:lnTo>
                  <a:lnTo>
                    <a:pt x="174079" y="116268"/>
                  </a:lnTo>
                  <a:lnTo>
                    <a:pt x="175133" y="115074"/>
                  </a:lnTo>
                  <a:cubicBezTo>
                    <a:pt x="179055" y="110018"/>
                    <a:pt x="178603" y="102835"/>
                    <a:pt x="174079" y="98310"/>
                  </a:cubicBezTo>
                  <a:close/>
                </a:path>
              </a:pathLst>
            </a:custGeom>
            <a:solidFill>
              <a:srgbClr val="22C55E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031355" y="4759642"/>
              <a:ext cx="116843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E293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关键测试通过</a:t>
              </a:r>
              <a:endParaRPr lang="zh-CN" sz="1350" b="1" dirty="0">
                <a:solidFill>
                  <a:srgbClr val="1E293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034212" y="5069681"/>
              <a:ext cx="198632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CTest 目标通过或有构建记录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034212" y="530780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双实例验证和日志留痕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8" name="Freeform 48"/>
            <p:cNvSpPr/>
            <p:nvPr/>
          </p:nvSpPr>
          <p:spPr>
            <a:xfrm>
              <a:off x="10718797" y="4692650"/>
              <a:ext cx="203206" cy="254000"/>
            </a:xfrm>
            <a:custGeom>
              <a:avLst/>
              <a:gdLst/>
              <a:ahLst/>
              <a:cxnLst/>
              <a:rect l="l" t="t" r="r" b="b"/>
              <a:pathLst>
                <a:path w="203206" h="254000">
                  <a:moveTo>
                    <a:pt x="177765" y="27559"/>
                  </a:moveTo>
                  <a:cubicBezTo>
                    <a:pt x="193009" y="32931"/>
                    <a:pt x="203206" y="47337"/>
                    <a:pt x="203203" y="63500"/>
                  </a:cubicBezTo>
                  <a:lnTo>
                    <a:pt x="203203" y="215900"/>
                  </a:lnTo>
                  <a:cubicBezTo>
                    <a:pt x="203203" y="236942"/>
                    <a:pt x="186145" y="254000"/>
                    <a:pt x="165103" y="254000"/>
                  </a:cubicBezTo>
                  <a:lnTo>
                    <a:pt x="38103" y="254000"/>
                  </a:lnTo>
                  <a:cubicBezTo>
                    <a:pt x="17061" y="254000"/>
                    <a:pt x="3" y="236942"/>
                    <a:pt x="3" y="215900"/>
                  </a:cubicBezTo>
                  <a:lnTo>
                    <a:pt x="3" y="63500"/>
                  </a:lnTo>
                  <a:cubicBezTo>
                    <a:pt x="0" y="47337"/>
                    <a:pt x="10196" y="32931"/>
                    <a:pt x="25441" y="27559"/>
                  </a:cubicBezTo>
                  <a:cubicBezTo>
                    <a:pt x="26598" y="54754"/>
                    <a:pt x="48983" y="76204"/>
                    <a:pt x="76203" y="76200"/>
                  </a:cubicBezTo>
                  <a:lnTo>
                    <a:pt x="127003" y="76200"/>
                  </a:lnTo>
                  <a:cubicBezTo>
                    <a:pt x="153079" y="76202"/>
                    <a:pt x="174922" y="56461"/>
                    <a:pt x="177549" y="30518"/>
                  </a:cubicBezTo>
                  <a:close/>
                  <a:moveTo>
                    <a:pt x="130724" y="118021"/>
                  </a:moveTo>
                  <a:lnTo>
                    <a:pt x="88903" y="159829"/>
                  </a:lnTo>
                  <a:lnTo>
                    <a:pt x="72482" y="143421"/>
                  </a:lnTo>
                  <a:cubicBezTo>
                    <a:pt x="69293" y="140120"/>
                    <a:pt x="64571" y="138796"/>
                    <a:pt x="60131" y="139958"/>
                  </a:cubicBezTo>
                  <a:cubicBezTo>
                    <a:pt x="55691" y="141120"/>
                    <a:pt x="52223" y="144588"/>
                    <a:pt x="51061" y="149028"/>
                  </a:cubicBezTo>
                  <a:cubicBezTo>
                    <a:pt x="49898" y="153468"/>
                    <a:pt x="51222" y="158190"/>
                    <a:pt x="54524" y="161379"/>
                  </a:cubicBezTo>
                  <a:lnTo>
                    <a:pt x="79924" y="186779"/>
                  </a:lnTo>
                  <a:cubicBezTo>
                    <a:pt x="84883" y="191737"/>
                    <a:pt x="92922" y="191737"/>
                    <a:pt x="97882" y="186779"/>
                  </a:cubicBezTo>
                  <a:lnTo>
                    <a:pt x="148682" y="135979"/>
                  </a:lnTo>
                  <a:cubicBezTo>
                    <a:pt x="153495" y="130996"/>
                    <a:pt x="153426" y="123075"/>
                    <a:pt x="148527" y="118176"/>
                  </a:cubicBezTo>
                  <a:cubicBezTo>
                    <a:pt x="143628" y="113277"/>
                    <a:pt x="135707" y="113208"/>
                    <a:pt x="130724" y="118021"/>
                  </a:cubicBezTo>
                  <a:moveTo>
                    <a:pt x="127003" y="0"/>
                  </a:moveTo>
                  <a:cubicBezTo>
                    <a:pt x="141031" y="0"/>
                    <a:pt x="152403" y="11372"/>
                    <a:pt x="152403" y="25400"/>
                  </a:cubicBezTo>
                  <a:cubicBezTo>
                    <a:pt x="152403" y="39428"/>
                    <a:pt x="141031" y="50800"/>
                    <a:pt x="127003" y="50800"/>
                  </a:cubicBezTo>
                  <a:lnTo>
                    <a:pt x="76203" y="50800"/>
                  </a:lnTo>
                  <a:cubicBezTo>
                    <a:pt x="62175" y="50800"/>
                    <a:pt x="50803" y="39428"/>
                    <a:pt x="50803" y="25400"/>
                  </a:cubicBezTo>
                  <a:cubicBezTo>
                    <a:pt x="50803" y="11372"/>
                    <a:pt x="62175" y="0"/>
                    <a:pt x="76203" y="0"/>
                  </a:cubicBezTo>
                  <a:close/>
                </a:path>
              </a:pathLst>
            </a:custGeom>
            <a:solidFill>
              <a:srgbClr val="CBD5E1"/>
            </a:solidFill>
            <a:ln>
              <a:noFill/>
            </a:ln>
          </p:spPr>
        </p:sp>
      </p:grpSp>
      <p:sp>
        <p:nvSpPr>
          <p:cNvPr id="50" name="TextBox 50"/>
          <p:cNvSpPr txBox="1"/>
          <p:nvPr/>
        </p:nvSpPr>
        <p:spPr>
          <a:xfrm>
            <a:off x="10774204" y="6570345"/>
            <a:ext cx="9529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rPr>
              <a:t>GridYard v6.8.1</a:t>
            </a:r>
            <a:endParaRPr lang="zh-CN" sz="900" dirty="0">
              <a:solidFill>
                <a:srgbClr val="94A3B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D5F8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45770" y="217170"/>
            <a:ext cx="11283315" cy="487680"/>
            <a:chOff x="445770" y="217170"/>
            <a:chExt cx="11283315" cy="487680"/>
          </a:xfrm>
        </p:grpSpPr>
        <p:sp>
          <p:nvSpPr>
            <p:cNvPr id="4" name="TextBox 4"/>
            <p:cNvSpPr txBox="1"/>
            <p:nvPr/>
          </p:nvSpPr>
          <p:spPr>
            <a:xfrm>
              <a:off x="445770" y="217170"/>
              <a:ext cx="548803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AI 辅助自学，最终由团队实现和验证</a:t>
              </a:r>
              <a:endParaRPr lang="zh-CN" sz="240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476250" y="59055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548396" y="36290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18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62000" y="1143000"/>
            <a:ext cx="5143500" cy="4095750"/>
            <a:chOff x="762000" y="1143000"/>
            <a:chExt cx="5143500" cy="4095750"/>
          </a:xfrm>
        </p:grpSpPr>
        <p:sp>
          <p:nvSpPr>
            <p:cNvPr id="8" name="Rectangle 8"/>
            <p:cNvSpPr/>
            <p:nvPr/>
          </p:nvSpPr>
          <p:spPr>
            <a:xfrm>
              <a:off x="762000" y="1143000"/>
              <a:ext cx="5143500" cy="4095750"/>
            </a:xfrm>
            <a:prstGeom prst="roundRect">
              <a:avLst>
                <a:gd name="adj" fmla="val 3721"/>
              </a:avLst>
            </a:prstGeom>
            <a:solidFill>
              <a:srgbClr val="2D5F8A">
                <a:alpha val="8000"/>
              </a:srgbClr>
            </a:solidFill>
            <a:ln w="19050">
              <a:solidFill>
                <a:srgbClr val="2D5F8A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3061544" y="1395442"/>
              <a:ext cx="315655" cy="300843"/>
            </a:xfrm>
            <a:custGeom>
              <a:avLst/>
              <a:gdLst/>
              <a:ahLst/>
              <a:cxnLst/>
              <a:rect l="l" t="t" r="r" b="b"/>
              <a:pathLst>
                <a:path w="315655" h="300843">
                  <a:moveTo>
                    <a:pt x="104228" y="90554"/>
                  </a:moveTo>
                  <a:lnTo>
                    <a:pt x="13073" y="103770"/>
                  </a:lnTo>
                  <a:lnTo>
                    <a:pt x="11459" y="104098"/>
                  </a:lnTo>
                  <a:cubicBezTo>
                    <a:pt x="6483" y="105419"/>
                    <a:pt x="2603" y="109315"/>
                    <a:pt x="1301" y="114296"/>
                  </a:cubicBezTo>
                  <a:cubicBezTo>
                    <a:pt x="0" y="119277"/>
                    <a:pt x="1479" y="124572"/>
                    <a:pt x="5172" y="128158"/>
                  </a:cubicBezTo>
                  <a:lnTo>
                    <a:pt x="71209" y="192438"/>
                  </a:lnTo>
                  <a:lnTo>
                    <a:pt x="55636" y="283235"/>
                  </a:lnTo>
                  <a:lnTo>
                    <a:pt x="55450" y="284807"/>
                  </a:lnTo>
                  <a:cubicBezTo>
                    <a:pt x="55146" y="289953"/>
                    <a:pt x="57637" y="294865"/>
                    <a:pt x="61970" y="297658"/>
                  </a:cubicBezTo>
                  <a:cubicBezTo>
                    <a:pt x="66303" y="300452"/>
                    <a:pt x="71805" y="300695"/>
                    <a:pt x="76367" y="298294"/>
                  </a:cubicBezTo>
                  <a:lnTo>
                    <a:pt x="157892" y="255431"/>
                  </a:lnTo>
                  <a:lnTo>
                    <a:pt x="239230" y="298294"/>
                  </a:lnTo>
                  <a:lnTo>
                    <a:pt x="240659" y="298951"/>
                  </a:lnTo>
                  <a:cubicBezTo>
                    <a:pt x="245461" y="300843"/>
                    <a:pt x="250909" y="299997"/>
                    <a:pt x="254912" y="296740"/>
                  </a:cubicBezTo>
                  <a:cubicBezTo>
                    <a:pt x="258915" y="293484"/>
                    <a:pt x="260851" y="288321"/>
                    <a:pt x="259976" y="283235"/>
                  </a:cubicBezTo>
                  <a:lnTo>
                    <a:pt x="244388" y="192438"/>
                  </a:lnTo>
                  <a:lnTo>
                    <a:pt x="310453" y="128144"/>
                  </a:lnTo>
                  <a:lnTo>
                    <a:pt x="311568" y="126930"/>
                  </a:lnTo>
                  <a:cubicBezTo>
                    <a:pt x="314809" y="122938"/>
                    <a:pt x="315655" y="117513"/>
                    <a:pt x="313784" y="112724"/>
                  </a:cubicBezTo>
                  <a:cubicBezTo>
                    <a:pt x="311912" y="107935"/>
                    <a:pt x="307612" y="104521"/>
                    <a:pt x="302524" y="103784"/>
                  </a:cubicBezTo>
                  <a:lnTo>
                    <a:pt x="211370" y="90554"/>
                  </a:lnTo>
                  <a:lnTo>
                    <a:pt x="170622" y="7972"/>
                  </a:lnTo>
                  <a:cubicBezTo>
                    <a:pt x="168216" y="3091"/>
                    <a:pt x="163247" y="0"/>
                    <a:pt x="157806" y="0"/>
                  </a:cubicBezTo>
                  <a:cubicBezTo>
                    <a:pt x="152364" y="0"/>
                    <a:pt x="147395" y="3091"/>
                    <a:pt x="144990" y="7972"/>
                  </a:cubicBezTo>
                  <a:lnTo>
                    <a:pt x="104228" y="90554"/>
                  </a:lnTo>
                  <a:close/>
                </a:path>
              </a:pathLst>
            </a:custGeom>
            <a:solidFill>
              <a:srgbClr val="2D5F8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333958" y="1726882"/>
              <a:ext cx="142808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课堂已学基础</a:t>
              </a:r>
              <a:endParaRPr lang="zh-CN" sz="165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143000" y="2190750"/>
              <a:ext cx="43815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2422398" y="2327910"/>
              <a:ext cx="182270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Qt/QML 基础与组件开发</a:t>
              </a:r>
              <a:endParaRPr lang="zh-CN" sz="1200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143000" y="2705100"/>
              <a:ext cx="43815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2334387" y="2842260"/>
              <a:ext cx="19987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QObject 生命周期与信号槽</a:t>
              </a:r>
              <a:endParaRPr lang="zh-CN" sz="1200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143000" y="3219450"/>
              <a:ext cx="43815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2310384" y="3356610"/>
              <a:ext cx="20467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Worker-Object 多线程模型</a:t>
              </a:r>
              <a:endParaRPr lang="zh-CN" sz="1200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143000" y="3733800"/>
              <a:ext cx="43815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2598420" y="387096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四层架构与模块拆分</a:t>
              </a:r>
              <a:endParaRPr lang="zh-CN" sz="1200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43000" y="4248150"/>
              <a:ext cx="43815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394394" y="4385310"/>
              <a:ext cx="1878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C++/QML 集成与属性暴露</a:t>
              </a:r>
              <a:endParaRPr lang="zh-CN" sz="1200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286500" y="1143000"/>
            <a:ext cx="5143500" cy="4095750"/>
            <a:chOff x="6286500" y="1143000"/>
            <a:chExt cx="5143500" cy="4095750"/>
          </a:xfrm>
        </p:grpSpPr>
        <p:sp>
          <p:nvSpPr>
            <p:cNvPr id="22" name="Rectangle 22"/>
            <p:cNvSpPr/>
            <p:nvPr/>
          </p:nvSpPr>
          <p:spPr>
            <a:xfrm>
              <a:off x="6286500" y="1143000"/>
              <a:ext cx="5143500" cy="4095750"/>
            </a:xfrm>
            <a:prstGeom prst="roundRect">
              <a:avLst>
                <a:gd name="adj" fmla="val 3721"/>
              </a:avLst>
            </a:prstGeom>
            <a:solidFill>
              <a:srgbClr val="22C55E">
                <a:alpha val="8000"/>
              </a:srgbClr>
            </a:solidFill>
            <a:ln w="19050">
              <a:solidFill>
                <a:srgbClr val="22C55E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8600672" y="1409700"/>
              <a:ext cx="286556" cy="285750"/>
              <a:chOff x="8600672" y="1409700"/>
              <a:chExt cx="286556" cy="28575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600672" y="1538288"/>
                <a:ext cx="43668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668" h="28575">
                    <a:moveTo>
                      <a:pt x="28978" y="0"/>
                    </a:moveTo>
                    <a:cubicBezTo>
                      <a:pt x="36537" y="8"/>
                      <a:pt x="42782" y="5904"/>
                      <a:pt x="43225" y="13450"/>
                    </a:cubicBezTo>
                    <a:cubicBezTo>
                      <a:pt x="43668" y="20997"/>
                      <a:pt x="38156" y="27582"/>
                      <a:pt x="30649" y="28475"/>
                    </a:cubicBezTo>
                    <a:lnTo>
                      <a:pt x="28978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28978" y="0"/>
                    </a:ln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729662" y="1409700"/>
                <a:ext cx="28575" cy="43265"/>
              </a:xfrm>
              <a:custGeom>
                <a:avLst/>
                <a:gdLst/>
                <a:ahLst/>
                <a:cxnLst/>
                <a:rect l="l" t="t" r="r" b="b"/>
                <a:pathLst>
                  <a:path w="28575" h="43265">
                    <a:moveTo>
                      <a:pt x="14288" y="0"/>
                    </a:moveTo>
                    <a:cubicBezTo>
                      <a:pt x="21531" y="1"/>
                      <a:pt x="27628" y="5422"/>
                      <a:pt x="28475" y="12616"/>
                    </a:cubicBezTo>
                    <a:lnTo>
                      <a:pt x="28575" y="14288"/>
                    </a:lnTo>
                    <a:lnTo>
                      <a:pt x="28575" y="28575"/>
                    </a:lnTo>
                    <a:cubicBezTo>
                      <a:pt x="28567" y="36134"/>
                      <a:pt x="22671" y="42379"/>
                      <a:pt x="15125" y="42822"/>
                    </a:cubicBezTo>
                    <a:cubicBezTo>
                      <a:pt x="7578" y="43265"/>
                      <a:pt x="993" y="37753"/>
                      <a:pt x="100" y="30247"/>
                    </a:cubicBezTo>
                    <a:lnTo>
                      <a:pt x="0" y="28575"/>
                    </a:ln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8843560" y="1538288"/>
                <a:ext cx="43668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43668" h="28575">
                    <a:moveTo>
                      <a:pt x="28978" y="0"/>
                    </a:moveTo>
                    <a:cubicBezTo>
                      <a:pt x="36537" y="8"/>
                      <a:pt x="42782" y="5904"/>
                      <a:pt x="43225" y="13450"/>
                    </a:cubicBezTo>
                    <a:cubicBezTo>
                      <a:pt x="43668" y="20997"/>
                      <a:pt x="38156" y="27582"/>
                      <a:pt x="30649" y="28475"/>
                    </a:cubicBezTo>
                    <a:lnTo>
                      <a:pt x="28978" y="28575"/>
                    </a:lnTo>
                    <a:lnTo>
                      <a:pt x="14690" y="28575"/>
                    </a:lnTo>
                    <a:cubicBezTo>
                      <a:pt x="7131" y="28567"/>
                      <a:pt x="886" y="22671"/>
                      <a:pt x="443" y="15125"/>
                    </a:cubicBezTo>
                    <a:cubicBezTo>
                      <a:pt x="0" y="7578"/>
                      <a:pt x="5512" y="993"/>
                      <a:pt x="13018" y="100"/>
                    </a:cubicBezTo>
                    <a:lnTo>
                      <a:pt x="14690" y="0"/>
                    </a:lnTo>
                    <a:lnTo>
                      <a:pt x="28978" y="0"/>
                    </a:ln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636831" y="1445436"/>
                <a:ext cx="41360" cy="41596"/>
              </a:xfrm>
              <a:custGeom>
                <a:avLst/>
                <a:gdLst/>
                <a:ahLst/>
                <a:cxnLst/>
                <a:rect l="l" t="t" r="r" b="b"/>
                <a:pathLst>
                  <a:path w="41360" h="41596">
                    <a:moveTo>
                      <a:pt x="5578" y="5598"/>
                    </a:moveTo>
                    <a:cubicBezTo>
                      <a:pt x="10668" y="508"/>
                      <a:pt x="18749" y="0"/>
                      <a:pt x="24437" y="4412"/>
                    </a:cubicBezTo>
                    <a:lnTo>
                      <a:pt x="25780" y="5598"/>
                    </a:lnTo>
                    <a:lnTo>
                      <a:pt x="35781" y="15599"/>
                    </a:lnTo>
                    <a:cubicBezTo>
                      <a:pt x="41099" y="20935"/>
                      <a:pt x="41360" y="29484"/>
                      <a:pt x="36378" y="35134"/>
                    </a:cubicBezTo>
                    <a:cubicBezTo>
                      <a:pt x="31395" y="40785"/>
                      <a:pt x="22882" y="41596"/>
                      <a:pt x="16922" y="36988"/>
                    </a:cubicBezTo>
                    <a:lnTo>
                      <a:pt x="15579" y="35802"/>
                    </a:lnTo>
                    <a:lnTo>
                      <a:pt x="5578" y="25800"/>
                    </a:lnTo>
                    <a:cubicBezTo>
                      <a:pt x="0" y="20221"/>
                      <a:pt x="0" y="11177"/>
                      <a:pt x="5578" y="5598"/>
                    </a:cubicBez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809493" y="1445455"/>
                <a:ext cx="41792" cy="41362"/>
              </a:xfrm>
              <a:custGeom>
                <a:avLst/>
                <a:gdLst/>
                <a:ahLst/>
                <a:cxnLst/>
                <a:rect l="l" t="t" r="r" b="b"/>
                <a:pathLst>
                  <a:path w="41792" h="41362">
                    <a:moveTo>
                      <a:pt x="15795" y="5579"/>
                    </a:moveTo>
                    <a:cubicBezTo>
                      <a:pt x="21131" y="261"/>
                      <a:pt x="29680" y="0"/>
                      <a:pt x="35330" y="4982"/>
                    </a:cubicBezTo>
                    <a:cubicBezTo>
                      <a:pt x="40981" y="9965"/>
                      <a:pt x="41792" y="18479"/>
                      <a:pt x="37184" y="24438"/>
                    </a:cubicBezTo>
                    <a:lnTo>
                      <a:pt x="35998" y="25782"/>
                    </a:lnTo>
                    <a:lnTo>
                      <a:pt x="25997" y="35783"/>
                    </a:lnTo>
                    <a:cubicBezTo>
                      <a:pt x="20661" y="41101"/>
                      <a:pt x="12112" y="41362"/>
                      <a:pt x="6462" y="36379"/>
                    </a:cubicBezTo>
                    <a:cubicBezTo>
                      <a:pt x="811" y="31397"/>
                      <a:pt x="0" y="22883"/>
                      <a:pt x="4608" y="16923"/>
                    </a:cubicBezTo>
                    <a:lnTo>
                      <a:pt x="5794" y="15580"/>
                    </a:lnTo>
                    <a:lnTo>
                      <a:pt x="15795" y="5579"/>
                    </a:ln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701088" y="1638300"/>
                <a:ext cx="85725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57150">
                    <a:moveTo>
                      <a:pt x="71438" y="0"/>
                    </a:moveTo>
                    <a:cubicBezTo>
                      <a:pt x="79328" y="0"/>
                      <a:pt x="85725" y="6397"/>
                      <a:pt x="85725" y="14288"/>
                    </a:cubicBezTo>
                    <a:cubicBezTo>
                      <a:pt x="85725" y="37960"/>
                      <a:pt x="66535" y="57150"/>
                      <a:pt x="42862" y="57150"/>
                    </a:cubicBezTo>
                    <a:cubicBezTo>
                      <a:pt x="19190" y="57150"/>
                      <a:pt x="0" y="37960"/>
                      <a:pt x="0" y="14288"/>
                    </a:cubicBezTo>
                    <a:cubicBezTo>
                      <a:pt x="1" y="7044"/>
                      <a:pt x="5422" y="947"/>
                      <a:pt x="12616" y="100"/>
                    </a:cubicBezTo>
                    <a:lnTo>
                      <a:pt x="14288" y="0"/>
                    </a:lnTo>
                    <a:lnTo>
                      <a:pt x="71438" y="0"/>
                    </a:ln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8650956" y="1466850"/>
                <a:ext cx="185989" cy="157162"/>
              </a:xfrm>
              <a:custGeom>
                <a:avLst/>
                <a:gdLst/>
                <a:ahLst/>
                <a:cxnLst/>
                <a:rect l="l" t="t" r="r" b="b"/>
                <a:pathLst>
                  <a:path w="185989" h="157162">
                    <a:moveTo>
                      <a:pt x="92994" y="0"/>
                    </a:moveTo>
                    <a:cubicBezTo>
                      <a:pt x="129893" y="0"/>
                      <a:pt x="162652" y="23611"/>
                      <a:pt x="174320" y="58616"/>
                    </a:cubicBezTo>
                    <a:cubicBezTo>
                      <a:pt x="185989" y="93622"/>
                      <a:pt x="173948" y="132166"/>
                      <a:pt x="144429" y="154305"/>
                    </a:cubicBezTo>
                    <a:cubicBezTo>
                      <a:pt x="142460" y="155784"/>
                      <a:pt x="140142" y="156729"/>
                      <a:pt x="137700" y="157048"/>
                    </a:cubicBezTo>
                    <a:lnTo>
                      <a:pt x="135857" y="157162"/>
                    </a:lnTo>
                    <a:lnTo>
                      <a:pt x="50132" y="157162"/>
                    </a:lnTo>
                    <a:cubicBezTo>
                      <a:pt x="47040" y="157162"/>
                      <a:pt x="44032" y="156160"/>
                      <a:pt x="41559" y="154305"/>
                    </a:cubicBezTo>
                    <a:cubicBezTo>
                      <a:pt x="12040" y="132166"/>
                      <a:pt x="0" y="93622"/>
                      <a:pt x="11668" y="58616"/>
                    </a:cubicBezTo>
                    <a:cubicBezTo>
                      <a:pt x="23337" y="23611"/>
                      <a:pt x="56096" y="0"/>
                      <a:pt x="92994" y="0"/>
                    </a:cubicBez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7725617" y="1726882"/>
              <a:ext cx="169376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22C55E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AI 辅助自学模块</a:t>
              </a:r>
              <a:endParaRPr lang="zh-CN" sz="1650" b="1" dirty="0">
                <a:solidFill>
                  <a:srgbClr val="22C55E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667500" y="2190750"/>
              <a:ext cx="43815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190928" y="2327910"/>
              <a:ext cx="13346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C55E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UDP/TCP 网络通信</a:t>
              </a:r>
              <a:endParaRPr lang="zh-CN" sz="1200" dirty="0">
                <a:solidFill>
                  <a:srgbClr val="22C55E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667500" y="2705100"/>
              <a:ext cx="43815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922895" y="2842260"/>
              <a:ext cx="18707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C55E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TLV 协议与粘包/半包处理</a:t>
              </a:r>
              <a:endParaRPr lang="zh-CN" sz="1200" dirty="0">
                <a:solidFill>
                  <a:srgbClr val="22C55E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667500" y="3219450"/>
              <a:ext cx="43815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078914" y="3356610"/>
              <a:ext cx="155867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C55E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SQLite 与数据库迁移</a:t>
              </a:r>
              <a:endParaRPr lang="zh-CN" sz="1200" dirty="0">
                <a:solidFill>
                  <a:srgbClr val="22C55E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667500" y="3733800"/>
              <a:ext cx="43815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882890" y="387096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C55E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Qt Test / CTest 测试框架</a:t>
              </a:r>
              <a:endParaRPr lang="zh-CN" sz="1200" dirty="0">
                <a:solidFill>
                  <a:srgbClr val="22C55E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667500" y="4248150"/>
              <a:ext cx="4381500" cy="419100"/>
            </a:xfrm>
            <a:prstGeom prst="roundRect">
              <a:avLst>
                <a:gd name="adj" fmla="val 18182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910894" y="4385310"/>
              <a:ext cx="189471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22C55E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AppImage 打包与异常清单</a:t>
              </a:r>
              <a:endParaRPr lang="zh-CN" sz="1200" dirty="0">
                <a:solidFill>
                  <a:srgbClr val="22C55E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62000" y="5429250"/>
            <a:ext cx="10668000" cy="952500"/>
            <a:chOff x="762000" y="5429250"/>
            <a:chExt cx="10668000" cy="952500"/>
          </a:xfrm>
        </p:grpSpPr>
        <p:sp>
          <p:nvSpPr>
            <p:cNvPr id="43" name="Rectangle 43"/>
            <p:cNvSpPr/>
            <p:nvPr/>
          </p:nvSpPr>
          <p:spPr>
            <a:xfrm>
              <a:off x="762000" y="5429250"/>
              <a:ext cx="10668000" cy="9525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468558" y="5680710"/>
              <a:ext cx="32548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E293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AI 帮助理解概念、拆解状态机、补充测试清单</a:t>
              </a:r>
              <a:endParaRPr lang="zh-CN" sz="1200" dirty="0">
                <a:solidFill>
                  <a:srgbClr val="1E293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640580" y="5966460"/>
              <a:ext cx="29108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E293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团队负责结合项目实现、运行验证和修正</a:t>
              </a:r>
              <a:endParaRPr lang="zh-CN" sz="1200" dirty="0">
                <a:solidFill>
                  <a:srgbClr val="1E293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sp>
        <p:nvSpPr>
          <p:cNvPr id="47" name="TextBox 47"/>
          <p:cNvSpPr txBox="1"/>
          <p:nvPr/>
        </p:nvSpPr>
        <p:spPr>
          <a:xfrm>
            <a:off x="10774204" y="6570345"/>
            <a:ext cx="9529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rPr>
              <a:t>GridYard v6.8.1</a:t>
            </a:r>
            <a:endParaRPr lang="zh-CN" sz="900" dirty="0">
              <a:solidFill>
                <a:srgbClr val="94A3B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42" grpId="0"/>
      <p:bldP spid="4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D5F8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45770" y="217170"/>
            <a:ext cx="11283315" cy="487680"/>
            <a:chOff x="445770" y="217170"/>
            <a:chExt cx="11283315" cy="487680"/>
          </a:xfrm>
        </p:grpSpPr>
        <p:sp>
          <p:nvSpPr>
            <p:cNvPr id="4" name="TextBox 4"/>
            <p:cNvSpPr txBox="1"/>
            <p:nvPr/>
          </p:nvSpPr>
          <p:spPr>
            <a:xfrm>
              <a:off x="445770" y="217170"/>
              <a:ext cx="3085338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主责明确，交叉协作</a:t>
              </a:r>
              <a:endParaRPr lang="zh-CN" sz="240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476250" y="59055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548396" y="362902"/>
              <a:ext cx="18068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19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762000" y="1143000"/>
            <a:ext cx="10668000" cy="3619500"/>
            <a:chOff x="762000" y="1143000"/>
            <a:chExt cx="10668000" cy="3619500"/>
          </a:xfrm>
        </p:grpSpPr>
        <p:sp>
          <p:nvSpPr>
            <p:cNvPr id="8" name="Rectangle 8"/>
            <p:cNvSpPr/>
            <p:nvPr/>
          </p:nvSpPr>
          <p:spPr>
            <a:xfrm>
              <a:off x="762000" y="1143000"/>
              <a:ext cx="3429000" cy="36195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2095500" y="1333500"/>
              <a:ext cx="762000" cy="762000"/>
            </a:xfrm>
            <a:prstGeom prst="ellipse">
              <a:avLst/>
            </a:prstGeom>
            <a:solidFill>
              <a:srgbClr val="2D5F8A">
                <a:alpha val="15000"/>
              </a:srgbClr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2343150" y="1524000"/>
              <a:ext cx="266700" cy="381000"/>
              <a:chOff x="2343150" y="1524000"/>
              <a:chExt cx="266700" cy="381000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2381250" y="15240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0"/>
                    </a:moveTo>
                    <a:cubicBezTo>
                      <a:pt x="147855" y="0"/>
                      <a:pt x="190500" y="42645"/>
                      <a:pt x="190500" y="95250"/>
                    </a:cubicBezTo>
                    <a:cubicBezTo>
                      <a:pt x="190500" y="147855"/>
                      <a:pt x="147855" y="190500"/>
                      <a:pt x="95250" y="190500"/>
                    </a:cubicBezTo>
                    <a:cubicBezTo>
                      <a:pt x="42645" y="190500"/>
                      <a:pt x="0" y="147855"/>
                      <a:pt x="0" y="95250"/>
                    </a:cubicBezTo>
                    <a:lnTo>
                      <a:pt x="95" y="91116"/>
                    </a:lnTo>
                    <a:cubicBezTo>
                      <a:pt x="2308" y="40169"/>
                      <a:pt x="44255" y="3"/>
                      <a:pt x="95250" y="0"/>
                    </a:cubicBezTo>
                    <a:close/>
                  </a:path>
                </a:pathLst>
              </a:custGeom>
              <a:solidFill>
                <a:srgbClr val="2D5F8A"/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2343150" y="1752600"/>
                <a:ext cx="2667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2400">
                    <a:moveTo>
                      <a:pt x="171450" y="0"/>
                    </a:moveTo>
                    <a:cubicBezTo>
                      <a:pt x="224055" y="0"/>
                      <a:pt x="266700" y="42645"/>
                      <a:pt x="266700" y="95250"/>
                    </a:cubicBezTo>
                    <a:lnTo>
                      <a:pt x="266700" y="114300"/>
                    </a:lnTo>
                    <a:cubicBezTo>
                      <a:pt x="266700" y="135342"/>
                      <a:pt x="249642" y="152400"/>
                      <a:pt x="228600" y="152400"/>
                    </a:cubicBezTo>
                    <a:lnTo>
                      <a:pt x="38100" y="152400"/>
                    </a:lnTo>
                    <a:cubicBezTo>
                      <a:pt x="17058" y="152400"/>
                      <a:pt x="0" y="135342"/>
                      <a:pt x="0" y="11430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lnTo>
                      <a:pt x="171450" y="0"/>
                    </a:lnTo>
                    <a:close/>
                  </a:path>
                </a:pathLst>
              </a:custGeom>
              <a:solidFill>
                <a:srgbClr val="2D5F8A"/>
              </a:solidFill>
              <a:ln>
                <a:noFill/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2142411" y="221932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冯春霖</a:t>
              </a:r>
              <a:endParaRPr lang="zh-CN" sz="150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312194" y="2526506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组长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143000" y="2857500"/>
              <a:ext cx="2667000" cy="342900"/>
            </a:xfrm>
            <a:prstGeom prst="roundRect">
              <a:avLst>
                <a:gd name="adj" fmla="val 22222"/>
              </a:avLst>
            </a:prstGeom>
            <a:solidFill>
              <a:srgbClr val="2D5F8A">
                <a:alpha val="10000"/>
              </a:srgbClr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787128" y="29646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网络传输与整体推进</a:t>
              </a:r>
              <a:endParaRPr lang="zh-CN" sz="1125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826085" y="3363278"/>
              <a:ext cx="13008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设备发现 / P2P 服务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822585" y="3601402"/>
              <a:ext cx="13078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文件收发 / 问题修复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83130" y="383952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进度协调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381500" y="1143000"/>
              <a:ext cx="3429000" cy="36195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5715000" y="1333500"/>
              <a:ext cx="762000" cy="762000"/>
            </a:xfrm>
            <a:prstGeom prst="ellipse">
              <a:avLst/>
            </a:prstGeom>
            <a:solidFill>
              <a:srgbClr val="22C55E">
                <a:alpha val="15000"/>
              </a:srgbClr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5962650" y="1524000"/>
              <a:ext cx="266700" cy="381000"/>
              <a:chOff x="5962650" y="1524000"/>
              <a:chExt cx="266700" cy="3810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000750" y="15240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0"/>
                    </a:moveTo>
                    <a:cubicBezTo>
                      <a:pt x="147855" y="0"/>
                      <a:pt x="190500" y="42645"/>
                      <a:pt x="190500" y="95250"/>
                    </a:cubicBezTo>
                    <a:cubicBezTo>
                      <a:pt x="190500" y="147855"/>
                      <a:pt x="147855" y="190500"/>
                      <a:pt x="95250" y="190500"/>
                    </a:cubicBezTo>
                    <a:cubicBezTo>
                      <a:pt x="42645" y="190500"/>
                      <a:pt x="0" y="147855"/>
                      <a:pt x="0" y="95250"/>
                    </a:cubicBezTo>
                    <a:lnTo>
                      <a:pt x="95" y="91116"/>
                    </a:lnTo>
                    <a:cubicBezTo>
                      <a:pt x="2308" y="40169"/>
                      <a:pt x="44255" y="3"/>
                      <a:pt x="95250" y="0"/>
                    </a:cubicBez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5962650" y="1752600"/>
                <a:ext cx="2667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2400">
                    <a:moveTo>
                      <a:pt x="171450" y="0"/>
                    </a:moveTo>
                    <a:cubicBezTo>
                      <a:pt x="224055" y="0"/>
                      <a:pt x="266700" y="42645"/>
                      <a:pt x="266700" y="95250"/>
                    </a:cubicBezTo>
                    <a:lnTo>
                      <a:pt x="266700" y="114300"/>
                    </a:lnTo>
                    <a:cubicBezTo>
                      <a:pt x="266700" y="135342"/>
                      <a:pt x="249642" y="152400"/>
                      <a:pt x="228600" y="152400"/>
                    </a:cubicBezTo>
                    <a:lnTo>
                      <a:pt x="38100" y="152400"/>
                    </a:lnTo>
                    <a:cubicBezTo>
                      <a:pt x="17058" y="152400"/>
                      <a:pt x="0" y="135342"/>
                      <a:pt x="0" y="11430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lnTo>
                      <a:pt x="171450" y="0"/>
                    </a:lnTo>
                    <a:close/>
                  </a:path>
                </a:pathLst>
              </a:custGeom>
              <a:solidFill>
                <a:srgbClr val="22C55E"/>
              </a:solidFill>
              <a:ln>
                <a:noFill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5761911" y="2219325"/>
              <a:ext cx="66817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22C55E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杜若贤</a:t>
              </a:r>
              <a:endParaRPr lang="zh-CN" sz="1500" b="1" dirty="0">
                <a:solidFill>
                  <a:srgbClr val="22C55E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931694" y="2526506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成员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762500" y="2857500"/>
              <a:ext cx="2667000" cy="342900"/>
            </a:xfrm>
            <a:prstGeom prst="roundRect">
              <a:avLst>
                <a:gd name="adj" fmla="val 22222"/>
              </a:avLst>
            </a:prstGeom>
            <a:solidFill>
              <a:srgbClr val="22C55E">
                <a:alpha val="10000"/>
              </a:srgbClr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5380375" y="2964656"/>
              <a:ext cx="1431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22C55E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QML 界面与测试文档</a:t>
              </a:r>
              <a:endParaRPr lang="zh-CN" sz="1125" dirty="0">
                <a:solidFill>
                  <a:srgbClr val="22C55E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442085" y="3363278"/>
              <a:ext cx="13078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统一会话 / 聊天气泡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442085" y="3601402"/>
              <a:ext cx="13078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传输卡片 / 历史视图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802630" y="383952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演示材料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001000" y="1143000"/>
              <a:ext cx="3429000" cy="361950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9334500" y="1333500"/>
              <a:ext cx="762000" cy="762000"/>
            </a:xfrm>
            <a:prstGeom prst="ellipse">
              <a:avLst/>
            </a:prstGeom>
            <a:solidFill>
              <a:srgbClr val="F59E0B">
                <a:alpha val="15000"/>
              </a:srgbClr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9582150" y="1524000"/>
              <a:ext cx="266700" cy="381000"/>
              <a:chOff x="9582150" y="1524000"/>
              <a:chExt cx="266700" cy="381000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9620250" y="1524000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0"/>
                    </a:moveTo>
                    <a:cubicBezTo>
                      <a:pt x="147855" y="0"/>
                      <a:pt x="190500" y="42645"/>
                      <a:pt x="190500" y="95250"/>
                    </a:cubicBezTo>
                    <a:cubicBezTo>
                      <a:pt x="190500" y="147855"/>
                      <a:pt x="147855" y="190500"/>
                      <a:pt x="95250" y="190500"/>
                    </a:cubicBezTo>
                    <a:cubicBezTo>
                      <a:pt x="42645" y="190500"/>
                      <a:pt x="0" y="147855"/>
                      <a:pt x="0" y="95250"/>
                    </a:cubicBezTo>
                    <a:lnTo>
                      <a:pt x="95" y="91116"/>
                    </a:lnTo>
                    <a:cubicBezTo>
                      <a:pt x="2308" y="40169"/>
                      <a:pt x="44255" y="3"/>
                      <a:pt x="95250" y="0"/>
                    </a:cubicBez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9582150" y="1752600"/>
                <a:ext cx="2667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266700" h="152400">
                    <a:moveTo>
                      <a:pt x="171450" y="0"/>
                    </a:moveTo>
                    <a:cubicBezTo>
                      <a:pt x="224055" y="0"/>
                      <a:pt x="266700" y="42645"/>
                      <a:pt x="266700" y="95250"/>
                    </a:cubicBezTo>
                    <a:lnTo>
                      <a:pt x="266700" y="114300"/>
                    </a:lnTo>
                    <a:cubicBezTo>
                      <a:pt x="266700" y="135342"/>
                      <a:pt x="249642" y="152400"/>
                      <a:pt x="228600" y="152400"/>
                    </a:cubicBezTo>
                    <a:lnTo>
                      <a:pt x="38100" y="152400"/>
                    </a:lnTo>
                    <a:cubicBezTo>
                      <a:pt x="17058" y="152400"/>
                      <a:pt x="0" y="135342"/>
                      <a:pt x="0" y="114300"/>
                    </a:cubicBezTo>
                    <a:lnTo>
                      <a:pt x="0" y="95250"/>
                    </a:lnTo>
                    <a:cubicBezTo>
                      <a:pt x="0" y="42645"/>
                      <a:pt x="42645" y="0"/>
                      <a:pt x="95250" y="0"/>
                    </a:cubicBezTo>
                    <a:lnTo>
                      <a:pt x="171450" y="0"/>
                    </a:lnTo>
                    <a:close/>
                  </a:path>
                </a:pathLst>
              </a:custGeom>
              <a:solidFill>
                <a:srgbClr val="F59E0B"/>
              </a:solidFill>
              <a:ln>
                <a:noFill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9486424" y="2219325"/>
              <a:ext cx="45815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59E0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高扬</a:t>
              </a:r>
              <a:endParaRPr lang="zh-CN" sz="1500" b="1" dirty="0">
                <a:solidFill>
                  <a:srgbClr val="F59E0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551194" y="2526506"/>
              <a:ext cx="3286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成员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8382000" y="2857500"/>
              <a:ext cx="2667000" cy="342900"/>
            </a:xfrm>
            <a:prstGeom prst="roundRect">
              <a:avLst>
                <a:gd name="adj" fmla="val 22222"/>
              </a:avLst>
            </a:prstGeom>
            <a:solidFill>
              <a:srgbClr val="F59E0B">
                <a:alpha val="10000"/>
              </a:srgbClr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9026128" y="296465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F59E0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架构协议与发布收口</a:t>
              </a:r>
              <a:endParaRPr lang="zh-CN" sz="1125" dirty="0">
                <a:solidFill>
                  <a:srgbClr val="F59E0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879562" y="3363278"/>
              <a:ext cx="167187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TLV 协议 / AppController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026581" y="3601402"/>
              <a:ext cx="13778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CMake / SQLite 协同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422130" y="3839528"/>
              <a:ext cx="5867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打包发布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2419350" y="4800600"/>
            <a:ext cx="7353300" cy="457200"/>
            <a:chOff x="2419350" y="4800600"/>
            <a:chExt cx="7353300" cy="457200"/>
          </a:xfrm>
        </p:grpSpPr>
        <p:sp>
          <p:nvSpPr>
            <p:cNvPr id="45" name="Line 45"/>
            <p:cNvSpPr/>
            <p:nvPr/>
          </p:nvSpPr>
          <p:spPr>
            <a:xfrm>
              <a:off x="2476500" y="4857750"/>
              <a:ext cx="7239000" cy="9525"/>
            </a:xfrm>
            <a:custGeom>
              <a:avLst/>
              <a:gdLst/>
              <a:ahLst/>
              <a:cxnLst/>
              <a:rect l="l" t="t" r="r" b="b"/>
              <a:pathLst>
                <a:path w="7239000" h="9525">
                  <a:moveTo>
                    <a:pt x="0" y="0"/>
                  </a:moveTo>
                  <a:lnTo>
                    <a:pt x="7239000" y="0"/>
                  </a:lnTo>
                </a:path>
              </a:pathLst>
            </a:custGeom>
            <a:noFill/>
            <a:ln w="28575">
              <a:solidFill>
                <a:srgbClr val="3B82F6"/>
              </a:solidFill>
            </a:ln>
          </p:spPr>
        </p:sp>
        <p:sp>
          <p:nvSpPr>
            <p:cNvPr id="46" name="Ellipse 46"/>
            <p:cNvSpPr/>
            <p:nvPr/>
          </p:nvSpPr>
          <p:spPr>
            <a:xfrm>
              <a:off x="2419350" y="4800600"/>
              <a:ext cx="114300" cy="114300"/>
            </a:xfrm>
            <a:prstGeom prst="ellipse">
              <a:avLst/>
            </a:prstGeom>
            <a:solidFill>
              <a:srgbClr val="2D5F8A"/>
            </a:solidFill>
            <a:ln>
              <a:noFill/>
            </a:ln>
          </p:spPr>
        </p:sp>
        <p:sp>
          <p:nvSpPr>
            <p:cNvPr id="47" name="Ellipse 47"/>
            <p:cNvSpPr/>
            <p:nvPr/>
          </p:nvSpPr>
          <p:spPr>
            <a:xfrm>
              <a:off x="6038850" y="4800600"/>
              <a:ext cx="114300" cy="114300"/>
            </a:xfrm>
            <a:prstGeom prst="ellipse">
              <a:avLst/>
            </a:prstGeom>
            <a:solidFill>
              <a:srgbClr val="22C55E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9658350" y="4800600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760720" y="5013960"/>
              <a:ext cx="6705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3B82F6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交叉联调</a:t>
              </a:r>
              <a:endParaRPr lang="zh-CN" sz="1200" dirty="0">
                <a:solidFill>
                  <a:srgbClr val="3B82F6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762000" y="5429250"/>
            <a:ext cx="10668000" cy="1047750"/>
            <a:chOff x="762000" y="5429250"/>
            <a:chExt cx="10668000" cy="1047750"/>
          </a:xfrm>
        </p:grpSpPr>
        <p:sp>
          <p:nvSpPr>
            <p:cNvPr id="51" name="Rectangle 51"/>
            <p:cNvSpPr/>
            <p:nvPr/>
          </p:nvSpPr>
          <p:spPr>
            <a:xfrm>
              <a:off x="762000" y="5429250"/>
              <a:ext cx="10668000" cy="104775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127760" y="5633085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22C55E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已完成：</a:t>
              </a:r>
              <a:endParaRPr lang="zh-CN" sz="1200" b="1" dirty="0">
                <a:solidFill>
                  <a:srgbClr val="22C55E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2081212" y="5641181"/>
              <a:ext cx="629185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局域网设备发现 / P2P 文件与文件夹传输 / 统一会话聊天 / SQLite 本地历史 / AppImage 发布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27760" y="6014085"/>
              <a:ext cx="53454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59E0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后续：</a:t>
              </a:r>
              <a:endParaRPr lang="zh-CN" sz="1200" b="1" dirty="0">
                <a:solidFill>
                  <a:srgbClr val="F59E0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890712" y="6022181"/>
              <a:ext cx="58042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Windows 与 macOS 包 / 更完整跨平台兼容 / 离线消息或服务端同步 / 安全与权限增强</a:t>
              </a:r>
              <a:endParaRPr lang="zh-CN" sz="112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sp>
        <p:nvSpPr>
          <p:cNvPr id="57" name="TextBox 57"/>
          <p:cNvSpPr txBox="1"/>
          <p:nvPr/>
        </p:nvSpPr>
        <p:spPr>
          <a:xfrm>
            <a:off x="10774204" y="6570345"/>
            <a:ext cx="9529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rPr>
              <a:t>GridYard v6.8.1</a:t>
            </a:r>
            <a:endParaRPr lang="zh-CN" sz="900" dirty="0">
              <a:solidFill>
                <a:srgbClr val="94A3B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50" grpId="0"/>
      <p:bldP spid="5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B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2D5F8A"/>
          </a:solidFill>
          <a:ln>
            <a:noFill/>
          </a:ln>
        </p:spPr>
      </p:sp>
      <p:grpSp>
        <p:nvGrpSpPr>
          <p:cNvPr id="7" name="Group 7"/>
          <p:cNvGrpSpPr/>
          <p:nvPr/>
        </p:nvGrpSpPr>
        <p:grpSpPr>
          <a:xfrm>
            <a:off x="445770" y="217170"/>
            <a:ext cx="11283315" cy="487680"/>
            <a:chOff x="445770" y="217170"/>
            <a:chExt cx="11283315" cy="487680"/>
          </a:xfrm>
        </p:grpSpPr>
        <p:sp>
          <p:nvSpPr>
            <p:cNvPr id="4" name="TextBox 4"/>
            <p:cNvSpPr txBox="1"/>
            <p:nvPr/>
          </p:nvSpPr>
          <p:spPr>
            <a:xfrm>
              <a:off x="445770" y="217170"/>
              <a:ext cx="2077212" cy="487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技术细节补充</a:t>
              </a:r>
              <a:endParaRPr lang="zh-CN" sz="240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" name="Rectangle 5"/>
            <p:cNvSpPr/>
            <p:nvPr/>
          </p:nvSpPr>
          <p:spPr>
            <a:xfrm>
              <a:off x="476250" y="590550"/>
              <a:ext cx="762000" cy="38100"/>
            </a:xfrm>
            <a:prstGeom prst="roundRect">
              <a:avLst>
                <a:gd name="adj" fmla="val 50000"/>
              </a:avLst>
            </a:prstGeom>
            <a:solidFill>
              <a:srgbClr val="3B82F6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1422380" y="362902"/>
              <a:ext cx="30670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94A3B8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附录</a:t>
              </a:r>
              <a:endParaRPr lang="zh-CN" sz="105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571500" y="952500"/>
            <a:ext cx="5524500" cy="2667000"/>
            <a:chOff x="571500" y="952500"/>
            <a:chExt cx="5524500" cy="2667000"/>
          </a:xfrm>
        </p:grpSpPr>
        <p:sp>
          <p:nvSpPr>
            <p:cNvPr id="8" name="Rectangle 8"/>
            <p:cNvSpPr/>
            <p:nvPr/>
          </p:nvSpPr>
          <p:spPr>
            <a:xfrm>
              <a:off x="571500" y="952500"/>
              <a:ext cx="5524500" cy="266700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0105" y="1187768"/>
              <a:ext cx="113062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D5F8A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协议 Type 码</a:t>
              </a:r>
              <a:endParaRPr lang="zh-CN" sz="1350" b="1" dirty="0">
                <a:solidFill>
                  <a:srgbClr val="2D5F8A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857250" y="1524000"/>
              <a:ext cx="4953000" cy="285750"/>
            </a:xfrm>
            <a:prstGeom prst="roundRect">
              <a:avLst>
                <a:gd name="adj" fmla="val 20000"/>
              </a:avLst>
            </a:prstGeom>
            <a:solidFill>
              <a:srgbClr val="2D5F8A">
                <a:alpha val="8000"/>
              </a:srgbClr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34415" y="1620202"/>
              <a:ext cx="123082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5F8A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0x0001 kTypeHello</a:t>
              </a:r>
              <a:endParaRPr lang="zh-CN" sz="1050" dirty="0">
                <a:solidFill>
                  <a:srgbClr val="2D5F8A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97618" y="162829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设备发现广播</a:t>
              </a:r>
              <a:endParaRPr lang="zh-CN" sz="97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857250" y="1866900"/>
              <a:ext cx="4953000" cy="285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34415" y="1963102"/>
              <a:ext cx="14618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5F8A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0x0002 kTypeHelloAck</a:t>
              </a:r>
              <a:endParaRPr lang="zh-CN" sz="1050" dirty="0">
                <a:solidFill>
                  <a:srgbClr val="2D5F8A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97618" y="197119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发现回应</a:t>
              </a:r>
              <a:endParaRPr lang="zh-CN" sz="97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857250" y="2209800"/>
              <a:ext cx="4953000" cy="285750"/>
            </a:xfrm>
            <a:prstGeom prst="roundRect">
              <a:avLst>
                <a:gd name="adj" fmla="val 20000"/>
              </a:avLst>
            </a:prstGeom>
            <a:solidFill>
              <a:srgbClr val="2D5F8A">
                <a:alpha val="8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34415" y="2306002"/>
              <a:ext cx="17628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5F8A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0x0101 kTypeTransferReq</a:t>
              </a:r>
              <a:endParaRPr lang="zh-CN" sz="1050" dirty="0">
                <a:solidFill>
                  <a:srgbClr val="2D5F8A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97618" y="231409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文件传输请求</a:t>
              </a:r>
              <a:endParaRPr lang="zh-CN" sz="97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57250" y="2552700"/>
              <a:ext cx="4953000" cy="285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34415" y="2648902"/>
              <a:ext cx="16088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5F8A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0x0201 kTypeDataChunk</a:t>
              </a:r>
              <a:endParaRPr lang="zh-CN" sz="1050" dirty="0">
                <a:solidFill>
                  <a:srgbClr val="2D5F8A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797618" y="265699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文件数据块</a:t>
              </a:r>
              <a:endParaRPr lang="zh-CN" sz="97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57250" y="2895600"/>
              <a:ext cx="4953000" cy="285750"/>
            </a:xfrm>
            <a:prstGeom prst="roundRect">
              <a:avLst>
                <a:gd name="adj" fmla="val 20000"/>
              </a:avLst>
            </a:prstGeom>
            <a:solidFill>
              <a:srgbClr val="2D5F8A">
                <a:alpha val="8000"/>
              </a:srgbClr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034415" y="2991802"/>
              <a:ext cx="15318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5F8A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0x0501 kTypeChatText</a:t>
              </a:r>
              <a:endParaRPr lang="zh-CN" sz="1050" dirty="0">
                <a:solidFill>
                  <a:srgbClr val="2D5F8A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97618" y="299989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聊天文本消息</a:t>
              </a:r>
              <a:endParaRPr lang="zh-CN" sz="97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57250" y="3238500"/>
              <a:ext cx="4953000" cy="285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34415" y="3334702"/>
              <a:ext cx="14548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D5F8A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0x0502 kTypeChatAck</a:t>
              </a:r>
              <a:endParaRPr lang="zh-CN" sz="1050" dirty="0">
                <a:solidFill>
                  <a:srgbClr val="2D5F8A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97618" y="334279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聊天确认</a:t>
              </a:r>
              <a:endParaRPr lang="zh-CN" sz="97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286500" y="952500"/>
            <a:ext cx="5334000" cy="2667000"/>
            <a:chOff x="6286500" y="952500"/>
            <a:chExt cx="5334000" cy="2667000"/>
          </a:xfrm>
        </p:grpSpPr>
        <p:sp>
          <p:nvSpPr>
            <p:cNvPr id="29" name="Rectangle 29"/>
            <p:cNvSpPr/>
            <p:nvPr/>
          </p:nvSpPr>
          <p:spPr>
            <a:xfrm>
              <a:off x="6286500" y="952500"/>
              <a:ext cx="5334000" cy="2667000"/>
            </a:xfrm>
            <a:prstGeom prst="roundRect">
              <a:avLst>
                <a:gd name="adj" fmla="val 4286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55105" y="1187768"/>
              <a:ext cx="14047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22C55E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CMake 模块依赖</a:t>
              </a:r>
              <a:endParaRPr lang="zh-CN" sz="1350" b="1" dirty="0">
                <a:solidFill>
                  <a:srgbClr val="22C55E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572250" y="1524000"/>
              <a:ext cx="4762500" cy="342900"/>
            </a:xfrm>
            <a:prstGeom prst="roundRect">
              <a:avLst>
                <a:gd name="adj" fmla="val 22222"/>
              </a:avLst>
            </a:prstGeom>
            <a:solidFill>
              <a:srgbClr val="2D5F8A">
                <a:alpha val="10000"/>
              </a:srgbClr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851529" y="1639252"/>
              <a:ext cx="220394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D5F8A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appGridYard (client executable)</a:t>
              </a:r>
              <a:endParaRPr lang="zh-CN" sz="1050" dirty="0">
                <a:solidFill>
                  <a:srgbClr val="2D5F8A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  <p:sp>
          <p:nvSpPr>
            <p:cNvPr id="33" name="Line 33"/>
            <p:cNvSpPr/>
            <p:nvPr/>
          </p:nvSpPr>
          <p:spPr>
            <a:xfrm>
              <a:off x="8953500" y="18669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4288">
              <a:solidFill>
                <a:srgbClr val="CBD5E1"/>
              </a:solidFill>
            </a:ln>
          </p:spPr>
        </p:sp>
        <p:sp>
          <p:nvSpPr>
            <p:cNvPr id="34" name="Rectangle 34"/>
            <p:cNvSpPr/>
            <p:nvPr/>
          </p:nvSpPr>
          <p:spPr>
            <a:xfrm>
              <a:off x="6572250" y="2057400"/>
              <a:ext cx="1428750" cy="342900"/>
            </a:xfrm>
            <a:prstGeom prst="roundRect">
              <a:avLst>
                <a:gd name="adj" fmla="val 22222"/>
              </a:avLst>
            </a:prstGeom>
            <a:solidFill>
              <a:srgbClr val="22C55E">
                <a:alpha val="10000"/>
              </a:srgbClr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952452" y="2180749"/>
              <a:ext cx="6683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22C55E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gy_shared</a:t>
              </a:r>
              <a:endParaRPr lang="zh-CN" sz="975" dirty="0">
                <a:solidFill>
                  <a:srgbClr val="22C55E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8191500" y="2057400"/>
              <a:ext cx="1428750" cy="342900"/>
            </a:xfrm>
            <a:prstGeom prst="roundRect">
              <a:avLst>
                <a:gd name="adj" fmla="val 22222"/>
              </a:avLst>
            </a:prstGeom>
            <a:solidFill>
              <a:srgbClr val="8B5CF6">
                <a:alpha val="10000"/>
              </a:srgbClr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574953" y="2180749"/>
              <a:ext cx="6618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8B5CF6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gy_domain</a:t>
              </a:r>
              <a:endParaRPr lang="zh-CN" sz="975" dirty="0">
                <a:solidFill>
                  <a:srgbClr val="8B5CF6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9810750" y="2057400"/>
              <a:ext cx="1428750" cy="342900"/>
            </a:xfrm>
            <a:prstGeom prst="roundRect">
              <a:avLst>
                <a:gd name="adj" fmla="val 22222"/>
              </a:avLst>
            </a:prstGeom>
            <a:solidFill>
              <a:srgbClr val="F59E0B">
                <a:alpha val="10000"/>
              </a:srgbClr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155198" y="2180749"/>
              <a:ext cx="7398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59E0B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gy_storage</a:t>
              </a:r>
              <a:endParaRPr lang="zh-CN" sz="975" dirty="0">
                <a:solidFill>
                  <a:srgbClr val="F59E0B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558915" y="2648902"/>
              <a:ext cx="27570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gy_shared: 协议、数据类型、FrameCodec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558915" y="2934652"/>
              <a:ext cx="244897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gy_domain: Repository 端口、值类型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558915" y="3220402"/>
              <a:ext cx="27430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gy_storage: SQLite 实现、迁移、Worker</a:t>
              </a:r>
              <a:endParaRPr lang="zh-CN" sz="105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571500" y="3905250"/>
            <a:ext cx="5524500" cy="2571750"/>
            <a:chOff x="571500" y="3905250"/>
            <a:chExt cx="5524500" cy="2571750"/>
          </a:xfrm>
        </p:grpSpPr>
        <p:sp>
          <p:nvSpPr>
            <p:cNvPr id="44" name="Rectangle 44"/>
            <p:cNvSpPr/>
            <p:nvPr/>
          </p:nvSpPr>
          <p:spPr>
            <a:xfrm>
              <a:off x="571500" y="3905250"/>
              <a:ext cx="5524500" cy="257175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40105" y="41405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EF4444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错误码枚举</a:t>
              </a:r>
              <a:endParaRPr lang="zh-CN" sz="1350" b="1" dirty="0">
                <a:solidFill>
                  <a:srgbClr val="EF4444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57250" y="4476750"/>
              <a:ext cx="4953000" cy="285750"/>
            </a:xfrm>
            <a:prstGeom prst="roundRect">
              <a:avLst>
                <a:gd name="adj" fmla="val 20000"/>
              </a:avLst>
            </a:prstGeom>
            <a:solidFill>
              <a:srgbClr val="EF4444">
                <a:alpha val="8000"/>
              </a:srgbClr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034415" y="4572952"/>
              <a:ext cx="52373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F4444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kOk = 0</a:t>
              </a:r>
              <a:endParaRPr lang="zh-CN" sz="1050" dirty="0">
                <a:solidFill>
                  <a:srgbClr val="EF4444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2845118" y="4581049"/>
              <a:ext cx="28479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成功</a:t>
              </a:r>
              <a:endParaRPr lang="zh-CN" sz="97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857250" y="4819650"/>
              <a:ext cx="4953000" cy="285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034415" y="4915852"/>
              <a:ext cx="130783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F4444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kProtocolError = 1</a:t>
              </a:r>
              <a:endParaRPr lang="zh-CN" sz="1050" dirty="0">
                <a:solidFill>
                  <a:srgbClr val="EF4444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2845118" y="492394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协议错误</a:t>
              </a:r>
              <a:endParaRPr lang="zh-CN" sz="97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57250" y="5162550"/>
              <a:ext cx="4953000" cy="285750"/>
            </a:xfrm>
            <a:prstGeom prst="roundRect">
              <a:avLst>
                <a:gd name="adj" fmla="val 20000"/>
              </a:avLst>
            </a:prstGeom>
            <a:solidFill>
              <a:srgbClr val="EF4444">
                <a:alpha val="8000"/>
              </a:srgbClr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034415" y="5258752"/>
              <a:ext cx="14828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F4444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kVersionMismatch = 2</a:t>
              </a:r>
              <a:endParaRPr lang="zh-CN" sz="1050" dirty="0">
                <a:solidFill>
                  <a:srgbClr val="EF4444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2845118" y="526684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版本不兼容</a:t>
              </a:r>
              <a:endParaRPr lang="zh-CN" sz="97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57250" y="5505450"/>
              <a:ext cx="4953000" cy="28575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1034415" y="5601652"/>
              <a:ext cx="119581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F4444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kFileNotFound = 3</a:t>
              </a:r>
              <a:endParaRPr lang="zh-CN" sz="1050" dirty="0">
                <a:solidFill>
                  <a:srgbClr val="EF4444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845118" y="560974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文件不存在</a:t>
              </a:r>
              <a:endParaRPr lang="zh-CN" sz="97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57250" y="5848350"/>
              <a:ext cx="4953000" cy="285750"/>
            </a:xfrm>
            <a:prstGeom prst="roundRect">
              <a:avLst>
                <a:gd name="adj" fmla="val 20000"/>
              </a:avLst>
            </a:prstGeom>
            <a:solidFill>
              <a:srgbClr val="EF4444">
                <a:alpha val="8000"/>
              </a:srgbClr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1034415" y="5944552"/>
              <a:ext cx="16228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EF4444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kChecksumMismatch = 4</a:t>
              </a:r>
              <a:endParaRPr lang="zh-CN" sz="1050" dirty="0">
                <a:solidFill>
                  <a:srgbClr val="EF4444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2845118" y="595264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校验不匹配</a:t>
              </a:r>
              <a:endParaRPr lang="zh-CN" sz="975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6286500" y="3905250"/>
            <a:ext cx="5334000" cy="2571750"/>
            <a:chOff x="6286500" y="3905250"/>
            <a:chExt cx="5334000" cy="2571750"/>
          </a:xfrm>
        </p:grpSpPr>
        <p:sp>
          <p:nvSpPr>
            <p:cNvPr id="62" name="Rectangle 62"/>
            <p:cNvSpPr/>
            <p:nvPr/>
          </p:nvSpPr>
          <p:spPr>
            <a:xfrm>
              <a:off x="6286500" y="3905250"/>
              <a:ext cx="5334000" cy="2571750"/>
            </a:xfrm>
            <a:prstGeom prst="roundRect">
              <a:avLst>
                <a:gd name="adj" fmla="val 4444"/>
              </a:avLst>
            </a:prstGeom>
            <a:solidFill>
              <a:srgbClr val="FFFFFF"/>
            </a:solidFill>
            <a:ln w="9525">
              <a:solidFill>
                <a:srgbClr val="E2E8F0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55105" y="4140518"/>
              <a:ext cx="131965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8B5CF6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数据库 Schema</a:t>
              </a:r>
              <a:endParaRPr lang="zh-CN" sz="1350" b="1" dirty="0">
                <a:solidFill>
                  <a:srgbClr val="8B5CF6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6572250" y="4476750"/>
              <a:ext cx="2286000" cy="762000"/>
            </a:xfrm>
            <a:prstGeom prst="roundRect">
              <a:avLst>
                <a:gd name="adj" fmla="val 10000"/>
              </a:avLst>
            </a:prstGeom>
            <a:solidFill>
              <a:srgbClr val="8B5CF6">
                <a:alpha val="8000"/>
              </a:srgbClr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509391" y="4649152"/>
              <a:ext cx="4117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8B5CF6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peers</a:t>
              </a:r>
              <a:endParaRPr lang="zh-CN" sz="1050" dirty="0">
                <a:solidFill>
                  <a:srgbClr val="8B5CF6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403782" y="4903470"/>
              <a:ext cx="6229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设备目录表</a:t>
              </a:r>
              <a:endParaRPr lang="zh-CN" sz="9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9048750" y="4476750"/>
              <a:ext cx="2286000" cy="762000"/>
            </a:xfrm>
            <a:prstGeom prst="roundRect">
              <a:avLst>
                <a:gd name="adj" fmla="val 10000"/>
              </a:avLst>
            </a:prstGeom>
            <a:solidFill>
              <a:srgbClr val="22C55E">
                <a:alpha val="8000"/>
              </a:srgbClr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9856375" y="4649152"/>
              <a:ext cx="6707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22C55E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messages</a:t>
              </a:r>
              <a:endParaRPr lang="zh-CN" sz="1050" dirty="0">
                <a:solidFill>
                  <a:srgbClr val="22C55E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9880282" y="4903470"/>
              <a:ext cx="6229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聊天消息表</a:t>
              </a:r>
              <a:endParaRPr lang="zh-CN" sz="9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6572250" y="5429250"/>
              <a:ext cx="2286000" cy="762000"/>
            </a:xfrm>
            <a:prstGeom prst="roundRect">
              <a:avLst>
                <a:gd name="adj" fmla="val 10000"/>
              </a:avLst>
            </a:prstGeom>
            <a:solidFill>
              <a:srgbClr val="F59E0B">
                <a:alpha val="8000"/>
              </a:srgbClr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355372" y="5601652"/>
              <a:ext cx="71975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59E0B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transfers</a:t>
              </a:r>
              <a:endParaRPr lang="zh-CN" sz="1050" dirty="0">
                <a:solidFill>
                  <a:srgbClr val="F59E0B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403782" y="5855970"/>
              <a:ext cx="6229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传输历史表</a:t>
              </a:r>
              <a:endParaRPr lang="zh-CN" sz="9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9048750" y="5429250"/>
              <a:ext cx="2286000" cy="762000"/>
            </a:xfrm>
            <a:prstGeom prst="roundRect">
              <a:avLst>
                <a:gd name="adj" fmla="val 10000"/>
              </a:avLst>
            </a:prstGeom>
            <a:solidFill>
              <a:srgbClr val="3B82F6">
                <a:alpha val="8000"/>
              </a:srgbClr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642848" y="5601652"/>
              <a:ext cx="10978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3B82F6"/>
                  </a:solidFill>
                  <a:latin typeface="Consolas" panose="020B0609020204030204"/>
                  <a:ea typeface="微软雅黑"/>
                  <a:cs typeface="Consolas" panose="020B0609020204030204"/>
                </a:rPr>
                <a:t>schema_version</a:t>
              </a:r>
              <a:endParaRPr lang="zh-CN" sz="1050" dirty="0">
                <a:solidFill>
                  <a:srgbClr val="3B82F6"/>
                </a:solidFill>
                <a:latin typeface="Consolas" panose="020B0609020204030204"/>
                <a:ea typeface="微软雅黑"/>
                <a:cs typeface="Consolas" panose="020B0609020204030204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880282" y="5855970"/>
              <a:ext cx="6229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64748B"/>
                  </a:solidFill>
                  <a:latin typeface="Arial" panose="020B0604020202020204"/>
                  <a:ea typeface="微软雅黑"/>
                  <a:cs typeface="Arial" panose="020B0604020202020204"/>
                </a:rPr>
                <a:t>迁移版本表</a:t>
              </a:r>
              <a:endParaRPr lang="zh-CN" sz="900" dirty="0">
                <a:solidFill>
                  <a:srgbClr val="64748B"/>
                </a:solidFill>
                <a:latin typeface="Arial" panose="020B0604020202020204"/>
                <a:ea typeface="微软雅黑"/>
                <a:cs typeface="Arial" panose="020B0604020202020204"/>
              </a:endParaRP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10774204" y="6570345"/>
            <a:ext cx="952976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 panose="020B0604020202020204"/>
                <a:ea typeface="微软雅黑"/>
                <a:cs typeface="Arial" panose="020B0604020202020204"/>
              </a:rPr>
              <a:t>GridYard v6.8.1</a:t>
            </a:r>
            <a:endParaRPr lang="zh-CN" sz="900" dirty="0">
              <a:solidFill>
                <a:srgbClr val="94A3B8"/>
              </a:solidFill>
              <a:latin typeface="Arial" panose="020B0604020202020204"/>
              <a:ea typeface="微软雅黑"/>
              <a:cs typeface="Arial" panose="020B060402020202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43" grpId="0"/>
      <p:bldP spid="61" grpId="0"/>
      <p:bldP spid="7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5519</Words>
  <Application>WPS 演示</Application>
  <PresentationFormat>On-screen Show (16:9)</PresentationFormat>
  <Paragraphs>958</Paragraphs>
  <Slides>20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Arial</vt:lpstr>
      <vt:lpstr>宋体</vt:lpstr>
      <vt:lpstr>Wingdings</vt:lpstr>
      <vt:lpstr>Arial</vt:lpstr>
      <vt:lpstr>微软雅黑</vt:lpstr>
      <vt:lpstr>Consolas</vt:lpstr>
      <vt:lpstr>微软雅黑</vt:lpstr>
      <vt:lpstr>宋体</vt:lpstr>
      <vt:lpstr>方正书宋_GBK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root</cp:lastModifiedBy>
  <cp:revision>52</cp:revision>
  <dcterms:created xsi:type="dcterms:W3CDTF">2026-07-11T09:12:01Z</dcterms:created>
  <dcterms:modified xsi:type="dcterms:W3CDTF">2026-07-11T09:12:01Z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1F8F57172723F7E855FA516AD8F415DC_42</vt:lpwstr>
  </property>
  <property fmtid="{D5CDD505-2E9C-101B-9397-08002B2CF9AE}" pid="3" name="KSOProductBuildVer">
    <vt:lpwstr>2052-12.1.0.17900</vt:lpwstr>
  </property>
</Properties>
</file>